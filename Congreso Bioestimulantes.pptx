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62" r:id="rId2"/>
    <p:sldId id="256" r:id="rId3"/>
    <p:sldId id="257" r:id="rId4"/>
    <p:sldId id="319" r:id="rId5"/>
    <p:sldId id="320" r:id="rId6"/>
    <p:sldId id="321" r:id="rId7"/>
    <p:sldId id="32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old" panose="00000800000000000000" charset="0"/>
      <p:regular r:id="rId21"/>
      <p:bold r:id="rId22"/>
    </p:embeddedFont>
    <p:embeddedFont>
      <p:font typeface="Open Sans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BA2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4CDD2-43F1-4349-AAD7-7AFCFB5B6A96}" type="datetimeFigureOut">
              <a:rPr lang="es-CO" smtClean="0"/>
              <a:t>19/02/2026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D96F0-6EA2-4CF9-98F4-DD7468DA0B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27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Recomendación estratégica: Asegurar plazas corporativas antes del 2 de mayo para un ahorro del 36%.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4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6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1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14097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600200"/>
            <a:ext cx="15544800" cy="704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FE7D6CD0-76C4-207E-90F6-32EEF3441300}"/>
              </a:ext>
            </a:extLst>
          </p:cNvPr>
          <p:cNvSpPr/>
          <p:nvPr userDrawn="1"/>
        </p:nvSpPr>
        <p:spPr>
          <a:xfrm flipH="1">
            <a:off x="-431" y="7810500"/>
            <a:ext cx="2255598" cy="2471928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5106262" y="0"/>
                </a:moveTo>
                <a:lnTo>
                  <a:pt x="0" y="0"/>
                </a:lnTo>
                <a:lnTo>
                  <a:pt x="0" y="5595993"/>
                </a:lnTo>
                <a:lnTo>
                  <a:pt x="5106262" y="5595993"/>
                </a:lnTo>
                <a:lnTo>
                  <a:pt x="510626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D2C8CDC9-DCAC-0A34-89C0-B269AE60DE5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5192" y="274638"/>
            <a:ext cx="2115608" cy="1143000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83B53FA8-DB98-AC3F-E577-D1B489713D3B}"/>
              </a:ext>
            </a:extLst>
          </p:cNvPr>
          <p:cNvSpPr/>
          <p:nvPr userDrawn="1"/>
        </p:nvSpPr>
        <p:spPr>
          <a:xfrm>
            <a:off x="175244" y="399273"/>
            <a:ext cx="955860" cy="893729"/>
          </a:xfrm>
          <a:custGeom>
            <a:avLst/>
            <a:gdLst/>
            <a:ahLst/>
            <a:cxnLst/>
            <a:rect l="l" t="t" r="r" b="b"/>
            <a:pathLst>
              <a:path w="955860" h="893729">
                <a:moveTo>
                  <a:pt x="0" y="0"/>
                </a:moveTo>
                <a:lnTo>
                  <a:pt x="955861" y="0"/>
                </a:lnTo>
                <a:lnTo>
                  <a:pt x="955861" y="893729"/>
                </a:lnTo>
                <a:lnTo>
                  <a:pt x="0" y="8937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b="1" kern="1200">
          <a:solidFill>
            <a:srgbClr val="88BA2D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" r="-185"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 flipH="1">
            <a:off x="0" y="4691007"/>
            <a:ext cx="5106262" cy="5595993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5106262" y="0"/>
                </a:moveTo>
                <a:lnTo>
                  <a:pt x="0" y="0"/>
                </a:lnTo>
                <a:lnTo>
                  <a:pt x="0" y="5595993"/>
                </a:lnTo>
                <a:lnTo>
                  <a:pt x="5106262" y="5595993"/>
                </a:lnTo>
                <a:lnTo>
                  <a:pt x="51062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3181738" y="0"/>
            <a:ext cx="5106262" cy="5595993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0" y="5595993"/>
                </a:moveTo>
                <a:lnTo>
                  <a:pt x="5106262" y="5595993"/>
                </a:lnTo>
                <a:lnTo>
                  <a:pt x="5106262" y="0"/>
                </a:lnTo>
                <a:lnTo>
                  <a:pt x="0" y="0"/>
                </a:lnTo>
                <a:lnTo>
                  <a:pt x="0" y="55959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67215" y="182206"/>
            <a:ext cx="7553569" cy="4080970"/>
          </a:xfrm>
          <a:custGeom>
            <a:avLst/>
            <a:gdLst/>
            <a:ahLst/>
            <a:cxnLst/>
            <a:rect l="l" t="t" r="r" b="b"/>
            <a:pathLst>
              <a:path w="7553569" h="4080970">
                <a:moveTo>
                  <a:pt x="0" y="0"/>
                </a:moveTo>
                <a:lnTo>
                  <a:pt x="7553568" y="0"/>
                </a:lnTo>
                <a:lnTo>
                  <a:pt x="7553568" y="4080970"/>
                </a:lnTo>
                <a:lnTo>
                  <a:pt x="0" y="4080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71600" y="8569420"/>
            <a:ext cx="1575401" cy="1377760"/>
          </a:xfrm>
          <a:custGeom>
            <a:avLst/>
            <a:gdLst/>
            <a:ahLst/>
            <a:cxnLst/>
            <a:rect l="l" t="t" r="r" b="b"/>
            <a:pathLst>
              <a:path w="1575401" h="1377760">
                <a:moveTo>
                  <a:pt x="0" y="0"/>
                </a:moveTo>
                <a:lnTo>
                  <a:pt x="1575400" y="0"/>
                </a:lnTo>
                <a:lnTo>
                  <a:pt x="1575400" y="1377760"/>
                </a:lnTo>
                <a:lnTo>
                  <a:pt x="0" y="1377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587B96-909F-4EFA-C0A5-32A3B96F85EF}"/>
              </a:ext>
            </a:extLst>
          </p:cNvPr>
          <p:cNvSpPr/>
          <p:nvPr/>
        </p:nvSpPr>
        <p:spPr>
          <a:xfrm>
            <a:off x="0" y="4254686"/>
            <a:ext cx="18288000" cy="3231546"/>
          </a:xfrm>
          <a:prstGeom prst="rect">
            <a:avLst/>
          </a:prstGeom>
          <a:solidFill>
            <a:srgbClr val="00000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3297690" y="4257457"/>
            <a:ext cx="7973903" cy="18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</a:pPr>
            <a:r>
              <a:rPr lang="en-US" sz="10971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Cultivando</a:t>
            </a:r>
            <a:endParaRPr lang="en-US" sz="10971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15242" y="5615726"/>
            <a:ext cx="7923852" cy="18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</a:pPr>
            <a:r>
              <a:rPr lang="en-US" sz="10971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Soluciones</a:t>
            </a:r>
            <a:endParaRPr lang="en-US" sz="10971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7591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dirty="0"/>
              <a:t>Plataforma Biologicals </a:t>
            </a:r>
            <a:r>
              <a:rPr dirty="0" err="1"/>
              <a:t>Latam</a:t>
            </a:r>
            <a:r>
              <a:rPr dirty="0"/>
              <a:t> 2026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Septiembre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1: Proyección Estratégica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Coordenadas del Evento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Evento:</a:t>
            </a:r>
            <a:r>
              <a:t> 6º Congreso Bioestimulantes Latam &amp; Redagrícola Biocontrol</a:t>
            </a:r>
          </a:p>
          <a:p>
            <a:pPr lvl="0"/>
            <a:r>
              <a:rPr b="1"/>
              <a:t>Sede:</a:t>
            </a:r>
            <a:r>
              <a:t> Hotel Las Dunas, Ica, Perú</a:t>
            </a:r>
          </a:p>
          <a:p>
            <a:pPr lvl="0"/>
            <a:r>
              <a:rPr b="1"/>
              <a:t>Fechas:</a:t>
            </a:r>
            <a:r>
              <a:t> 2 y 3 de septiembre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Justificación de la Plaza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Ubicación: Ica, Perú</a:t>
            </a:r>
          </a:p>
          <a:p>
            <a:pPr marL="0" indent="0">
              <a:buNone/>
            </a:pPr>
            <a:r>
              <a:t>Ica representa el polo agroexportador más tecnificado de Perú.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Cultivos Clave:</a:t>
            </a:r>
          </a:p>
          <a:p>
            <a:pPr lvl="0"/>
            <a:r>
              <a:t>Uva de mesa</a:t>
            </a:r>
          </a:p>
          <a:p>
            <a:pPr lvl="0"/>
            <a:r>
              <a:t>Arándano</a:t>
            </a:r>
          </a:p>
          <a:p>
            <a:pPr lvl="0"/>
            <a:r>
              <a:t>Palto</a:t>
            </a:r>
          </a:p>
          <a:p>
            <a:pPr marL="0" indent="0">
              <a:buNone/>
            </a:pPr>
            <a:r>
              <a:rPr i="1"/>
              <a:t>Ideal para el posicionamiento de soluciones de alto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2: Panel de Expertos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Dr. Fabricio Cassán (Fisiología)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16535400" cy="6788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 err="1"/>
              <a:t>Perfil</a:t>
            </a:r>
            <a:r>
              <a:rPr b="1" dirty="0"/>
              <a:t>:</a:t>
            </a:r>
          </a:p>
          <a:p>
            <a:pPr lvl="0"/>
            <a:r>
              <a:rPr dirty="0" err="1"/>
              <a:t>Investigador</a:t>
            </a:r>
            <a:r>
              <a:rPr dirty="0"/>
              <a:t> Principal CONICET / INIAB (Argentina).</a:t>
            </a:r>
          </a:p>
          <a:p>
            <a:pPr lvl="0"/>
            <a:r>
              <a:rPr dirty="0"/>
              <a:t>30 </a:t>
            </a:r>
            <a:r>
              <a:rPr dirty="0" err="1"/>
              <a:t>años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PGPR (</a:t>
            </a:r>
            <a:r>
              <a:rPr dirty="0" err="1"/>
              <a:t>Rizobacterias</a:t>
            </a:r>
            <a:r>
              <a:rPr dirty="0"/>
              <a:t>).</a:t>
            </a:r>
            <a:endParaRPr lang="es-CO" dirty="0"/>
          </a:p>
          <a:p>
            <a:pPr marL="0" indent="0">
              <a:buNone/>
            </a:pPr>
            <a:r>
              <a:rPr lang="es-ES" b="1" dirty="0"/>
              <a:t>Valor Técnico:</a:t>
            </a:r>
          </a:p>
          <a:p>
            <a:pPr lvl="0"/>
            <a:r>
              <a:rPr lang="es-ES" dirty="0"/>
              <a:t>Lidera el concepto de </a:t>
            </a:r>
            <a:r>
              <a:rPr lang="es-ES" b="1" dirty="0"/>
              <a:t>“Ingeniería de la </a:t>
            </a:r>
            <a:r>
              <a:rPr lang="es-ES" b="1" dirty="0" err="1"/>
              <a:t>Rizósfera</a:t>
            </a:r>
            <a:r>
              <a:rPr lang="es-ES" b="1" dirty="0"/>
              <a:t>”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Modelo del Holobionte.</a:t>
            </a:r>
          </a:p>
          <a:p>
            <a:pPr lvl="0"/>
            <a:r>
              <a:rPr lang="es-ES" dirty="0"/>
              <a:t>Manipulación desde la </a:t>
            </a:r>
            <a:r>
              <a:rPr lang="es-ES" dirty="0" err="1"/>
              <a:t>espermósfera</a:t>
            </a:r>
            <a:r>
              <a:rPr lang="es-ES" dirty="0"/>
              <a:t> (semilla).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Dr. Rodrigo Mendes (Genética)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dirty="0" err="1"/>
              <a:t>Comparación</a:t>
            </a:r>
            <a:r>
              <a:rPr i="1" dirty="0"/>
              <a:t> de Expertise y Valor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298821-7E6A-92AD-59EC-4D51CADE22F9}"/>
              </a:ext>
            </a:extLst>
          </p:cNvPr>
          <p:cNvSpPr txBox="1">
            <a:spLocks/>
          </p:cNvSpPr>
          <p:nvPr/>
        </p:nvSpPr>
        <p:spPr>
          <a:xfrm>
            <a:off x="914400" y="2857500"/>
            <a:ext cx="16002000" cy="579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600" b="1" dirty="0"/>
              <a:t>Afiliación:</a:t>
            </a:r>
            <a:r>
              <a:rPr lang="es-ES" sz="3600" dirty="0"/>
              <a:t> </a:t>
            </a:r>
            <a:r>
              <a:rPr lang="es-ES" sz="3600" dirty="0" err="1"/>
              <a:t>Embrapa</a:t>
            </a:r>
            <a:r>
              <a:rPr lang="es-ES" sz="3600" dirty="0"/>
              <a:t> </a:t>
            </a:r>
            <a:r>
              <a:rPr lang="es-ES" sz="3600" dirty="0" err="1"/>
              <a:t>Meio</a:t>
            </a:r>
            <a:r>
              <a:rPr lang="es-ES" sz="3600" dirty="0"/>
              <a:t> Ambiente / Comité Científico Fundación Gates.</a:t>
            </a:r>
          </a:p>
          <a:p>
            <a:pPr marL="0" indent="0">
              <a:buFont typeface="Arial" pitchFamily="34" charset="0"/>
              <a:buNone/>
            </a:pPr>
            <a:endParaRPr lang="es-ES" sz="3600" dirty="0"/>
          </a:p>
          <a:p>
            <a:r>
              <a:rPr lang="es-ES" sz="3600" b="1" dirty="0" err="1"/>
              <a:t>Expertise</a:t>
            </a:r>
            <a:r>
              <a:rPr lang="es-ES" sz="3600" b="1" dirty="0"/>
              <a:t>:</a:t>
            </a:r>
            <a:r>
              <a:rPr lang="es-ES" sz="3600" dirty="0"/>
              <a:t> Decodificación del microbioma y Suelos </a:t>
            </a:r>
            <a:r>
              <a:rPr lang="es-ES" sz="3600" dirty="0" err="1"/>
              <a:t>Supresivos</a:t>
            </a:r>
            <a:r>
              <a:rPr lang="es-ES" sz="3600" dirty="0"/>
              <a:t>.</a:t>
            </a:r>
          </a:p>
          <a:p>
            <a:r>
              <a:rPr lang="es-ES" sz="3600" b="1" dirty="0"/>
              <a:t>Valor:</a:t>
            </a:r>
            <a:r>
              <a:rPr lang="es-ES" sz="3600" dirty="0"/>
              <a:t> Investigación seminal en </a:t>
            </a:r>
            <a:r>
              <a:rPr lang="es-ES" sz="3600" i="1" dirty="0" err="1"/>
              <a:t>Science</a:t>
            </a:r>
            <a:r>
              <a:rPr lang="es-ES" sz="3600" dirty="0"/>
              <a:t> sobre inmunidad del suelo y resistencia sistémica.</a:t>
            </a:r>
          </a:p>
          <a:p>
            <a:pPr marL="0" indent="0">
              <a:buFont typeface="Arial" pitchFamily="34" charset="0"/>
              <a:buNone/>
            </a:pPr>
            <a:endParaRPr lang="es-ES" sz="36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4F3A313-F7C9-487B-1807-6CEEFD26DCC2}"/>
              </a:ext>
            </a:extLst>
          </p:cNvPr>
          <p:cNvSpPr txBox="1">
            <a:spLocks/>
          </p:cNvSpPr>
          <p:nvPr/>
        </p:nvSpPr>
        <p:spPr>
          <a:xfrm>
            <a:off x="9296400" y="2400302"/>
            <a:ext cx="8077200" cy="67889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M.Sc. Braulio Lemus (Manejo Integrado)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3162300"/>
            <a:ext cx="15544800" cy="4953000"/>
          </a:xfrm>
        </p:spPr>
        <p:txBody>
          <a:bodyPr>
            <a:normAutofit/>
          </a:bodyPr>
          <a:lstStyle/>
          <a:p>
            <a:pPr lvl="0"/>
            <a:r>
              <a:rPr sz="4000" b="1" dirty="0" err="1"/>
              <a:t>Afiliación</a:t>
            </a:r>
            <a:r>
              <a:rPr sz="4000" b="1" dirty="0"/>
              <a:t>:</a:t>
            </a:r>
            <a:r>
              <a:rPr sz="4000" dirty="0"/>
              <a:t> Director de </a:t>
            </a:r>
            <a:r>
              <a:rPr sz="4000" dirty="0" err="1"/>
              <a:t>Protección</a:t>
            </a:r>
            <a:r>
              <a:rPr sz="4000" dirty="0"/>
              <a:t> Vegetal </a:t>
            </a:r>
            <a:r>
              <a:rPr sz="4000" dirty="0" err="1"/>
              <a:t>Estratégica</a:t>
            </a:r>
            <a:r>
              <a:rPr sz="4000" dirty="0"/>
              <a:t> (México).</a:t>
            </a:r>
          </a:p>
          <a:p>
            <a:pPr lvl="0"/>
            <a:r>
              <a:rPr sz="4000" b="1" dirty="0" err="1"/>
              <a:t>Enfoque</a:t>
            </a:r>
            <a:r>
              <a:rPr sz="4000" b="1" dirty="0"/>
              <a:t>:</a:t>
            </a:r>
            <a:r>
              <a:rPr sz="4000" dirty="0"/>
              <a:t> </a:t>
            </a:r>
            <a:r>
              <a:rPr sz="4000" dirty="0" err="1"/>
              <a:t>Parasitología</a:t>
            </a:r>
            <a:r>
              <a:rPr sz="4000" dirty="0"/>
              <a:t> </a:t>
            </a:r>
            <a:r>
              <a:rPr sz="4000" dirty="0" err="1"/>
              <a:t>agrícola</a:t>
            </a:r>
            <a:r>
              <a:rPr sz="4000" dirty="0"/>
              <a:t> </a:t>
            </a:r>
            <a:r>
              <a:rPr sz="4000" dirty="0" err="1"/>
              <a:t>en</a:t>
            </a:r>
            <a:r>
              <a:rPr sz="4000" dirty="0"/>
              <a:t> </a:t>
            </a:r>
            <a:r>
              <a:rPr sz="4000" dirty="0" err="1"/>
              <a:t>frutales</a:t>
            </a:r>
            <a:r>
              <a:rPr sz="4000" dirty="0"/>
              <a:t> </a:t>
            </a:r>
            <a:r>
              <a:rPr sz="4000" dirty="0" err="1"/>
              <a:t>tropicales</a:t>
            </a:r>
            <a:r>
              <a:rPr sz="4000" dirty="0"/>
              <a:t> (</a:t>
            </a:r>
            <a:r>
              <a:rPr sz="4000" dirty="0" err="1"/>
              <a:t>Aguacate</a:t>
            </a:r>
            <a:r>
              <a:rPr sz="4000" dirty="0"/>
              <a:t>/Berries).</a:t>
            </a:r>
          </a:p>
          <a:p>
            <a:pPr lvl="0"/>
            <a:r>
              <a:rPr sz="4000" b="1" dirty="0" err="1"/>
              <a:t>Aporte</a:t>
            </a:r>
            <a:r>
              <a:rPr sz="4000" b="1" dirty="0"/>
              <a:t>:</a:t>
            </a:r>
            <a:r>
              <a:rPr sz="4000" dirty="0"/>
              <a:t> </a:t>
            </a:r>
            <a:r>
              <a:rPr sz="4000" dirty="0" err="1"/>
              <a:t>Visión</a:t>
            </a:r>
            <a:r>
              <a:rPr sz="4000" dirty="0"/>
              <a:t> </a:t>
            </a:r>
            <a:r>
              <a:rPr sz="4000" dirty="0" err="1"/>
              <a:t>práctica</a:t>
            </a:r>
            <a:r>
              <a:rPr sz="4000" dirty="0"/>
              <a:t> del Biocontrol bajo </a:t>
            </a:r>
            <a:r>
              <a:rPr sz="4000" dirty="0" err="1"/>
              <a:t>restricciones</a:t>
            </a:r>
            <a:r>
              <a:rPr sz="4000" dirty="0"/>
              <a:t> de </a:t>
            </a:r>
            <a:r>
              <a:rPr sz="4000" dirty="0" err="1"/>
              <a:t>residuos</a:t>
            </a:r>
            <a:r>
              <a:rPr sz="4000" dirty="0"/>
              <a:t> </a:t>
            </a:r>
            <a:r>
              <a:rPr sz="4000" dirty="0" err="1"/>
              <a:t>químicos</a:t>
            </a:r>
            <a:r>
              <a:rPr sz="40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3: Inversión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Tickets (USD)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979339"/>
              </p:ext>
            </p:extLst>
          </p:nvPr>
        </p:nvGraphicFramePr>
        <p:xfrm>
          <a:off x="914400" y="2387600"/>
          <a:ext cx="164592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Modalidad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Tarifa Actual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Vencimiento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Precio Final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b="1"/>
                        <a:t>Presencial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b="1"/>
                        <a:t>$350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02 Mayo 2026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/>
                        <a:t>$550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b="1"/>
                        <a:t>Online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b="1"/>
                        <a:t>$200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dirty="0" err="1"/>
                        <a:t>Preventa</a:t>
                      </a:r>
                      <a:endParaRPr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3600" dirty="0"/>
                        <a:t>$300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4: Benchmark Técnico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Tendencias del Mercado (Edición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3390900"/>
            <a:ext cx="15544800" cy="4838700"/>
          </a:xfrm>
        </p:spPr>
        <p:txBody>
          <a:bodyPr/>
          <a:lstStyle/>
          <a:p>
            <a:pPr lvl="0"/>
            <a:r>
              <a:rPr b="1" dirty="0"/>
              <a:t>Cambio de </a:t>
            </a:r>
            <a:r>
              <a:rPr b="1" dirty="0" err="1"/>
              <a:t>Paradigma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Convergencia</a:t>
            </a:r>
            <a:r>
              <a:rPr dirty="0"/>
              <a:t> total entre </a:t>
            </a:r>
            <a:r>
              <a:rPr dirty="0" err="1"/>
              <a:t>Nutrición</a:t>
            </a:r>
            <a:r>
              <a:rPr dirty="0"/>
              <a:t> Vegetal y </a:t>
            </a:r>
            <a:r>
              <a:rPr dirty="0" err="1"/>
              <a:t>Bioestimulación</a:t>
            </a:r>
            <a:r>
              <a:rPr dirty="0"/>
              <a:t>.</a:t>
            </a:r>
          </a:p>
          <a:p>
            <a:pPr lvl="0"/>
            <a:r>
              <a:rPr b="1" dirty="0" err="1"/>
              <a:t>Eficiencia</a:t>
            </a:r>
            <a:r>
              <a:rPr b="1" dirty="0"/>
              <a:t> (NUE):</a:t>
            </a:r>
            <a:r>
              <a:rPr dirty="0"/>
              <a:t> Dr. Patrick Brown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de </a:t>
            </a:r>
            <a:r>
              <a:rPr dirty="0" err="1"/>
              <a:t>nutrientes</a:t>
            </a:r>
            <a:r>
              <a:rPr dirty="0"/>
              <a:t>.</a:t>
            </a:r>
          </a:p>
          <a:p>
            <a:pPr lvl="0"/>
            <a:r>
              <a:rPr b="1" dirty="0" err="1"/>
              <a:t>Señalización</a:t>
            </a:r>
            <a:r>
              <a:rPr b="1" dirty="0"/>
              <a:t> Molecular:</a:t>
            </a:r>
            <a:r>
              <a:rPr dirty="0"/>
              <a:t> </a:t>
            </a:r>
            <a:r>
              <a:rPr dirty="0" err="1"/>
              <a:t>Mecanismos</a:t>
            </a:r>
            <a:r>
              <a:rPr dirty="0"/>
              <a:t> de </a:t>
            </a:r>
            <a:r>
              <a:rPr dirty="0" err="1"/>
              <a:t>percepción</a:t>
            </a:r>
            <a:r>
              <a:rPr dirty="0"/>
              <a:t> de </a:t>
            </a:r>
            <a:r>
              <a:rPr dirty="0" err="1"/>
              <a:t>nutrientes</a:t>
            </a:r>
            <a:r>
              <a:rPr dirty="0"/>
              <a:t> (Dr. Rodrigo Gutiérrez).</a:t>
            </a:r>
          </a:p>
          <a:p>
            <a:pPr lvl="0"/>
            <a:r>
              <a:rPr b="1" dirty="0" err="1"/>
              <a:t>Regulación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Normativas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 de </a:t>
            </a:r>
            <a:r>
              <a:rPr dirty="0" err="1"/>
              <a:t>biopesticidas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Chile.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335</Words>
  <Application>Microsoft Office PowerPoint</Application>
  <PresentationFormat>Personalizado</PresentationFormat>
  <Paragraphs>59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Montserrat Bold</vt:lpstr>
      <vt:lpstr>Montserrat</vt:lpstr>
      <vt:lpstr>Arial</vt:lpstr>
      <vt:lpstr>Open Sans</vt:lpstr>
      <vt:lpstr>Calibri</vt:lpstr>
      <vt:lpstr>Aptos</vt:lpstr>
      <vt:lpstr>Office Theme</vt:lpstr>
      <vt:lpstr>Presentación de PowerPoint</vt:lpstr>
      <vt:lpstr>Plataforma Biologicals Latam 2026</vt:lpstr>
      <vt:lpstr>Introducción</vt:lpstr>
      <vt:lpstr>Sección 1: Proyección Estratégica</vt:lpstr>
      <vt:lpstr>Coordenadas del Evento</vt:lpstr>
      <vt:lpstr>Justificación de la Plaza</vt:lpstr>
      <vt:lpstr>Sección 2: Panel de Expertos</vt:lpstr>
      <vt:lpstr>Dr. Fabricio Cassán (Fisiología)</vt:lpstr>
      <vt:lpstr>Dr. Rodrigo Mendes (Genética)</vt:lpstr>
      <vt:lpstr>M.Sc. Braulio Lemus (Manejo Integrado)</vt:lpstr>
      <vt:lpstr>Sección 3: Inversión</vt:lpstr>
      <vt:lpstr>Plan de Tickets (USD)</vt:lpstr>
      <vt:lpstr>Sección 4: Benchmark Técnico</vt:lpstr>
      <vt:lpstr>Tendencias del Mercado (Edición 2025)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USUARIO</dc:creator>
  <cp:lastModifiedBy>DIRECCION TECNICA</cp:lastModifiedBy>
  <cp:revision>10</cp:revision>
  <dcterms:created xsi:type="dcterms:W3CDTF">2006-08-16T00:00:00Z</dcterms:created>
  <dcterms:modified xsi:type="dcterms:W3CDTF">2026-02-19T15:20:46Z</dcterms:modified>
  <dc:identifier>DAGnojO6dTI</dc:identifier>
</cp:coreProperties>
</file>