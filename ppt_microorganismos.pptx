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Microorganismos en Fertilización: De la Rizosfera al Gránulo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Calferquim S.A.S.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Microorganismos y Agricultura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biofertilizantes transforman la nutrición vegetal moderna.</a:t>
            </a:r>
          </a:p>
          <a:p>
            <a:pPr lvl="0"/>
            <a:r>
              <a:rPr/>
              <a:t>Las Rizobacterias Promotoras del Crecimiento (PGPR) liberan nutrientes bloqueados.</a:t>
            </a:r>
          </a:p>
          <a:p>
            <a:pPr lvl="0"/>
            <a:r>
              <a:rPr/>
              <a:t>Gran parte del N, P y K del suelo es inaccesible para la raíz.</a:t>
            </a:r>
          </a:p>
          <a:p>
            <a:pPr lvl="0"/>
            <a:r>
              <a:rPr/>
              <a:t>Los fertilizantes químicos se fijan, lixivian o volatilizan.</a:t>
            </a:r>
          </a:p>
          <a:p>
            <a:pPr lvl="0"/>
            <a:r>
              <a:rPr/>
              <a:t>Las PGPR actúan como la “llave” para liberar estos nutrientes.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Desafío Nutricional del Suelo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fósforo se inmoviliza con Ca, Fe y Al en el suelo.</a:t>
            </a:r>
          </a:p>
          <a:p>
            <a:pPr lvl="0"/>
            <a:r>
              <a:rPr/>
              <a:t>El 98% del potasio está bloqueado en minerales como micas.</a:t>
            </a:r>
          </a:p>
          <a:p>
            <a:pPr lvl="0"/>
            <a:r>
              <a:rPr/>
              <a:t>El nitrógeno atmosférico requiere fijación biológica para ser útil.</a:t>
            </a:r>
          </a:p>
          <a:p>
            <a:pPr lvl="0"/>
            <a:r>
              <a:rPr/>
              <a:t>La biotecnología ofrece soluciones sostenibles a estos problemas.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Pseudomonas fluorescens</a:t>
            </a:r>
            <a:r>
              <a:rPr/>
              <a:t>: Nuestra Apuesta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 una rizobacteria promotora del crecimiento vegetal (PGPR).</a:t>
            </a:r>
          </a:p>
          <a:p>
            <a:pPr lvl="0"/>
            <a:r>
              <a:rPr/>
              <a:t>Habita naturalmente en la rizosfera, rodeando las raíces.</a:t>
            </a:r>
          </a:p>
          <a:p>
            <a:pPr lvl="0"/>
            <a:r>
              <a:rPr/>
              <a:t>No es una sola bacteria, sino un complejo de más de 50 especies.</a:t>
            </a:r>
          </a:p>
          <a:p>
            <a:pPr lvl="0"/>
            <a:r>
              <a:rPr/>
              <a:t>Es Gram-negativa, aerobia y no forma esporas.</a:t>
            </a:r>
          </a:p>
          <a:p>
            <a:pPr lvl="0"/>
            <a:r>
              <a:rPr/>
              <a:t>Herramienta biotecnológica clave para la nutrición y el biocontrol.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Pigmento Pioverdina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Secreta un pigmento fluorescente verde-amarillento bajo luz UV.</a:t>
            </a:r>
          </a:p>
          <a:p>
            <a:pPr lvl="0"/>
            <a:r>
              <a:rPr/>
              <a:t>Este compuesto es un poderoso sideróforo que secuestra hierro.</a:t>
            </a:r>
          </a:p>
          <a:p>
            <a:pPr lvl="0"/>
            <a:r>
              <a:rPr/>
              <a:t>Mata de inanición a patógenos que compiten por hierro.</a:t>
            </a:r>
          </a:p>
          <a:p>
            <a:pPr lvl="0"/>
            <a:r>
              <a:rPr/>
              <a:t>Ventaja competitiva directa en la rizosfera.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Solubilización de Fósforo (P)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Libera el fósforo inmovilizado en el suelo para la planta.</a:t>
            </a:r>
          </a:p>
          <a:p>
            <a:pPr lvl="0"/>
            <a:r>
              <a:rPr/>
              <a:t>Secreta ácido glucónico para acidificar y romper enlaces minerales.</a:t>
            </a:r>
          </a:p>
          <a:p>
            <a:pPr lvl="0"/>
            <a:r>
              <a:rPr/>
              <a:t>Enzimas fosfatasas liberan el P de la materia orgánica.</a:t>
            </a:r>
          </a:p>
          <a:p>
            <a:pPr lvl="0"/>
            <a:r>
              <a:rPr/>
              <a:t>Aumenta la disponibilidad de fósforo soluble hasta en un 62%.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Movilización de Potasio y Calcio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Rompe la estructura cristalina de los silicatos para liberar K+.</a:t>
            </a:r>
          </a:p>
          <a:p>
            <a:pPr lvl="0"/>
            <a:r>
              <a:rPr/>
              <a:t>Moviliza Calcio y Magnesio disolviendo carbonatos.</a:t>
            </a:r>
          </a:p>
          <a:p>
            <a:pPr lvl="0"/>
            <a:r>
              <a:rPr/>
              <a:t>Proceso especialmente útil en suelos altamente calcáreos.</a:t>
            </a:r>
          </a:p>
          <a:p>
            <a:pPr lvl="0"/>
            <a:r>
              <a:rPr/>
              <a:t>Complementa la nutrición mineral del cultivo.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Fitohormonas y Crecimiento Radicular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Sintetiza auxinas (AIA) y giberelinas para la planta.</a:t>
            </a:r>
          </a:p>
          <a:p>
            <a:pPr lvl="0"/>
            <a:r>
              <a:rPr/>
              <a:t>Estimula una proliferación masiva de raíces secundarias.</a:t>
            </a:r>
          </a:p>
          <a:p>
            <a:pPr lvl="0"/>
            <a:r>
              <a:rPr/>
              <a:t>Maximiza el volumen de suelo que la planta puede explorar.</a:t>
            </a:r>
          </a:p>
          <a:p>
            <a:pPr lvl="0"/>
            <a:r>
              <a:rPr/>
              <a:t>Más raíces significa mayor captación de agua y nutrientes.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Mitigación del Estrés Abiótico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Algunas cepas producen la enzima ACC desaminasa.</a:t>
            </a:r>
          </a:p>
          <a:p>
            <a:pPr lvl="0"/>
            <a:r>
              <a:rPr/>
              <a:t>Amortigua los picos letales de etileno generados por estrés.</a:t>
            </a:r>
          </a:p>
          <a:p>
            <a:pPr lvl="0"/>
            <a:r>
              <a:rPr/>
              <a:t>Permite tolerar sequías, salinidad y metales pesados.</a:t>
            </a:r>
          </a:p>
          <a:p>
            <a:pPr lvl="0"/>
            <a:r>
              <a:rPr/>
              <a:t>Protección fisiológica sin intervención química.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Biocontrol de Fitopatógenos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Produce antibióticos como el 2,4-DAPG y fenazinas.</a:t>
            </a:r>
          </a:p>
          <a:p>
            <a:pPr lvl="0"/>
            <a:r>
              <a:rPr/>
              <a:t>Libera cianuro de hidrógeno (HCN) de acción antifúngica.</a:t>
            </a:r>
          </a:p>
          <a:p>
            <a:pPr lvl="0"/>
            <a:r>
              <a:rPr/>
              <a:t>Suprime patógenos como </a:t>
            </a:r>
            <a:r>
              <a:rPr i="1"/>
              <a:t>Fusarium</a:t>
            </a:r>
            <a:r>
              <a:rPr/>
              <a:t>, </a:t>
            </a:r>
            <a:r>
              <a:rPr i="1"/>
              <a:t>Pythium</a:t>
            </a:r>
            <a:r>
              <a:rPr/>
              <a:t> y </a:t>
            </a:r>
            <a:r>
              <a:rPr i="1"/>
              <a:t>Rhizoctonia</a:t>
            </a:r>
            <a:r>
              <a:rPr/>
              <a:t>.</a:t>
            </a:r>
          </a:p>
          <a:p>
            <a:pPr lvl="0"/>
            <a:r>
              <a:rPr/>
              <a:t>Induce Resistencia Sistémica (ISR) en la planta hospedera.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Fijación Biológica de Nitrógeno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Transforma el N2 atmosférico en amoníaco asimilable.</a:t>
            </a:r>
          </a:p>
          <a:p>
            <a:pPr lvl="0"/>
            <a:r>
              <a:rPr/>
              <a:t>Proceso realizado por el complejo enzimático nitrogenasa.</a:t>
            </a:r>
          </a:p>
          <a:p>
            <a:pPr lvl="0"/>
            <a:r>
              <a:rPr/>
              <a:t>Simbióticos: </a:t>
            </a:r>
            <a:r>
              <a:rPr i="1"/>
              <a:t>Rhizobium</a:t>
            </a:r>
            <a:r>
              <a:rPr/>
              <a:t> en leguminosas forma nódulos.</a:t>
            </a:r>
          </a:p>
          <a:p>
            <a:pPr lvl="0"/>
            <a:r>
              <a:rPr/>
              <a:t>Asociativos: </a:t>
            </a:r>
            <a:r>
              <a:rPr i="1"/>
              <a:t>Azospirillum</a:t>
            </a:r>
            <a:r>
              <a:rPr/>
              <a:t> coloniza gramíneas como maíz y trigo.</a:t>
            </a:r>
          </a:p>
          <a:p>
            <a:pPr lvl="0"/>
            <a:r>
              <a:rPr/>
              <a:t>Vida libre: </a:t>
            </a:r>
            <a:r>
              <a:rPr i="1"/>
              <a:t>Azotobacter</a:t>
            </a:r>
            <a:r>
              <a:rPr/>
              <a:t> actúa en suelos con buena aireación.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Género </a:t>
            </a:r>
            <a:r>
              <a:rPr i="1"/>
              <a:t>Bacillus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Bacterias Gram-positivas formadoras de endosporas resistentes.</a:t>
            </a:r>
          </a:p>
          <a:p>
            <a:pPr lvl="0"/>
            <a:r>
              <a:rPr/>
              <a:t>Resisten calor, desecación y condiciones ambientales extremas.</a:t>
            </a:r>
          </a:p>
          <a:p>
            <a:pPr lvl="0"/>
            <a:r>
              <a:rPr/>
              <a:t>Sobreviven en formulaciones con sales NPK.</a:t>
            </a:r>
          </a:p>
          <a:p>
            <a:pPr lvl="0"/>
            <a:r>
              <a:rPr/>
              <a:t>Excelentes solubilizadores de Fósforo y Potasio.</a:t>
            </a:r>
          </a:p>
          <a:p>
            <a:pPr lvl="0"/>
            <a:r>
              <a:rPr/>
              <a:t>Producen lipopéptidos antifúngicos (surfactina, iturina, fengicina).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Género </a:t>
            </a:r>
            <a:r>
              <a:rPr i="1"/>
              <a:t>Azospirillum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Bacteria fijadora de nitrógeno de tipo asociativa.</a:t>
            </a:r>
          </a:p>
          <a:p>
            <a:pPr lvl="0"/>
            <a:r>
              <a:rPr/>
              <a:t>Coloniza eficientemente gramíneas como maíz y trigo.</a:t>
            </a:r>
          </a:p>
          <a:p>
            <a:pPr lvl="0"/>
            <a:r>
              <a:rPr/>
              <a:t>Produce cantidades masivas de auxinas (AIA).</a:t>
            </a:r>
          </a:p>
          <a:p>
            <a:pPr lvl="0"/>
            <a:r>
              <a:rPr/>
              <a:t>Transforma la arquitectura del sistema radicular.</a:t>
            </a:r>
          </a:p>
          <a:p>
            <a:pPr lvl="0"/>
            <a:r>
              <a:rPr/>
              <a:t>Reduce drásticamente la necesidad de urea química.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Hongo </a:t>
            </a:r>
            <a:r>
              <a:rPr i="1"/>
              <a:t>Trichoderma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Hongo filamentoso altamente competitivo en el suelo.</a:t>
            </a:r>
          </a:p>
          <a:p>
            <a:pPr lvl="0"/>
            <a:r>
              <a:rPr/>
              <a:t>Explora volúmenes de tierra inaccesibles para la raíz.</a:t>
            </a:r>
          </a:p>
          <a:p>
            <a:pPr lvl="0"/>
            <a:r>
              <a:rPr/>
              <a:t>Ejerce micoparasitismo destructivo sobre hongos patógenos.</a:t>
            </a:r>
          </a:p>
          <a:p>
            <a:pPr lvl="0"/>
            <a:r>
              <a:rPr/>
              <a:t>Frena </a:t>
            </a:r>
            <a:r>
              <a:rPr i="1"/>
              <a:t>Phytophthora</a:t>
            </a:r>
            <a:r>
              <a:rPr/>
              <a:t>, </a:t>
            </a:r>
            <a:r>
              <a:rPr i="1"/>
              <a:t>Rhizoctonia</a:t>
            </a:r>
            <a:r>
              <a:rPr/>
              <a:t> y piricularia en arroz.</a:t>
            </a:r>
          </a:p>
          <a:p>
            <a:pPr lvl="0"/>
            <a:r>
              <a:rPr/>
              <a:t>Produce ácidos orgánicos que disuelven P y K.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Consorcios Microbianos: La Sinergia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interacción de microorganismos supera los efectos individuales.</a:t>
            </a:r>
          </a:p>
          <a:p>
            <a:pPr lvl="0"/>
            <a:r>
              <a:rPr i="1"/>
              <a:t>Bacillus</a:t>
            </a:r>
            <a:r>
              <a:rPr/>
              <a:t>: resistencia térmica y colonización rápida.</a:t>
            </a:r>
          </a:p>
          <a:p>
            <a:pPr lvl="0"/>
            <a:r>
              <a:rPr i="1"/>
              <a:t>Azospirillum</a:t>
            </a:r>
            <a:r>
              <a:rPr/>
              <a:t>: nutrición completa aportando N y P.</a:t>
            </a:r>
          </a:p>
          <a:p>
            <a:pPr lvl="0"/>
            <a:r>
              <a:rPr i="1"/>
              <a:t>Trichoderma</a:t>
            </a:r>
            <a:r>
              <a:rPr/>
              <a:t>: biocontrol fungicida potenciado.</a:t>
            </a:r>
          </a:p>
          <a:p>
            <a:pPr lvl="0"/>
            <a:r>
              <a:rPr/>
              <a:t>Su mezcla coordinada potencia los rendimientos dramáticamente.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los Consorcios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Aumentos de biomasa hasta del 37% en cultivos como banano.</a:t>
            </a:r>
          </a:p>
          <a:p>
            <a:pPr lvl="0"/>
            <a:r>
              <a:rPr/>
              <a:t>Hasta 97% de prevención del marchitamiento en tomate.</a:t>
            </a:r>
          </a:p>
          <a:p>
            <a:pPr lvl="0"/>
            <a:r>
              <a:rPr/>
              <a:t>Efecto protector superior al de fungicidas químicos.</a:t>
            </a:r>
          </a:p>
          <a:p>
            <a:pPr lvl="0"/>
            <a:r>
              <a:rPr/>
              <a:t>Reducción de hasta un 50% de las dosis de NPK.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Desafío Industrial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P. fluorescens</a:t>
            </a:r>
            <a:r>
              <a:rPr/>
              <a:t> no forma esporas: vulnerable al calor y desecación.</a:t>
            </a:r>
          </a:p>
          <a:p>
            <a:pPr lvl="0"/>
            <a:r>
              <a:rPr/>
              <a:t>Sufre estrés osmótico letal ante las sales de fertilizantes NPK.</a:t>
            </a:r>
          </a:p>
          <a:p>
            <a:pPr lvl="0"/>
            <a:r>
              <a:rPr/>
              <a:t>Su granulación exige una ingeniería de bioprocesos impecable.</a:t>
            </a:r>
          </a:p>
          <a:p>
            <a:pPr lvl="0"/>
            <a:r>
              <a:rPr/>
              <a:t>Es vital aislar físicamente la bacteria de la sal mineral.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Tecnologías de Formulación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Recubrimiento superficial del gránulo (</a:t>
            </a:r>
            <a:r>
              <a:rPr i="1"/>
              <a:t>Biocoating</a:t>
            </a:r>
            <a:r>
              <a:rPr/>
              <a:t>).</a:t>
            </a:r>
          </a:p>
          <a:p>
            <a:pPr lvl="0"/>
            <a:r>
              <a:rPr/>
              <a:t>Microencapsulación protectora usando alginato o quitosano.</a:t>
            </a:r>
          </a:p>
          <a:p>
            <a:pPr lvl="0"/>
            <a:r>
              <a:rPr/>
              <a:t>Estas técnicas aíslan a la bacteria de las sales agresivas.</a:t>
            </a:r>
          </a:p>
          <a:p>
            <a:pPr lvl="0"/>
            <a:r>
              <a:rPr/>
              <a:t>Se estabiliza comercialmente mediante liofilización.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Producción y Fermentación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Crecimiento óptimo entre 25 y 30 °C.</a:t>
            </a:r>
          </a:p>
          <a:p>
            <a:pPr lvl="0"/>
            <a:r>
              <a:rPr/>
              <a:t>Demanda un suministro agresivo de aire en el biorreactor.</a:t>
            </a:r>
          </a:p>
          <a:p>
            <a:pPr lvl="0"/>
            <a:r>
              <a:rPr i="1"/>
              <a:t>Bacillus</a:t>
            </a:r>
            <a:r>
              <a:rPr/>
              <a:t> facilita la co-formulación con sales químicas NPK.</a:t>
            </a:r>
          </a:p>
          <a:p>
            <a:pPr lvl="0"/>
            <a:r>
              <a:rPr/>
              <a:t>Dosis objetivo en gránulo: ≥10⁸ UFC/g para ser eficaz.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Almacenamiento y Cadena de Frío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Conservar idealmente entre 4 y 20 °C.</a:t>
            </a:r>
          </a:p>
          <a:p>
            <a:pPr lvl="0"/>
            <a:r>
              <a:rPr/>
              <a:t>La humedad del gránulo final no debe superar el 3%.</a:t>
            </a:r>
          </a:p>
          <a:p>
            <a:pPr lvl="0"/>
            <a:r>
              <a:rPr/>
              <a:t>Almacenar en empaques herméticos, opacos o sellados al vacío.</a:t>
            </a:r>
          </a:p>
          <a:p>
            <a:pPr lvl="0"/>
            <a:r>
              <a:rPr/>
              <a:t>Requiere colonizar al menos 10⁵ UFC por gramo de raíz.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Aplicación en Campo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Aplicación localizada en el surco o sobre la semilla.</a:t>
            </a:r>
          </a:p>
          <a:p>
            <a:pPr lvl="0"/>
            <a:r>
              <a:rPr/>
              <a:t>Incorporación sub-superficial para evitar daño por luz UV.</a:t>
            </a:r>
          </a:p>
          <a:p>
            <a:pPr lvl="0"/>
            <a:r>
              <a:rPr/>
              <a:t>Permite reducir hasta un 50% las dosis de NPK químico.</a:t>
            </a:r>
          </a:p>
          <a:p>
            <a:pPr lvl="0"/>
            <a:r>
              <a:rPr/>
              <a:t>La biotecnología reduce drásticamente la huella química.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Los microorganismos son herramientas clave para la nutrición sostenible.</a:t>
            </a:r>
          </a:p>
          <a:p>
            <a:pPr lvl="0"/>
            <a:r>
              <a:rPr i="1"/>
              <a:t>Pseudomonas fluorescens</a:t>
            </a:r>
            <a:r>
              <a:rPr/>
              <a:t> ofrece nutrición, biocontrol y resistencia.</a:t>
            </a:r>
          </a:p>
          <a:p>
            <a:pPr lvl="0"/>
            <a:r>
              <a:rPr/>
              <a:t>Los consorcios microbianos multiplican los beneficios individuales.</a:t>
            </a:r>
          </a:p>
          <a:p>
            <a:pPr lvl="0"/>
            <a:r>
              <a:rPr/>
              <a:t>Exige manejo logístico riguroso al tratarse de organismos vivos.</a:t>
            </a:r>
          </a:p>
          <a:p>
            <a:pPr lvl="0"/>
            <a:r>
              <a:rPr/>
              <a:t>Representa la frontera tecnológica de la agricultura biológica.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Microorganismos en Fertilización: De la Rizosfera al Gránulo</dc:title>
  <dc:creator>Calferquim S.A.S.</dc:creator>
  <cp:keywords/>
  <dcterms:created xsi:type="dcterms:W3CDTF">2026-03-17T13:41:23Z</dcterms:created>
  <dcterms:modified xsi:type="dcterms:W3CDTF">2026-03-17T13:41:23Z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</Properties>
</file>