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353" r:id="rId4"/>
    <p:sldId id="258" r:id="rId5"/>
    <p:sldId id="263" r:id="rId6"/>
    <p:sldId id="352" r:id="rId7"/>
    <p:sldId id="261" r:id="rId8"/>
    <p:sldId id="264" r:id="rId9"/>
    <p:sldId id="262" r:id="rId10"/>
    <p:sldId id="265" r:id="rId11"/>
    <p:sldId id="266" r:id="rId12"/>
    <p:sldId id="259" r:id="rId13"/>
    <p:sldId id="268" r:id="rId14"/>
    <p:sldId id="269" r:id="rId15"/>
    <p:sldId id="260" r:id="rId16"/>
    <p:sldId id="354" r:id="rId17"/>
    <p:sldId id="270" r:id="rId18"/>
    <p:sldId id="271" r:id="rId19"/>
    <p:sldId id="272" r:id="rId20"/>
    <p:sldId id="273" r:id="rId21"/>
    <p:sldId id="274" r:id="rId22"/>
    <p:sldId id="351" r:id="rId23"/>
    <p:sldId id="355" r:id="rId24"/>
    <p:sldId id="276" r:id="rId25"/>
    <p:sldId id="281" r:id="rId26"/>
    <p:sldId id="282" r:id="rId27"/>
    <p:sldId id="277" r:id="rId28"/>
    <p:sldId id="278" r:id="rId29"/>
    <p:sldId id="279" r:id="rId30"/>
    <p:sldId id="280" r:id="rId31"/>
  </p:sldIdLst>
  <p:sldSz cx="12192000" cy="6858000"/>
  <p:notesSz cx="6858000" cy="9144000"/>
  <p:embeddedFontLst>
    <p:embeddedFont>
      <p:font typeface="Cambria Math" panose="02040503050406030204" pitchFamily="18" charset="0"/>
      <p:regular r:id="rId33"/>
    </p:embeddedFont>
    <p:embeddedFont>
      <p:font typeface="Play"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CA844C-917C-4ED5-8990-6E7DE3A4A09D}">
  <a:tblStyle styleId="{0ACA844C-917C-4ED5-8990-6E7DE3A4A09D}" styleName="Table_0">
    <a:wholeTbl>
      <a:tcTxStyle b="off" i="off">
        <a:font>
          <a:latin typeface="Aptos"/>
          <a:ea typeface="Aptos"/>
          <a:cs typeface="Apto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058" autoAdjust="0"/>
  </p:normalViewPr>
  <p:slideViewPr>
    <p:cSldViewPr>
      <p:cViewPr varScale="1">
        <p:scale>
          <a:sx n="104" d="100"/>
          <a:sy n="104" d="100"/>
        </p:scale>
        <p:origin x="83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User\Desktop\MAC_14_11\1.%20Estudio%20de%20carga%20de%20la%20enfermedad\1.%20Documento\Bases%20de%20datos\De%20trabajo\1.%20Evento%20210%20a&#241;os%202020%20a%202023p.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User\Desktop\MAC_14_11\Estudio%20de%20carga%20de%20la%20enfermedad\1.%20Documento\Bases%20de%20datos\De%20trabajo\evento%20210%20a&#241;os%202020%20a%202023p.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User\Desktop\MAC_14_11\Estudio%20de%20carga%20de%20la%20enfermedad\1.%20Documento\Bases%20de%20datos\De%20trabajo\evento%20210%20a&#241;os%202020%20a%202023p.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User\Desktop\MAC_14_11\Estudio%20de%20carga%20de%20la%20enfermedad\1.%20Documento\Bases%20de%20datos\De%20trabajo\evento%20210%20a&#241;os%202020%20a%202023p.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User\Desktop\MAC_14_11\Estudio%20de%20carga%20de%20la%20enfermedad\1.%20Documento\Bases%20de%20datos\De%20trabajo\evento%20210%20a&#241;os%202020%20a%202023p.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User\Desktop\MAC_14_11\1.%20Estudio%20de%20carga%20de%20la%20enfermedad\1.%20Documento\Bases%20de%20datos\De%20trabajo\4.%20Insumos%20para%20AVAD.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User\Desktop\MAC_14_11\1.%20Estudio%20de%20carga%20de%20la%20enfermedad\1.%20Documento\Bases%20de%20datos\De%20trabajo\4.%20Insumos%20para%20AVAD.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User\Desktop\MAC_14_11\1.%20Estudio%20de%20carga%20de%20la%20enfermedad\1.%20Documento\Bases%20de%20datos\De%20trabajo\4.%20Insumos%20para%20AVAD.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User\Desktop\MAC_14_11\1.%20Estudio%20de%20carga%20de%20la%20enfermedad\1.%20Documento\Bases%20de%20datos\De%20trabajo\4.%20Insumos%20para%20AVA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80525915568966"/>
          <c:y val="6.3533732103229587E-2"/>
          <c:w val="0.78070269253726465"/>
          <c:h val="0.64655739920921917"/>
        </c:manualLayout>
      </c:layout>
      <c:lineChart>
        <c:grouping val="standard"/>
        <c:varyColors val="0"/>
        <c:ser>
          <c:idx val="2"/>
          <c:order val="0"/>
          <c:tx>
            <c:strRef>
              <c:f>'Tabla dinamica final'!$BE$4</c:f>
              <c:strCache>
                <c:ptCount val="1"/>
                <c:pt idx="0">
                  <c:v>Casos</c:v>
                </c:pt>
              </c:strCache>
            </c:strRef>
          </c:tx>
          <c:spPr>
            <a:ln w="15875">
              <a:solidFill>
                <a:schemeClr val="tx1"/>
              </a:solidFill>
            </a:ln>
          </c:spPr>
          <c:marker>
            <c:symbol val="none"/>
          </c:marker>
          <c:cat>
            <c:multiLvlStrRef>
              <c:f>'Tabla dinamica final'!$BC$5:$BD$228</c:f>
              <c:multiLvlStrCache>
                <c:ptCount val="2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1</c:v>
                  </c:pt>
                  <c:pt idx="53">
                    <c:v>2</c:v>
                  </c:pt>
                  <c:pt idx="54">
                    <c:v>3</c:v>
                  </c:pt>
                  <c:pt idx="55">
                    <c:v>4</c:v>
                  </c:pt>
                  <c:pt idx="56">
                    <c:v>5</c:v>
                  </c:pt>
                  <c:pt idx="57">
                    <c:v>6</c:v>
                  </c:pt>
                  <c:pt idx="58">
                    <c:v>7</c:v>
                  </c:pt>
                  <c:pt idx="59">
                    <c:v>8</c:v>
                  </c:pt>
                  <c:pt idx="60">
                    <c:v>9</c:v>
                  </c:pt>
                  <c:pt idx="61">
                    <c:v>10</c:v>
                  </c:pt>
                  <c:pt idx="62">
                    <c:v>11</c:v>
                  </c:pt>
                  <c:pt idx="63">
                    <c:v>12</c:v>
                  </c:pt>
                  <c:pt idx="64">
                    <c:v>13</c:v>
                  </c:pt>
                  <c:pt idx="65">
                    <c:v>14</c:v>
                  </c:pt>
                  <c:pt idx="66">
                    <c:v>15</c:v>
                  </c:pt>
                  <c:pt idx="67">
                    <c:v>16</c:v>
                  </c:pt>
                  <c:pt idx="68">
                    <c:v>17</c:v>
                  </c:pt>
                  <c:pt idx="69">
                    <c:v>18</c:v>
                  </c:pt>
                  <c:pt idx="70">
                    <c:v>19</c:v>
                  </c:pt>
                  <c:pt idx="71">
                    <c:v>20</c:v>
                  </c:pt>
                  <c:pt idx="72">
                    <c:v>21</c:v>
                  </c:pt>
                  <c:pt idx="73">
                    <c:v>22</c:v>
                  </c:pt>
                  <c:pt idx="74">
                    <c:v>23</c:v>
                  </c:pt>
                  <c:pt idx="75">
                    <c:v>24</c:v>
                  </c:pt>
                  <c:pt idx="76">
                    <c:v>25</c:v>
                  </c:pt>
                  <c:pt idx="77">
                    <c:v>26</c:v>
                  </c:pt>
                  <c:pt idx="78">
                    <c:v>27</c:v>
                  </c:pt>
                  <c:pt idx="79">
                    <c:v>28</c:v>
                  </c:pt>
                  <c:pt idx="80">
                    <c:v>29</c:v>
                  </c:pt>
                  <c:pt idx="81">
                    <c:v>30</c:v>
                  </c:pt>
                  <c:pt idx="82">
                    <c:v>31</c:v>
                  </c:pt>
                  <c:pt idx="83">
                    <c:v>32</c:v>
                  </c:pt>
                  <c:pt idx="84">
                    <c:v>33</c:v>
                  </c:pt>
                  <c:pt idx="85">
                    <c:v>34</c:v>
                  </c:pt>
                  <c:pt idx="86">
                    <c:v>35</c:v>
                  </c:pt>
                  <c:pt idx="87">
                    <c:v>36</c:v>
                  </c:pt>
                  <c:pt idx="88">
                    <c:v>37</c:v>
                  </c:pt>
                  <c:pt idx="89">
                    <c:v>38</c:v>
                  </c:pt>
                  <c:pt idx="90">
                    <c:v>39</c:v>
                  </c:pt>
                  <c:pt idx="91">
                    <c:v>40</c:v>
                  </c:pt>
                  <c:pt idx="92">
                    <c:v>41</c:v>
                  </c:pt>
                  <c:pt idx="93">
                    <c:v>42</c:v>
                  </c:pt>
                  <c:pt idx="94">
                    <c:v>43</c:v>
                  </c:pt>
                  <c:pt idx="95">
                    <c:v>1</c:v>
                  </c:pt>
                  <c:pt idx="96">
                    <c:v>2</c:v>
                  </c:pt>
                  <c:pt idx="97">
                    <c:v>3</c:v>
                  </c:pt>
                  <c:pt idx="98">
                    <c:v>4</c:v>
                  </c:pt>
                  <c:pt idx="99">
                    <c:v>5</c:v>
                  </c:pt>
                  <c:pt idx="100">
                    <c:v>6</c:v>
                  </c:pt>
                  <c:pt idx="101">
                    <c:v>7</c:v>
                  </c:pt>
                  <c:pt idx="102">
                    <c:v>8</c:v>
                  </c:pt>
                  <c:pt idx="103">
                    <c:v>9</c:v>
                  </c:pt>
                  <c:pt idx="104">
                    <c:v>10</c:v>
                  </c:pt>
                  <c:pt idx="105">
                    <c:v>11</c:v>
                  </c:pt>
                  <c:pt idx="106">
                    <c:v>12</c:v>
                  </c:pt>
                  <c:pt idx="107">
                    <c:v>13</c:v>
                  </c:pt>
                  <c:pt idx="108">
                    <c:v>14</c:v>
                  </c:pt>
                  <c:pt idx="109">
                    <c:v>15</c:v>
                  </c:pt>
                  <c:pt idx="110">
                    <c:v>16</c:v>
                  </c:pt>
                  <c:pt idx="111">
                    <c:v>17</c:v>
                  </c:pt>
                  <c:pt idx="112">
                    <c:v>18</c:v>
                  </c:pt>
                  <c:pt idx="113">
                    <c:v>19</c:v>
                  </c:pt>
                  <c:pt idx="114">
                    <c:v>20</c:v>
                  </c:pt>
                  <c:pt idx="115">
                    <c:v>21</c:v>
                  </c:pt>
                  <c:pt idx="116">
                    <c:v>22</c:v>
                  </c:pt>
                  <c:pt idx="117">
                    <c:v>23</c:v>
                  </c:pt>
                  <c:pt idx="118">
                    <c:v>24</c:v>
                  </c:pt>
                  <c:pt idx="119">
                    <c:v>25</c:v>
                  </c:pt>
                  <c:pt idx="120">
                    <c:v>26</c:v>
                  </c:pt>
                  <c:pt idx="121">
                    <c:v>27</c:v>
                  </c:pt>
                  <c:pt idx="122">
                    <c:v>28</c:v>
                  </c:pt>
                  <c:pt idx="123">
                    <c:v>29</c:v>
                  </c:pt>
                  <c:pt idx="124">
                    <c:v>30</c:v>
                  </c:pt>
                  <c:pt idx="125">
                    <c:v>31</c:v>
                  </c:pt>
                  <c:pt idx="126">
                    <c:v>32</c:v>
                  </c:pt>
                  <c:pt idx="127">
                    <c:v>33</c:v>
                  </c:pt>
                  <c:pt idx="128">
                    <c:v>34</c:v>
                  </c:pt>
                  <c:pt idx="129">
                    <c:v>35</c:v>
                  </c:pt>
                  <c:pt idx="130">
                    <c:v>36</c:v>
                  </c:pt>
                  <c:pt idx="131">
                    <c:v>37</c:v>
                  </c:pt>
                  <c:pt idx="132">
                    <c:v>38</c:v>
                  </c:pt>
                  <c:pt idx="133">
                    <c:v>39</c:v>
                  </c:pt>
                  <c:pt idx="134">
                    <c:v>40</c:v>
                  </c:pt>
                  <c:pt idx="135">
                    <c:v>41</c:v>
                  </c:pt>
                  <c:pt idx="136">
                    <c:v>42</c:v>
                  </c:pt>
                  <c:pt idx="137">
                    <c:v>43</c:v>
                  </c:pt>
                  <c:pt idx="138">
                    <c:v>1</c:v>
                  </c:pt>
                  <c:pt idx="139">
                    <c:v>2</c:v>
                  </c:pt>
                  <c:pt idx="140">
                    <c:v>3</c:v>
                  </c:pt>
                  <c:pt idx="141">
                    <c:v>4</c:v>
                  </c:pt>
                  <c:pt idx="142">
                    <c:v>5</c:v>
                  </c:pt>
                  <c:pt idx="143">
                    <c:v>6</c:v>
                  </c:pt>
                  <c:pt idx="144">
                    <c:v>7</c:v>
                  </c:pt>
                  <c:pt idx="145">
                    <c:v>8</c:v>
                  </c:pt>
                  <c:pt idx="146">
                    <c:v>9</c:v>
                  </c:pt>
                  <c:pt idx="147">
                    <c:v>10</c:v>
                  </c:pt>
                  <c:pt idx="148">
                    <c:v>11</c:v>
                  </c:pt>
                  <c:pt idx="149">
                    <c:v>12</c:v>
                  </c:pt>
                  <c:pt idx="150">
                    <c:v>13</c:v>
                  </c:pt>
                  <c:pt idx="151">
                    <c:v>14</c:v>
                  </c:pt>
                  <c:pt idx="152">
                    <c:v>15</c:v>
                  </c:pt>
                  <c:pt idx="153">
                    <c:v>16</c:v>
                  </c:pt>
                  <c:pt idx="154">
                    <c:v>17</c:v>
                  </c:pt>
                  <c:pt idx="155">
                    <c:v>18</c:v>
                  </c:pt>
                  <c:pt idx="156">
                    <c:v>19</c:v>
                  </c:pt>
                  <c:pt idx="157">
                    <c:v>20</c:v>
                  </c:pt>
                  <c:pt idx="158">
                    <c:v>21</c:v>
                  </c:pt>
                  <c:pt idx="159">
                    <c:v>22</c:v>
                  </c:pt>
                  <c:pt idx="160">
                    <c:v>23</c:v>
                  </c:pt>
                  <c:pt idx="161">
                    <c:v>24</c:v>
                  </c:pt>
                  <c:pt idx="162">
                    <c:v>25</c:v>
                  </c:pt>
                  <c:pt idx="163">
                    <c:v>26</c:v>
                  </c:pt>
                  <c:pt idx="164">
                    <c:v>27</c:v>
                  </c:pt>
                  <c:pt idx="165">
                    <c:v>28</c:v>
                  </c:pt>
                  <c:pt idx="166">
                    <c:v>29</c:v>
                  </c:pt>
                  <c:pt idx="167">
                    <c:v>30</c:v>
                  </c:pt>
                  <c:pt idx="168">
                    <c:v>31</c:v>
                  </c:pt>
                  <c:pt idx="169">
                    <c:v>32</c:v>
                  </c:pt>
                  <c:pt idx="170">
                    <c:v>33</c:v>
                  </c:pt>
                  <c:pt idx="171">
                    <c:v>34</c:v>
                  </c:pt>
                  <c:pt idx="172">
                    <c:v>35</c:v>
                  </c:pt>
                  <c:pt idx="173">
                    <c:v>36</c:v>
                  </c:pt>
                  <c:pt idx="174">
                    <c:v>37</c:v>
                  </c:pt>
                  <c:pt idx="175">
                    <c:v>38</c:v>
                  </c:pt>
                  <c:pt idx="176">
                    <c:v>39</c:v>
                  </c:pt>
                  <c:pt idx="177">
                    <c:v>40</c:v>
                  </c:pt>
                  <c:pt idx="178">
                    <c:v>41</c:v>
                  </c:pt>
                  <c:pt idx="179">
                    <c:v>42</c:v>
                  </c:pt>
                  <c:pt idx="180">
                    <c:v>43</c:v>
                  </c:pt>
                  <c:pt idx="181">
                    <c:v>1</c:v>
                  </c:pt>
                  <c:pt idx="182">
                    <c:v>2</c:v>
                  </c:pt>
                  <c:pt idx="183">
                    <c:v>3</c:v>
                  </c:pt>
                  <c:pt idx="184">
                    <c:v>4</c:v>
                  </c:pt>
                  <c:pt idx="185">
                    <c:v>5</c:v>
                  </c:pt>
                  <c:pt idx="186">
                    <c:v>6</c:v>
                  </c:pt>
                  <c:pt idx="187">
                    <c:v>7</c:v>
                  </c:pt>
                  <c:pt idx="188">
                    <c:v>8</c:v>
                  </c:pt>
                  <c:pt idx="189">
                    <c:v>9</c:v>
                  </c:pt>
                  <c:pt idx="190">
                    <c:v>10</c:v>
                  </c:pt>
                  <c:pt idx="191">
                    <c:v>11</c:v>
                  </c:pt>
                  <c:pt idx="192">
                    <c:v>12</c:v>
                  </c:pt>
                  <c:pt idx="193">
                    <c:v>13</c:v>
                  </c:pt>
                  <c:pt idx="194">
                    <c:v>14</c:v>
                  </c:pt>
                  <c:pt idx="195">
                    <c:v>15</c:v>
                  </c:pt>
                  <c:pt idx="196">
                    <c:v>16</c:v>
                  </c:pt>
                  <c:pt idx="197">
                    <c:v>17</c:v>
                  </c:pt>
                  <c:pt idx="198">
                    <c:v>18</c:v>
                  </c:pt>
                  <c:pt idx="199">
                    <c:v>19</c:v>
                  </c:pt>
                  <c:pt idx="200">
                    <c:v>20</c:v>
                  </c:pt>
                  <c:pt idx="201">
                    <c:v>21</c:v>
                  </c:pt>
                  <c:pt idx="202">
                    <c:v>22</c:v>
                  </c:pt>
                  <c:pt idx="203">
                    <c:v>23</c:v>
                  </c:pt>
                  <c:pt idx="204">
                    <c:v>24</c:v>
                  </c:pt>
                  <c:pt idx="205">
                    <c:v>25</c:v>
                  </c:pt>
                  <c:pt idx="206">
                    <c:v>26</c:v>
                  </c:pt>
                  <c:pt idx="207">
                    <c:v>27</c:v>
                  </c:pt>
                  <c:pt idx="208">
                    <c:v>28</c:v>
                  </c:pt>
                  <c:pt idx="209">
                    <c:v>29</c:v>
                  </c:pt>
                  <c:pt idx="210">
                    <c:v>30</c:v>
                  </c:pt>
                  <c:pt idx="211">
                    <c:v>31</c:v>
                  </c:pt>
                  <c:pt idx="212">
                    <c:v>32</c:v>
                  </c:pt>
                  <c:pt idx="213">
                    <c:v>33</c:v>
                  </c:pt>
                  <c:pt idx="214">
                    <c:v>34</c:v>
                  </c:pt>
                  <c:pt idx="215">
                    <c:v>35</c:v>
                  </c:pt>
                  <c:pt idx="216">
                    <c:v>36</c:v>
                  </c:pt>
                  <c:pt idx="217">
                    <c:v>37</c:v>
                  </c:pt>
                  <c:pt idx="218">
                    <c:v>38</c:v>
                  </c:pt>
                  <c:pt idx="219">
                    <c:v>39</c:v>
                  </c:pt>
                  <c:pt idx="220">
                    <c:v>40</c:v>
                  </c:pt>
                  <c:pt idx="221">
                    <c:v>41</c:v>
                  </c:pt>
                  <c:pt idx="222">
                    <c:v>42</c:v>
                  </c:pt>
                  <c:pt idx="223">
                    <c:v>43</c:v>
                  </c:pt>
                </c:lvl>
                <c:lvl>
                  <c:pt idx="0">
                    <c:v>2019</c:v>
                  </c:pt>
                  <c:pt idx="52">
                    <c:v>2020</c:v>
                  </c:pt>
                  <c:pt idx="95">
                    <c:v>2021</c:v>
                  </c:pt>
                  <c:pt idx="138">
                    <c:v>2022</c:v>
                  </c:pt>
                  <c:pt idx="181">
                    <c:v>2023</c:v>
                  </c:pt>
                </c:lvl>
              </c:multiLvlStrCache>
            </c:multiLvlStrRef>
          </c:cat>
          <c:val>
            <c:numRef>
              <c:f>'Tabla dinamica final'!$BE$5:$BE$228</c:f>
              <c:numCache>
                <c:formatCode>General</c:formatCode>
                <c:ptCount val="224"/>
                <c:pt idx="0">
                  <c:v>43</c:v>
                </c:pt>
                <c:pt idx="1">
                  <c:v>33</c:v>
                </c:pt>
                <c:pt idx="2">
                  <c:v>32</c:v>
                </c:pt>
                <c:pt idx="3">
                  <c:v>38</c:v>
                </c:pt>
                <c:pt idx="4">
                  <c:v>38</c:v>
                </c:pt>
                <c:pt idx="5">
                  <c:v>39</c:v>
                </c:pt>
                <c:pt idx="6">
                  <c:v>40</c:v>
                </c:pt>
                <c:pt idx="7">
                  <c:v>37</c:v>
                </c:pt>
                <c:pt idx="8">
                  <c:v>37</c:v>
                </c:pt>
                <c:pt idx="9">
                  <c:v>41</c:v>
                </c:pt>
                <c:pt idx="10">
                  <c:v>47</c:v>
                </c:pt>
                <c:pt idx="11">
                  <c:v>42</c:v>
                </c:pt>
                <c:pt idx="12">
                  <c:v>37</c:v>
                </c:pt>
                <c:pt idx="13">
                  <c:v>37</c:v>
                </c:pt>
                <c:pt idx="14">
                  <c:v>29</c:v>
                </c:pt>
                <c:pt idx="15">
                  <c:v>25</c:v>
                </c:pt>
                <c:pt idx="16">
                  <c:v>46</c:v>
                </c:pt>
                <c:pt idx="17">
                  <c:v>33</c:v>
                </c:pt>
                <c:pt idx="18">
                  <c:v>38</c:v>
                </c:pt>
                <c:pt idx="19">
                  <c:v>49</c:v>
                </c:pt>
                <c:pt idx="20">
                  <c:v>37</c:v>
                </c:pt>
                <c:pt idx="21">
                  <c:v>45</c:v>
                </c:pt>
                <c:pt idx="22">
                  <c:v>42</c:v>
                </c:pt>
                <c:pt idx="23">
                  <c:v>42</c:v>
                </c:pt>
                <c:pt idx="24">
                  <c:v>50</c:v>
                </c:pt>
                <c:pt idx="25">
                  <c:v>43</c:v>
                </c:pt>
                <c:pt idx="26">
                  <c:v>55</c:v>
                </c:pt>
                <c:pt idx="27">
                  <c:v>42</c:v>
                </c:pt>
                <c:pt idx="28">
                  <c:v>56</c:v>
                </c:pt>
                <c:pt idx="29">
                  <c:v>52</c:v>
                </c:pt>
                <c:pt idx="30">
                  <c:v>64</c:v>
                </c:pt>
                <c:pt idx="31">
                  <c:v>59</c:v>
                </c:pt>
                <c:pt idx="32">
                  <c:v>63</c:v>
                </c:pt>
                <c:pt idx="33">
                  <c:v>74</c:v>
                </c:pt>
                <c:pt idx="34">
                  <c:v>82</c:v>
                </c:pt>
                <c:pt idx="35">
                  <c:v>79</c:v>
                </c:pt>
                <c:pt idx="36">
                  <c:v>93</c:v>
                </c:pt>
                <c:pt idx="37">
                  <c:v>108</c:v>
                </c:pt>
                <c:pt idx="38">
                  <c:v>93</c:v>
                </c:pt>
                <c:pt idx="39">
                  <c:v>112</c:v>
                </c:pt>
                <c:pt idx="40">
                  <c:v>88</c:v>
                </c:pt>
                <c:pt idx="41">
                  <c:v>90</c:v>
                </c:pt>
                <c:pt idx="42">
                  <c:v>107</c:v>
                </c:pt>
                <c:pt idx="43">
                  <c:v>130</c:v>
                </c:pt>
                <c:pt idx="44">
                  <c:v>152</c:v>
                </c:pt>
                <c:pt idx="45">
                  <c:v>149</c:v>
                </c:pt>
                <c:pt idx="46">
                  <c:v>176</c:v>
                </c:pt>
                <c:pt idx="47">
                  <c:v>188</c:v>
                </c:pt>
                <c:pt idx="48">
                  <c:v>200</c:v>
                </c:pt>
                <c:pt idx="49">
                  <c:v>223</c:v>
                </c:pt>
                <c:pt idx="50">
                  <c:v>292</c:v>
                </c:pt>
                <c:pt idx="51">
                  <c:v>304</c:v>
                </c:pt>
                <c:pt idx="52">
                  <c:v>365</c:v>
                </c:pt>
                <c:pt idx="53">
                  <c:v>420</c:v>
                </c:pt>
                <c:pt idx="54">
                  <c:v>614</c:v>
                </c:pt>
                <c:pt idx="55">
                  <c:v>674</c:v>
                </c:pt>
                <c:pt idx="56">
                  <c:v>720</c:v>
                </c:pt>
                <c:pt idx="57">
                  <c:v>733</c:v>
                </c:pt>
                <c:pt idx="58">
                  <c:v>677</c:v>
                </c:pt>
                <c:pt idx="59">
                  <c:v>655</c:v>
                </c:pt>
                <c:pt idx="60">
                  <c:v>609</c:v>
                </c:pt>
                <c:pt idx="61">
                  <c:v>715</c:v>
                </c:pt>
                <c:pt idx="62">
                  <c:v>669</c:v>
                </c:pt>
                <c:pt idx="63">
                  <c:v>428</c:v>
                </c:pt>
                <c:pt idx="64">
                  <c:v>364</c:v>
                </c:pt>
                <c:pt idx="65">
                  <c:v>378</c:v>
                </c:pt>
                <c:pt idx="66">
                  <c:v>293</c:v>
                </c:pt>
                <c:pt idx="67">
                  <c:v>276</c:v>
                </c:pt>
                <c:pt idx="68">
                  <c:v>289</c:v>
                </c:pt>
                <c:pt idx="69">
                  <c:v>259</c:v>
                </c:pt>
                <c:pt idx="70">
                  <c:v>234</c:v>
                </c:pt>
                <c:pt idx="71">
                  <c:v>251</c:v>
                </c:pt>
                <c:pt idx="72">
                  <c:v>232</c:v>
                </c:pt>
                <c:pt idx="73">
                  <c:v>172</c:v>
                </c:pt>
                <c:pt idx="74">
                  <c:v>196</c:v>
                </c:pt>
                <c:pt idx="75">
                  <c:v>172</c:v>
                </c:pt>
                <c:pt idx="76">
                  <c:v>186</c:v>
                </c:pt>
                <c:pt idx="77">
                  <c:v>154</c:v>
                </c:pt>
                <c:pt idx="78">
                  <c:v>180</c:v>
                </c:pt>
                <c:pt idx="79">
                  <c:v>132</c:v>
                </c:pt>
                <c:pt idx="80">
                  <c:v>142</c:v>
                </c:pt>
                <c:pt idx="81">
                  <c:v>151</c:v>
                </c:pt>
                <c:pt idx="82">
                  <c:v>128</c:v>
                </c:pt>
                <c:pt idx="83">
                  <c:v>140</c:v>
                </c:pt>
                <c:pt idx="84">
                  <c:v>125</c:v>
                </c:pt>
                <c:pt idx="85">
                  <c:v>124</c:v>
                </c:pt>
                <c:pt idx="86">
                  <c:v>135</c:v>
                </c:pt>
                <c:pt idx="87">
                  <c:v>121</c:v>
                </c:pt>
                <c:pt idx="88">
                  <c:v>117</c:v>
                </c:pt>
                <c:pt idx="89">
                  <c:v>116</c:v>
                </c:pt>
                <c:pt idx="90">
                  <c:v>121</c:v>
                </c:pt>
                <c:pt idx="91">
                  <c:v>98</c:v>
                </c:pt>
                <c:pt idx="92">
                  <c:v>108</c:v>
                </c:pt>
                <c:pt idx="93">
                  <c:v>115</c:v>
                </c:pt>
                <c:pt idx="94">
                  <c:v>129</c:v>
                </c:pt>
                <c:pt idx="95">
                  <c:v>147</c:v>
                </c:pt>
                <c:pt idx="96">
                  <c:v>139</c:v>
                </c:pt>
                <c:pt idx="97">
                  <c:v>155</c:v>
                </c:pt>
                <c:pt idx="98">
                  <c:v>199</c:v>
                </c:pt>
                <c:pt idx="99">
                  <c:v>205</c:v>
                </c:pt>
                <c:pt idx="100">
                  <c:v>172</c:v>
                </c:pt>
                <c:pt idx="101">
                  <c:v>184</c:v>
                </c:pt>
                <c:pt idx="102">
                  <c:v>191</c:v>
                </c:pt>
                <c:pt idx="103">
                  <c:v>173</c:v>
                </c:pt>
                <c:pt idx="104">
                  <c:v>160</c:v>
                </c:pt>
                <c:pt idx="105">
                  <c:v>135</c:v>
                </c:pt>
                <c:pt idx="106">
                  <c:v>130</c:v>
                </c:pt>
                <c:pt idx="107">
                  <c:v>104</c:v>
                </c:pt>
                <c:pt idx="108">
                  <c:v>125</c:v>
                </c:pt>
                <c:pt idx="109">
                  <c:v>110</c:v>
                </c:pt>
                <c:pt idx="110">
                  <c:v>71</c:v>
                </c:pt>
                <c:pt idx="111">
                  <c:v>67</c:v>
                </c:pt>
                <c:pt idx="112">
                  <c:v>79</c:v>
                </c:pt>
                <c:pt idx="113">
                  <c:v>76</c:v>
                </c:pt>
                <c:pt idx="114">
                  <c:v>104</c:v>
                </c:pt>
                <c:pt idx="115">
                  <c:v>94</c:v>
                </c:pt>
                <c:pt idx="116">
                  <c:v>112</c:v>
                </c:pt>
                <c:pt idx="117">
                  <c:v>99</c:v>
                </c:pt>
                <c:pt idx="118">
                  <c:v>91</c:v>
                </c:pt>
                <c:pt idx="119">
                  <c:v>116</c:v>
                </c:pt>
                <c:pt idx="120">
                  <c:v>101</c:v>
                </c:pt>
                <c:pt idx="121">
                  <c:v>80</c:v>
                </c:pt>
                <c:pt idx="122">
                  <c:v>85</c:v>
                </c:pt>
                <c:pt idx="123">
                  <c:v>127</c:v>
                </c:pt>
                <c:pt idx="124">
                  <c:v>81</c:v>
                </c:pt>
                <c:pt idx="125">
                  <c:v>134</c:v>
                </c:pt>
                <c:pt idx="126">
                  <c:v>102</c:v>
                </c:pt>
                <c:pt idx="127">
                  <c:v>112</c:v>
                </c:pt>
                <c:pt idx="128">
                  <c:v>90</c:v>
                </c:pt>
                <c:pt idx="129">
                  <c:v>104</c:v>
                </c:pt>
                <c:pt idx="130">
                  <c:v>105</c:v>
                </c:pt>
                <c:pt idx="131">
                  <c:v>106</c:v>
                </c:pt>
                <c:pt idx="132">
                  <c:v>94</c:v>
                </c:pt>
                <c:pt idx="133">
                  <c:v>80</c:v>
                </c:pt>
                <c:pt idx="134">
                  <c:v>102</c:v>
                </c:pt>
                <c:pt idx="135">
                  <c:v>113</c:v>
                </c:pt>
                <c:pt idx="136">
                  <c:v>72</c:v>
                </c:pt>
                <c:pt idx="137">
                  <c:v>76</c:v>
                </c:pt>
                <c:pt idx="138">
                  <c:v>57</c:v>
                </c:pt>
                <c:pt idx="139">
                  <c:v>68</c:v>
                </c:pt>
                <c:pt idx="140">
                  <c:v>61</c:v>
                </c:pt>
                <c:pt idx="141">
                  <c:v>49</c:v>
                </c:pt>
                <c:pt idx="142">
                  <c:v>70</c:v>
                </c:pt>
                <c:pt idx="143">
                  <c:v>52</c:v>
                </c:pt>
                <c:pt idx="144">
                  <c:v>48</c:v>
                </c:pt>
                <c:pt idx="145">
                  <c:v>61</c:v>
                </c:pt>
                <c:pt idx="146">
                  <c:v>63</c:v>
                </c:pt>
                <c:pt idx="147">
                  <c:v>54</c:v>
                </c:pt>
                <c:pt idx="148">
                  <c:v>54</c:v>
                </c:pt>
                <c:pt idx="149">
                  <c:v>60</c:v>
                </c:pt>
                <c:pt idx="150">
                  <c:v>51</c:v>
                </c:pt>
                <c:pt idx="151">
                  <c:v>48</c:v>
                </c:pt>
                <c:pt idx="152">
                  <c:v>62</c:v>
                </c:pt>
                <c:pt idx="153">
                  <c:v>58</c:v>
                </c:pt>
                <c:pt idx="154">
                  <c:v>57</c:v>
                </c:pt>
                <c:pt idx="155">
                  <c:v>63</c:v>
                </c:pt>
                <c:pt idx="156">
                  <c:v>51</c:v>
                </c:pt>
                <c:pt idx="157">
                  <c:v>64</c:v>
                </c:pt>
                <c:pt idx="158">
                  <c:v>63</c:v>
                </c:pt>
                <c:pt idx="159">
                  <c:v>61</c:v>
                </c:pt>
                <c:pt idx="160">
                  <c:v>38</c:v>
                </c:pt>
                <c:pt idx="161">
                  <c:v>66</c:v>
                </c:pt>
                <c:pt idx="162">
                  <c:v>54</c:v>
                </c:pt>
                <c:pt idx="163">
                  <c:v>42</c:v>
                </c:pt>
                <c:pt idx="164">
                  <c:v>49</c:v>
                </c:pt>
                <c:pt idx="165">
                  <c:v>53</c:v>
                </c:pt>
                <c:pt idx="166">
                  <c:v>58</c:v>
                </c:pt>
                <c:pt idx="167">
                  <c:v>42</c:v>
                </c:pt>
                <c:pt idx="168">
                  <c:v>52</c:v>
                </c:pt>
                <c:pt idx="169">
                  <c:v>49</c:v>
                </c:pt>
                <c:pt idx="170">
                  <c:v>60</c:v>
                </c:pt>
                <c:pt idx="171">
                  <c:v>59</c:v>
                </c:pt>
                <c:pt idx="172">
                  <c:v>64</c:v>
                </c:pt>
                <c:pt idx="173">
                  <c:v>77</c:v>
                </c:pt>
                <c:pt idx="174">
                  <c:v>46</c:v>
                </c:pt>
                <c:pt idx="175">
                  <c:v>48</c:v>
                </c:pt>
                <c:pt idx="176">
                  <c:v>47</c:v>
                </c:pt>
                <c:pt idx="177">
                  <c:v>38</c:v>
                </c:pt>
                <c:pt idx="178">
                  <c:v>40</c:v>
                </c:pt>
                <c:pt idx="179">
                  <c:v>45</c:v>
                </c:pt>
                <c:pt idx="180">
                  <c:v>51</c:v>
                </c:pt>
                <c:pt idx="181">
                  <c:v>47</c:v>
                </c:pt>
                <c:pt idx="182">
                  <c:v>45</c:v>
                </c:pt>
                <c:pt idx="183">
                  <c:v>38</c:v>
                </c:pt>
                <c:pt idx="184">
                  <c:v>53</c:v>
                </c:pt>
                <c:pt idx="185">
                  <c:v>61</c:v>
                </c:pt>
                <c:pt idx="186">
                  <c:v>61</c:v>
                </c:pt>
                <c:pt idx="187">
                  <c:v>67</c:v>
                </c:pt>
                <c:pt idx="188">
                  <c:v>68</c:v>
                </c:pt>
                <c:pt idx="189">
                  <c:v>61</c:v>
                </c:pt>
                <c:pt idx="190">
                  <c:v>71</c:v>
                </c:pt>
                <c:pt idx="191">
                  <c:v>81</c:v>
                </c:pt>
                <c:pt idx="192">
                  <c:v>84</c:v>
                </c:pt>
                <c:pt idx="193">
                  <c:v>66</c:v>
                </c:pt>
                <c:pt idx="194">
                  <c:v>68</c:v>
                </c:pt>
                <c:pt idx="195">
                  <c:v>79</c:v>
                </c:pt>
                <c:pt idx="196">
                  <c:v>82</c:v>
                </c:pt>
                <c:pt idx="197">
                  <c:v>65</c:v>
                </c:pt>
                <c:pt idx="198">
                  <c:v>124</c:v>
                </c:pt>
                <c:pt idx="199">
                  <c:v>114</c:v>
                </c:pt>
                <c:pt idx="200">
                  <c:v>122</c:v>
                </c:pt>
                <c:pt idx="201">
                  <c:v>121</c:v>
                </c:pt>
                <c:pt idx="202">
                  <c:v>155</c:v>
                </c:pt>
                <c:pt idx="203">
                  <c:v>156</c:v>
                </c:pt>
                <c:pt idx="204">
                  <c:v>196</c:v>
                </c:pt>
                <c:pt idx="205">
                  <c:v>195</c:v>
                </c:pt>
                <c:pt idx="206">
                  <c:v>211</c:v>
                </c:pt>
                <c:pt idx="207">
                  <c:v>291</c:v>
                </c:pt>
                <c:pt idx="208">
                  <c:v>286</c:v>
                </c:pt>
                <c:pt idx="209">
                  <c:v>348</c:v>
                </c:pt>
                <c:pt idx="210">
                  <c:v>333</c:v>
                </c:pt>
                <c:pt idx="211">
                  <c:v>378</c:v>
                </c:pt>
                <c:pt idx="212">
                  <c:v>382</c:v>
                </c:pt>
                <c:pt idx="213">
                  <c:v>349</c:v>
                </c:pt>
                <c:pt idx="214">
                  <c:v>400</c:v>
                </c:pt>
                <c:pt idx="215">
                  <c:v>469</c:v>
                </c:pt>
                <c:pt idx="216">
                  <c:v>442</c:v>
                </c:pt>
                <c:pt idx="217">
                  <c:v>453</c:v>
                </c:pt>
                <c:pt idx="218">
                  <c:v>513</c:v>
                </c:pt>
                <c:pt idx="219">
                  <c:v>375</c:v>
                </c:pt>
                <c:pt idx="220">
                  <c:v>381</c:v>
                </c:pt>
                <c:pt idx="221">
                  <c:v>414</c:v>
                </c:pt>
                <c:pt idx="222">
                  <c:v>427</c:v>
                </c:pt>
                <c:pt idx="223">
                  <c:v>339</c:v>
                </c:pt>
              </c:numCache>
            </c:numRef>
          </c:val>
          <c:smooth val="1"/>
          <c:extLst>
            <c:ext xmlns:c16="http://schemas.microsoft.com/office/drawing/2014/chart" uri="{C3380CC4-5D6E-409C-BE32-E72D297353CC}">
              <c16:uniqueId val="{00000000-2BA1-4C03-AF01-382B1F79E3F5}"/>
            </c:ext>
          </c:extLst>
        </c:ser>
        <c:dLbls>
          <c:showLegendKey val="0"/>
          <c:showVal val="0"/>
          <c:showCatName val="0"/>
          <c:showSerName val="0"/>
          <c:showPercent val="0"/>
          <c:showBubbleSize val="0"/>
        </c:dLbls>
        <c:smooth val="0"/>
        <c:axId val="542388224"/>
        <c:axId val="56063616"/>
      </c:lineChart>
      <c:catAx>
        <c:axId val="542388224"/>
        <c:scaling>
          <c:orientation val="minMax"/>
        </c:scaling>
        <c:delete val="0"/>
        <c:axPos val="b"/>
        <c:title>
          <c:tx>
            <c:rich>
              <a:bodyPr/>
              <a:lstStyle/>
              <a:p>
                <a:pPr>
                  <a:defRPr sz="800" b="0"/>
                </a:pPr>
                <a:r>
                  <a:rPr lang="en-US" sz="800" b="0"/>
                  <a:t>Semana epidemiológica</a:t>
                </a:r>
              </a:p>
            </c:rich>
          </c:tx>
          <c:layout>
            <c:manualLayout>
              <c:xMode val="edge"/>
              <c:yMode val="edge"/>
              <c:x val="0.36597280480126898"/>
              <c:y val="0.89998220179559107"/>
            </c:manualLayout>
          </c:layout>
          <c:overlay val="0"/>
        </c:title>
        <c:numFmt formatCode="General" sourceLinked="0"/>
        <c:majorTickMark val="none"/>
        <c:minorTickMark val="in"/>
        <c:tickLblPos val="low"/>
        <c:spPr>
          <a:ln>
            <a:solidFill>
              <a:schemeClr val="tx1"/>
            </a:solidFill>
          </a:ln>
        </c:spPr>
        <c:txPr>
          <a:bodyPr/>
          <a:lstStyle/>
          <a:p>
            <a:pPr>
              <a:defRPr sz="700"/>
            </a:pPr>
            <a:endParaRPr lang="es-CO"/>
          </a:p>
        </c:txPr>
        <c:crossAx val="56063616"/>
        <c:crosses val="autoZero"/>
        <c:auto val="1"/>
        <c:lblAlgn val="ctr"/>
        <c:lblOffset val="100"/>
        <c:noMultiLvlLbl val="0"/>
      </c:catAx>
      <c:valAx>
        <c:axId val="56063616"/>
        <c:scaling>
          <c:orientation val="minMax"/>
        </c:scaling>
        <c:delete val="0"/>
        <c:axPos val="l"/>
        <c:majorGridlines>
          <c:spPr>
            <a:ln>
              <a:solidFill>
                <a:schemeClr val="tx1">
                  <a:alpha val="11000"/>
                </a:schemeClr>
              </a:solidFill>
            </a:ln>
          </c:spPr>
        </c:majorGridlines>
        <c:title>
          <c:tx>
            <c:rich>
              <a:bodyPr rot="-5400000" vert="horz"/>
              <a:lstStyle/>
              <a:p>
                <a:pPr>
                  <a:defRPr sz="800" b="0"/>
                </a:pPr>
                <a:r>
                  <a:rPr lang="en-US" sz="800" b="0"/>
                  <a:t>Número de casos</a:t>
                </a:r>
              </a:p>
            </c:rich>
          </c:tx>
          <c:layout>
            <c:manualLayout>
              <c:xMode val="edge"/>
              <c:yMode val="edge"/>
              <c:x val="8.3073727933541015E-3"/>
              <c:y val="0.18581100109267457"/>
            </c:manualLayout>
          </c:layout>
          <c:overlay val="0"/>
        </c:title>
        <c:numFmt formatCode="General" sourceLinked="1"/>
        <c:majorTickMark val="cross"/>
        <c:minorTickMark val="in"/>
        <c:tickLblPos val="nextTo"/>
        <c:spPr>
          <a:ln>
            <a:solidFill>
              <a:schemeClr val="tx1"/>
            </a:solidFill>
          </a:ln>
        </c:spPr>
        <c:txPr>
          <a:bodyPr/>
          <a:lstStyle/>
          <a:p>
            <a:pPr>
              <a:defRPr sz="900"/>
            </a:pPr>
            <a:endParaRPr lang="es-CO"/>
          </a:p>
        </c:txPr>
        <c:crossAx val="542388224"/>
        <c:crosses val="autoZero"/>
        <c:crossBetween val="between"/>
      </c:valAx>
    </c:plotArea>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99945403588805"/>
          <c:y val="8.3503608440697485E-2"/>
          <c:w val="0.79933720663557828"/>
          <c:h val="0.75121159487417011"/>
        </c:manualLayout>
      </c:layout>
      <c:barChart>
        <c:barDir val="bar"/>
        <c:grouping val="clustered"/>
        <c:varyColors val="0"/>
        <c:ser>
          <c:idx val="0"/>
          <c:order val="0"/>
          <c:tx>
            <c:strRef>
              <c:f>'Tabla dinamica final'!$BU$25</c:f>
              <c:strCache>
                <c:ptCount val="1"/>
                <c:pt idx="0">
                  <c:v>Hombres</c:v>
                </c:pt>
              </c:strCache>
            </c:strRef>
          </c:tx>
          <c:spPr>
            <a:solidFill>
              <a:schemeClr val="accent1">
                <a:lumMod val="40000"/>
                <a:lumOff val="60000"/>
              </a:schemeClr>
            </a:solidFill>
            <a:ln>
              <a:solidFill>
                <a:schemeClr val="tx1"/>
              </a:solidFill>
            </a:ln>
          </c:spPr>
          <c:invertIfNegative val="0"/>
          <c:cat>
            <c:strRef>
              <c:f>'Tabla dinamica final'!$BT$26:$BT$42</c:f>
              <c:strCache>
                <c:ptCount val="17"/>
                <c:pt idx="0">
                  <c:v>0-4</c:v>
                </c:pt>
                <c:pt idx="1">
                  <c:v>5-9</c:v>
                </c:pt>
                <c:pt idx="2">
                  <c:v>10-14</c:v>
                </c:pt>
                <c:pt idx="3">
                  <c:v>15-19</c:v>
                </c:pt>
                <c:pt idx="4">
                  <c:v>20-24</c:v>
                </c:pt>
                <c:pt idx="5">
                  <c:v>25-29</c:v>
                </c:pt>
                <c:pt idx="6">
                  <c:v>30-34</c:v>
                </c:pt>
                <c:pt idx="7">
                  <c:v>35-39</c:v>
                </c:pt>
                <c:pt idx="8">
                  <c:v>40-44</c:v>
                </c:pt>
                <c:pt idx="9">
                  <c:v>45-49</c:v>
                </c:pt>
                <c:pt idx="10">
                  <c:v>50-54</c:v>
                </c:pt>
                <c:pt idx="11">
                  <c:v>55-59</c:v>
                </c:pt>
                <c:pt idx="12">
                  <c:v>60-64</c:v>
                </c:pt>
                <c:pt idx="13">
                  <c:v>65-69</c:v>
                </c:pt>
                <c:pt idx="14">
                  <c:v>70-74</c:v>
                </c:pt>
                <c:pt idx="15">
                  <c:v>75-79</c:v>
                </c:pt>
                <c:pt idx="16">
                  <c:v>80 Y MÁS</c:v>
                </c:pt>
              </c:strCache>
            </c:strRef>
          </c:cat>
          <c:val>
            <c:numRef>
              <c:f>'Tabla dinamica final'!$BU$26:$BU$42</c:f>
              <c:numCache>
                <c:formatCode>_(* #.##0_);_(* \(#.##0\);_(* "-"??_);_(@_)</c:formatCode>
                <c:ptCount val="17"/>
                <c:pt idx="0">
                  <c:v>-416</c:v>
                </c:pt>
                <c:pt idx="1">
                  <c:v>-717</c:v>
                </c:pt>
                <c:pt idx="2">
                  <c:v>-907</c:v>
                </c:pt>
                <c:pt idx="3">
                  <c:v>-597</c:v>
                </c:pt>
                <c:pt idx="4">
                  <c:v>-408</c:v>
                </c:pt>
                <c:pt idx="5">
                  <c:v>-318</c:v>
                </c:pt>
                <c:pt idx="6">
                  <c:v>-258</c:v>
                </c:pt>
                <c:pt idx="7">
                  <c:v>-196</c:v>
                </c:pt>
                <c:pt idx="8">
                  <c:v>-139</c:v>
                </c:pt>
                <c:pt idx="9">
                  <c:v>-116</c:v>
                </c:pt>
                <c:pt idx="10">
                  <c:v>-102</c:v>
                </c:pt>
                <c:pt idx="11">
                  <c:v>-92</c:v>
                </c:pt>
                <c:pt idx="12">
                  <c:v>-110</c:v>
                </c:pt>
                <c:pt idx="13">
                  <c:v>-66</c:v>
                </c:pt>
                <c:pt idx="14">
                  <c:v>-56</c:v>
                </c:pt>
                <c:pt idx="15">
                  <c:v>-35</c:v>
                </c:pt>
                <c:pt idx="16">
                  <c:v>-36</c:v>
                </c:pt>
              </c:numCache>
            </c:numRef>
          </c:val>
          <c:extLst>
            <c:ext xmlns:c16="http://schemas.microsoft.com/office/drawing/2014/chart" uri="{C3380CC4-5D6E-409C-BE32-E72D297353CC}">
              <c16:uniqueId val="{00000000-77E4-438E-968B-6FDE3C0BEB2D}"/>
            </c:ext>
          </c:extLst>
        </c:ser>
        <c:ser>
          <c:idx val="1"/>
          <c:order val="1"/>
          <c:tx>
            <c:strRef>
              <c:f>'Tabla dinamica final'!$BV$25</c:f>
              <c:strCache>
                <c:ptCount val="1"/>
                <c:pt idx="0">
                  <c:v>Mujeres</c:v>
                </c:pt>
              </c:strCache>
            </c:strRef>
          </c:tx>
          <c:spPr>
            <a:solidFill>
              <a:srgbClr val="FD6FE2"/>
            </a:solidFill>
            <a:ln>
              <a:solidFill>
                <a:schemeClr val="tx1"/>
              </a:solidFill>
            </a:ln>
          </c:spPr>
          <c:invertIfNegative val="0"/>
          <c:cat>
            <c:strRef>
              <c:f>'Tabla dinamica final'!$BT$26:$BT$42</c:f>
              <c:strCache>
                <c:ptCount val="17"/>
                <c:pt idx="0">
                  <c:v>0-4</c:v>
                </c:pt>
                <c:pt idx="1">
                  <c:v>5-9</c:v>
                </c:pt>
                <c:pt idx="2">
                  <c:v>10-14</c:v>
                </c:pt>
                <c:pt idx="3">
                  <c:v>15-19</c:v>
                </c:pt>
                <c:pt idx="4">
                  <c:v>20-24</c:v>
                </c:pt>
                <c:pt idx="5">
                  <c:v>25-29</c:v>
                </c:pt>
                <c:pt idx="6">
                  <c:v>30-34</c:v>
                </c:pt>
                <c:pt idx="7">
                  <c:v>35-39</c:v>
                </c:pt>
                <c:pt idx="8">
                  <c:v>40-44</c:v>
                </c:pt>
                <c:pt idx="9">
                  <c:v>45-49</c:v>
                </c:pt>
                <c:pt idx="10">
                  <c:v>50-54</c:v>
                </c:pt>
                <c:pt idx="11">
                  <c:v>55-59</c:v>
                </c:pt>
                <c:pt idx="12">
                  <c:v>60-64</c:v>
                </c:pt>
                <c:pt idx="13">
                  <c:v>65-69</c:v>
                </c:pt>
                <c:pt idx="14">
                  <c:v>70-74</c:v>
                </c:pt>
                <c:pt idx="15">
                  <c:v>75-79</c:v>
                </c:pt>
                <c:pt idx="16">
                  <c:v>80 Y MÁS</c:v>
                </c:pt>
              </c:strCache>
            </c:strRef>
          </c:cat>
          <c:val>
            <c:numRef>
              <c:f>'Tabla dinamica final'!$BV$26:$BV$42</c:f>
              <c:numCache>
                <c:formatCode>#,##0</c:formatCode>
                <c:ptCount val="17"/>
                <c:pt idx="0">
                  <c:v>349</c:v>
                </c:pt>
                <c:pt idx="1">
                  <c:v>676</c:v>
                </c:pt>
                <c:pt idx="2">
                  <c:v>681</c:v>
                </c:pt>
                <c:pt idx="3">
                  <c:v>518</c:v>
                </c:pt>
                <c:pt idx="4">
                  <c:v>424</c:v>
                </c:pt>
                <c:pt idx="5">
                  <c:v>352</c:v>
                </c:pt>
                <c:pt idx="6">
                  <c:v>302</c:v>
                </c:pt>
                <c:pt idx="7">
                  <c:v>238</c:v>
                </c:pt>
                <c:pt idx="8">
                  <c:v>185</c:v>
                </c:pt>
                <c:pt idx="9">
                  <c:v>141</c:v>
                </c:pt>
                <c:pt idx="10">
                  <c:v>134</c:v>
                </c:pt>
                <c:pt idx="11">
                  <c:v>134</c:v>
                </c:pt>
                <c:pt idx="12">
                  <c:v>116</c:v>
                </c:pt>
                <c:pt idx="13">
                  <c:v>102</c:v>
                </c:pt>
                <c:pt idx="14">
                  <c:v>51</c:v>
                </c:pt>
                <c:pt idx="15">
                  <c:v>33</c:v>
                </c:pt>
                <c:pt idx="16">
                  <c:v>66</c:v>
                </c:pt>
              </c:numCache>
            </c:numRef>
          </c:val>
          <c:extLst>
            <c:ext xmlns:c16="http://schemas.microsoft.com/office/drawing/2014/chart" uri="{C3380CC4-5D6E-409C-BE32-E72D297353CC}">
              <c16:uniqueId val="{00000001-77E4-438E-968B-6FDE3C0BEB2D}"/>
            </c:ext>
          </c:extLst>
        </c:ser>
        <c:dLbls>
          <c:showLegendKey val="0"/>
          <c:showVal val="0"/>
          <c:showCatName val="0"/>
          <c:showSerName val="0"/>
          <c:showPercent val="0"/>
          <c:showBubbleSize val="0"/>
        </c:dLbls>
        <c:gapWidth val="0"/>
        <c:overlap val="100"/>
        <c:axId val="541476864"/>
        <c:axId val="56065344"/>
      </c:barChart>
      <c:catAx>
        <c:axId val="541476864"/>
        <c:scaling>
          <c:orientation val="minMax"/>
        </c:scaling>
        <c:delete val="0"/>
        <c:axPos val="l"/>
        <c:title>
          <c:tx>
            <c:rich>
              <a:bodyPr rot="-5400000" vert="horz"/>
              <a:lstStyle/>
              <a:p>
                <a:pPr>
                  <a:defRPr sz="900" b="0"/>
                </a:pPr>
                <a:r>
                  <a:rPr lang="en-US" sz="900" b="0"/>
                  <a:t>Grupos de edad</a:t>
                </a:r>
              </a:p>
            </c:rich>
          </c:tx>
          <c:overlay val="0"/>
        </c:title>
        <c:numFmt formatCode="General" sourceLinked="0"/>
        <c:majorTickMark val="out"/>
        <c:minorTickMark val="none"/>
        <c:tickLblPos val="low"/>
        <c:spPr>
          <a:ln>
            <a:solidFill>
              <a:schemeClr val="tx1"/>
            </a:solidFill>
          </a:ln>
        </c:spPr>
        <c:txPr>
          <a:bodyPr/>
          <a:lstStyle/>
          <a:p>
            <a:pPr>
              <a:defRPr sz="700"/>
            </a:pPr>
            <a:endParaRPr lang="es-CO"/>
          </a:p>
        </c:txPr>
        <c:crossAx val="56065344"/>
        <c:crosses val="autoZero"/>
        <c:auto val="1"/>
        <c:lblAlgn val="ctr"/>
        <c:lblOffset val="100"/>
        <c:tickMarkSkip val="1000"/>
        <c:noMultiLvlLbl val="0"/>
      </c:catAx>
      <c:valAx>
        <c:axId val="56065344"/>
        <c:scaling>
          <c:orientation val="minMax"/>
        </c:scaling>
        <c:delete val="0"/>
        <c:axPos val="b"/>
        <c:title>
          <c:tx>
            <c:rich>
              <a:bodyPr/>
              <a:lstStyle/>
              <a:p>
                <a:pPr>
                  <a:defRPr sz="900" b="0"/>
                </a:pPr>
                <a:r>
                  <a:rPr lang="en-US" sz="900" b="0"/>
                  <a:t>Número de casos</a:t>
                </a:r>
                <a:r>
                  <a:rPr lang="en-US" sz="900" b="0" baseline="0"/>
                  <a:t> de dengue</a:t>
                </a:r>
                <a:endParaRPr lang="en-US" sz="900" b="0"/>
              </a:p>
            </c:rich>
          </c:tx>
          <c:layout>
            <c:manualLayout>
              <c:xMode val="edge"/>
              <c:yMode val="edge"/>
              <c:x val="0.31438000906820956"/>
              <c:y val="0.91955452552241768"/>
            </c:manualLayout>
          </c:layout>
          <c:overlay val="0"/>
        </c:title>
        <c:numFmt formatCode="0;0" sourceLinked="0"/>
        <c:majorTickMark val="out"/>
        <c:minorTickMark val="none"/>
        <c:tickLblPos val="nextTo"/>
        <c:spPr>
          <a:ln>
            <a:solidFill>
              <a:schemeClr val="tx1"/>
            </a:solidFill>
          </a:ln>
        </c:spPr>
        <c:txPr>
          <a:bodyPr/>
          <a:lstStyle/>
          <a:p>
            <a:pPr>
              <a:defRPr sz="800"/>
            </a:pPr>
            <a:endParaRPr lang="es-CO"/>
          </a:p>
        </c:txPr>
        <c:crossAx val="541476864"/>
        <c:crosses val="autoZero"/>
        <c:crossBetween val="between"/>
      </c:valAx>
    </c:plotArea>
    <c:legend>
      <c:legendPos val="r"/>
      <c:legendEntry>
        <c:idx val="0"/>
        <c:delete val="1"/>
      </c:legendEntry>
      <c:legendEntry>
        <c:idx val="1"/>
        <c:delete val="1"/>
      </c:legendEntry>
      <c:layout>
        <c:manualLayout>
          <c:xMode val="edge"/>
          <c:yMode val="edge"/>
          <c:x val="0.72239767326381499"/>
          <c:y val="0.34196748887052103"/>
          <c:w val="0.23354629977878344"/>
          <c:h val="0.26241741876946545"/>
        </c:manualLayout>
      </c:layout>
      <c:overlay val="0"/>
      <c:spPr>
        <a:ln>
          <a:noFill/>
        </a:ln>
      </c:spPr>
      <c:txPr>
        <a:bodyPr/>
        <a:lstStyle/>
        <a:p>
          <a:pPr>
            <a:defRPr sz="800"/>
          </a:pPr>
          <a:endParaRPr lang="es-CO"/>
        </a:p>
      </c:txPr>
    </c:legend>
    <c:plotVisOnly val="1"/>
    <c:dispBlanksAs val="gap"/>
    <c:showDLblsOverMax val="0"/>
  </c:chart>
  <c:spPr>
    <a:ln>
      <a:noFill/>
    </a:ln>
  </c:sp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22603481904212"/>
          <c:y val="0.22811663681156058"/>
          <c:w val="0.56941125478581234"/>
          <c:h val="0.68324806371380342"/>
        </c:manualLayout>
      </c:layout>
      <c:radarChart>
        <c:radarStyle val="marker"/>
        <c:varyColors val="0"/>
        <c:ser>
          <c:idx val="0"/>
          <c:order val="0"/>
          <c:tx>
            <c:strRef>
              <c:f>'Tabla dinamica final'!$H$14</c:f>
              <c:strCache>
                <c:ptCount val="1"/>
                <c:pt idx="0">
                  <c:v>Dengue sin signos de alarma</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final'!$N$15:$N$21</c:f>
              <c:numCache>
                <c:formatCode>0.00</c:formatCode>
                <c:ptCount val="7"/>
                <c:pt idx="0">
                  <c:v>405.11824876482922</c:v>
                </c:pt>
                <c:pt idx="1">
                  <c:v>625.72719611201342</c:v>
                </c:pt>
                <c:pt idx="2">
                  <c:v>700.60053581772445</c:v>
                </c:pt>
                <c:pt idx="3">
                  <c:v>418.48848799799185</c:v>
                </c:pt>
                <c:pt idx="4">
                  <c:v>902.49114823848072</c:v>
                </c:pt>
                <c:pt idx="5">
                  <c:v>470.63242100732629</c:v>
                </c:pt>
                <c:pt idx="6">
                  <c:v>133.70239233162678</c:v>
                </c:pt>
              </c:numCache>
            </c:numRef>
          </c:val>
          <c:extLst>
            <c:ext xmlns:c16="http://schemas.microsoft.com/office/drawing/2014/chart" uri="{C3380CC4-5D6E-409C-BE32-E72D297353CC}">
              <c16:uniqueId val="{00000000-E5A9-4D88-9047-9D0BBE7735DD}"/>
            </c:ext>
          </c:extLst>
        </c:ser>
        <c:ser>
          <c:idx val="1"/>
          <c:order val="1"/>
          <c:tx>
            <c:strRef>
              <c:f>'Tabla dinamica final'!$I$14</c:f>
              <c:strCache>
                <c:ptCount val="1"/>
                <c:pt idx="0">
                  <c:v>Dengue con signos de alarma</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final'!$O$15:$O$21</c:f>
              <c:numCache>
                <c:formatCode>0.00</c:formatCode>
                <c:ptCount val="7"/>
                <c:pt idx="0">
                  <c:v>151.08370333473826</c:v>
                </c:pt>
                <c:pt idx="1">
                  <c:v>332.91895690575069</c:v>
                </c:pt>
                <c:pt idx="2">
                  <c:v>512.08016263013064</c:v>
                </c:pt>
                <c:pt idx="3">
                  <c:v>379.71479422182011</c:v>
                </c:pt>
                <c:pt idx="4">
                  <c:v>675.19708127471529</c:v>
                </c:pt>
                <c:pt idx="5">
                  <c:v>276.76395212646742</c:v>
                </c:pt>
                <c:pt idx="6">
                  <c:v>124.3432248684129</c:v>
                </c:pt>
              </c:numCache>
            </c:numRef>
          </c:val>
          <c:extLst>
            <c:ext xmlns:c16="http://schemas.microsoft.com/office/drawing/2014/chart" uri="{C3380CC4-5D6E-409C-BE32-E72D297353CC}">
              <c16:uniqueId val="{00000001-E5A9-4D88-9047-9D0BBE7735DD}"/>
            </c:ext>
          </c:extLst>
        </c:ser>
        <c:dLbls>
          <c:showLegendKey val="0"/>
          <c:showVal val="0"/>
          <c:showCatName val="0"/>
          <c:showSerName val="0"/>
          <c:showPercent val="0"/>
          <c:showBubbleSize val="0"/>
        </c:dLbls>
        <c:axId val="542389248"/>
        <c:axId val="501874688"/>
      </c:radarChart>
      <c:catAx>
        <c:axId val="542389248"/>
        <c:scaling>
          <c:orientation val="minMax"/>
        </c:scaling>
        <c:delete val="0"/>
        <c:axPos val="b"/>
        <c:majorGridlines/>
        <c:numFmt formatCode="General" sourceLinked="0"/>
        <c:majorTickMark val="out"/>
        <c:minorTickMark val="none"/>
        <c:tickLblPos val="nextTo"/>
        <c:txPr>
          <a:bodyPr/>
          <a:lstStyle/>
          <a:p>
            <a:pPr>
              <a:defRPr sz="800" b="1"/>
            </a:pPr>
            <a:endParaRPr lang="es-CO"/>
          </a:p>
        </c:txPr>
        <c:crossAx val="501874688"/>
        <c:crosses val="autoZero"/>
        <c:auto val="1"/>
        <c:lblAlgn val="ctr"/>
        <c:lblOffset val="100"/>
        <c:noMultiLvlLbl val="0"/>
      </c:catAx>
      <c:valAx>
        <c:axId val="501874688"/>
        <c:scaling>
          <c:orientation val="minMax"/>
        </c:scaling>
        <c:delete val="0"/>
        <c:axPos val="l"/>
        <c:majorGridlines>
          <c:spPr>
            <a:ln>
              <a:solidFill>
                <a:schemeClr val="tx1">
                  <a:alpha val="10000"/>
                </a:schemeClr>
              </a:solidFill>
            </a:ln>
          </c:spPr>
        </c:majorGridlines>
        <c:numFmt formatCode="0" sourceLinked="0"/>
        <c:majorTickMark val="cross"/>
        <c:minorTickMark val="none"/>
        <c:tickLblPos val="nextTo"/>
        <c:txPr>
          <a:bodyPr/>
          <a:lstStyle/>
          <a:p>
            <a:pPr>
              <a:defRPr sz="800"/>
            </a:pPr>
            <a:endParaRPr lang="es-CO"/>
          </a:p>
        </c:txPr>
        <c:crossAx val="542389248"/>
        <c:crosses val="autoZero"/>
        <c:crossBetween val="between"/>
      </c:valAx>
    </c:plotArea>
    <c:legend>
      <c:legendPos val="r"/>
      <c:layout>
        <c:manualLayout>
          <c:xMode val="edge"/>
          <c:yMode val="edge"/>
          <c:x val="0.12597449974716465"/>
          <c:y val="1.7681095918656653E-3"/>
          <c:w val="0.6498663584483132"/>
          <c:h val="9.3360309128025648E-2"/>
        </c:manualLayout>
      </c:layout>
      <c:overlay val="0"/>
      <c:txPr>
        <a:bodyPr/>
        <a:lstStyle/>
        <a:p>
          <a:pPr>
            <a:defRPr sz="800"/>
          </a:pPr>
          <a:endParaRPr lang="es-CO"/>
        </a:p>
      </c:txPr>
    </c:legend>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401746016472206"/>
          <c:y val="0.19822415815044397"/>
          <c:w val="0.61780781704073884"/>
          <c:h val="0.74281265169186095"/>
        </c:manualLayout>
      </c:layout>
      <c:radarChart>
        <c:radarStyle val="marker"/>
        <c:varyColors val="0"/>
        <c:ser>
          <c:idx val="0"/>
          <c:order val="0"/>
          <c:tx>
            <c:strRef>
              <c:f>'Tabla dinamica final'!$H$14</c:f>
              <c:strCache>
                <c:ptCount val="1"/>
                <c:pt idx="0">
                  <c:v>Dengue sin signos de alarma</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final'!$N$29:$N$35</c:f>
              <c:numCache>
                <c:formatCode>0.00</c:formatCode>
                <c:ptCount val="7"/>
                <c:pt idx="0">
                  <c:v>328.39958327784944</c:v>
                </c:pt>
                <c:pt idx="1">
                  <c:v>608.09583852720425</c:v>
                </c:pt>
                <c:pt idx="2">
                  <c:v>560.78403415666662</c:v>
                </c:pt>
                <c:pt idx="3">
                  <c:v>382.66900593817201</c:v>
                </c:pt>
                <c:pt idx="4">
                  <c:v>1135.4833048929031</c:v>
                </c:pt>
                <c:pt idx="5">
                  <c:v>630.36021705451606</c:v>
                </c:pt>
                <c:pt idx="6">
                  <c:v>178.11502821849459</c:v>
                </c:pt>
              </c:numCache>
            </c:numRef>
          </c:val>
          <c:extLst>
            <c:ext xmlns:c16="http://schemas.microsoft.com/office/drawing/2014/chart" uri="{C3380CC4-5D6E-409C-BE32-E72D297353CC}">
              <c16:uniqueId val="{00000000-3977-41CA-87DD-128D37EA144C}"/>
            </c:ext>
          </c:extLst>
        </c:ser>
        <c:ser>
          <c:idx val="1"/>
          <c:order val="1"/>
          <c:tx>
            <c:strRef>
              <c:f>'Tabla dinamica final'!$I$14</c:f>
              <c:strCache>
                <c:ptCount val="1"/>
                <c:pt idx="0">
                  <c:v>Dengue con signos de alarma</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final'!$O$29:$O$35</c:f>
              <c:numCache>
                <c:formatCode>0.00</c:formatCode>
                <c:ptCount val="7"/>
                <c:pt idx="0">
                  <c:v>157.24217334913976</c:v>
                </c:pt>
                <c:pt idx="1">
                  <c:v>332.57415425172042</c:v>
                </c:pt>
                <c:pt idx="2">
                  <c:v>386.84357691204298</c:v>
                </c:pt>
                <c:pt idx="3">
                  <c:v>338.14024888354834</c:v>
                </c:pt>
                <c:pt idx="4">
                  <c:v>695.76182897849458</c:v>
                </c:pt>
                <c:pt idx="5">
                  <c:v>357.62158009494618</c:v>
                </c:pt>
                <c:pt idx="6">
                  <c:v>172.54893358666664</c:v>
                </c:pt>
              </c:numCache>
            </c:numRef>
          </c:val>
          <c:extLst>
            <c:ext xmlns:c16="http://schemas.microsoft.com/office/drawing/2014/chart" uri="{C3380CC4-5D6E-409C-BE32-E72D297353CC}">
              <c16:uniqueId val="{00000001-3977-41CA-87DD-128D37EA144C}"/>
            </c:ext>
          </c:extLst>
        </c:ser>
        <c:dLbls>
          <c:showLegendKey val="0"/>
          <c:showVal val="0"/>
          <c:showCatName val="0"/>
          <c:showSerName val="0"/>
          <c:showPercent val="0"/>
          <c:showBubbleSize val="0"/>
        </c:dLbls>
        <c:axId val="542389760"/>
        <c:axId val="501878720"/>
      </c:radarChart>
      <c:catAx>
        <c:axId val="542389760"/>
        <c:scaling>
          <c:orientation val="minMax"/>
        </c:scaling>
        <c:delete val="0"/>
        <c:axPos val="b"/>
        <c:majorGridlines/>
        <c:numFmt formatCode="General" sourceLinked="0"/>
        <c:majorTickMark val="out"/>
        <c:minorTickMark val="none"/>
        <c:tickLblPos val="nextTo"/>
        <c:txPr>
          <a:bodyPr/>
          <a:lstStyle/>
          <a:p>
            <a:pPr>
              <a:defRPr sz="800" b="1"/>
            </a:pPr>
            <a:endParaRPr lang="es-CO"/>
          </a:p>
        </c:txPr>
        <c:crossAx val="501878720"/>
        <c:crosses val="autoZero"/>
        <c:auto val="1"/>
        <c:lblAlgn val="ctr"/>
        <c:lblOffset val="100"/>
        <c:noMultiLvlLbl val="0"/>
      </c:catAx>
      <c:valAx>
        <c:axId val="501878720"/>
        <c:scaling>
          <c:orientation val="minMax"/>
        </c:scaling>
        <c:delete val="0"/>
        <c:axPos val="l"/>
        <c:majorGridlines>
          <c:spPr>
            <a:ln>
              <a:solidFill>
                <a:schemeClr val="tx1">
                  <a:alpha val="10000"/>
                </a:schemeClr>
              </a:solidFill>
            </a:ln>
          </c:spPr>
        </c:majorGridlines>
        <c:numFmt formatCode="0" sourceLinked="0"/>
        <c:majorTickMark val="cross"/>
        <c:minorTickMark val="none"/>
        <c:tickLblPos val="nextTo"/>
        <c:txPr>
          <a:bodyPr/>
          <a:lstStyle/>
          <a:p>
            <a:pPr>
              <a:defRPr sz="800"/>
            </a:pPr>
            <a:endParaRPr lang="es-CO"/>
          </a:p>
        </c:txPr>
        <c:crossAx val="542389760"/>
        <c:crosses val="autoZero"/>
        <c:crossBetween val="between"/>
      </c:valAx>
    </c:plotArea>
    <c:legend>
      <c:legendPos val="r"/>
      <c:layout>
        <c:manualLayout>
          <c:xMode val="edge"/>
          <c:yMode val="edge"/>
          <c:x val="0.12965792847870211"/>
          <c:y val="1.8134660250801987E-2"/>
          <c:w val="0.63705564269721093"/>
          <c:h val="9.3360309128025648E-2"/>
        </c:manualLayout>
      </c:layout>
      <c:overlay val="0"/>
      <c:txPr>
        <a:bodyPr/>
        <a:lstStyle/>
        <a:p>
          <a:pPr>
            <a:defRPr sz="800"/>
          </a:pPr>
          <a:endParaRPr lang="es-CO"/>
        </a:p>
      </c:txPr>
    </c:legend>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22594050743657"/>
          <c:y val="0.19854841061533976"/>
          <c:w val="0.51318832020997374"/>
          <c:h val="0.75052648593880078"/>
        </c:manualLayout>
      </c:layout>
      <c:radarChart>
        <c:radarStyle val="marker"/>
        <c:varyColors val="0"/>
        <c:ser>
          <c:idx val="0"/>
          <c:order val="0"/>
          <c:tx>
            <c:strRef>
              <c:f>'Tabla dinamica final'!$P$14</c:f>
              <c:strCache>
                <c:ptCount val="1"/>
                <c:pt idx="0">
                  <c:v>Dengue grave hombres</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final'!$P$15:$P$21</c:f>
              <c:numCache>
                <c:formatCode>0.00</c:formatCode>
                <c:ptCount val="7"/>
                <c:pt idx="0">
                  <c:v>1.337023923316268</c:v>
                </c:pt>
                <c:pt idx="1">
                  <c:v>5.3480956932650718</c:v>
                </c:pt>
                <c:pt idx="2">
                  <c:v>24.06643061969282</c:v>
                </c:pt>
                <c:pt idx="3">
                  <c:v>17.381311003111481</c:v>
                </c:pt>
                <c:pt idx="4">
                  <c:v>8.0221435398976073</c:v>
                </c:pt>
                <c:pt idx="5">
                  <c:v>8.0221435398976073</c:v>
                </c:pt>
                <c:pt idx="6">
                  <c:v>2.6740478466325359</c:v>
                </c:pt>
              </c:numCache>
            </c:numRef>
          </c:val>
          <c:extLst>
            <c:ext xmlns:c16="http://schemas.microsoft.com/office/drawing/2014/chart" uri="{C3380CC4-5D6E-409C-BE32-E72D297353CC}">
              <c16:uniqueId val="{00000000-2D80-413F-B384-E829AAEB91FD}"/>
            </c:ext>
          </c:extLst>
        </c:ser>
        <c:ser>
          <c:idx val="1"/>
          <c:order val="1"/>
          <c:tx>
            <c:strRef>
              <c:f>'Tabla dinamica final'!$P$28</c:f>
              <c:strCache>
                <c:ptCount val="1"/>
                <c:pt idx="0">
                  <c:v>Dengue grave mujeres</c:v>
                </c:pt>
              </c:strCache>
            </c:strRef>
          </c:tx>
          <c:spPr>
            <a:ln>
              <a:prstDash val="sysDot"/>
            </a:ln>
          </c:spPr>
          <c:marker>
            <c:symbol val="circle"/>
            <c:size val="3"/>
          </c:marker>
          <c:cat>
            <c:strRef>
              <c:f>'Tabla dinamica final'!$G$15:$G$21</c:f>
              <c:strCache>
                <c:ptCount val="7"/>
                <c:pt idx="0">
                  <c:v>0-4 años</c:v>
                </c:pt>
                <c:pt idx="1">
                  <c:v>5-9 años</c:v>
                </c:pt>
                <c:pt idx="2">
                  <c:v>10-14 años</c:v>
                </c:pt>
                <c:pt idx="3">
                  <c:v>15-19 años</c:v>
                </c:pt>
                <c:pt idx="4">
                  <c:v>20-39 años</c:v>
                </c:pt>
                <c:pt idx="5">
                  <c:v>40-64 años</c:v>
                </c:pt>
                <c:pt idx="6">
                  <c:v>&gt; 65 años</c:v>
                </c:pt>
              </c:strCache>
            </c:strRef>
          </c:cat>
          <c:val>
            <c:numRef>
              <c:f>'Tabla dinamica final'!$P$29:$P$35</c:f>
              <c:numCache>
                <c:formatCode>0.00</c:formatCode>
                <c:ptCount val="7"/>
                <c:pt idx="0">
                  <c:v>8.0221435398976073</c:v>
                </c:pt>
                <c:pt idx="1">
                  <c:v>6.68511961658134</c:v>
                </c:pt>
                <c:pt idx="2">
                  <c:v>14.707263156478946</c:v>
                </c:pt>
                <c:pt idx="3">
                  <c:v>6.68511961658134</c:v>
                </c:pt>
                <c:pt idx="4">
                  <c:v>5.3480956932650718</c:v>
                </c:pt>
                <c:pt idx="5">
                  <c:v>2.6740478466325359</c:v>
                </c:pt>
                <c:pt idx="6">
                  <c:v>5.3480956932650718</c:v>
                </c:pt>
              </c:numCache>
            </c:numRef>
          </c:val>
          <c:extLst>
            <c:ext xmlns:c16="http://schemas.microsoft.com/office/drawing/2014/chart" uri="{C3380CC4-5D6E-409C-BE32-E72D297353CC}">
              <c16:uniqueId val="{00000001-2D80-413F-B384-E829AAEB91FD}"/>
            </c:ext>
          </c:extLst>
        </c:ser>
        <c:dLbls>
          <c:showLegendKey val="0"/>
          <c:showVal val="0"/>
          <c:showCatName val="0"/>
          <c:showSerName val="0"/>
          <c:showPercent val="0"/>
          <c:showBubbleSize val="0"/>
        </c:dLbls>
        <c:axId val="542390784"/>
        <c:axId val="501880448"/>
      </c:radarChart>
      <c:catAx>
        <c:axId val="542390784"/>
        <c:scaling>
          <c:orientation val="minMax"/>
        </c:scaling>
        <c:delete val="0"/>
        <c:axPos val="b"/>
        <c:majorGridlines/>
        <c:numFmt formatCode="General" sourceLinked="0"/>
        <c:majorTickMark val="out"/>
        <c:minorTickMark val="none"/>
        <c:tickLblPos val="nextTo"/>
        <c:txPr>
          <a:bodyPr/>
          <a:lstStyle/>
          <a:p>
            <a:pPr>
              <a:defRPr sz="800" b="1"/>
            </a:pPr>
            <a:endParaRPr lang="es-CO"/>
          </a:p>
        </c:txPr>
        <c:crossAx val="501880448"/>
        <c:crosses val="autoZero"/>
        <c:auto val="1"/>
        <c:lblAlgn val="ctr"/>
        <c:lblOffset val="100"/>
        <c:noMultiLvlLbl val="0"/>
      </c:catAx>
      <c:valAx>
        <c:axId val="501880448"/>
        <c:scaling>
          <c:orientation val="minMax"/>
        </c:scaling>
        <c:delete val="0"/>
        <c:axPos val="l"/>
        <c:majorGridlines>
          <c:spPr>
            <a:ln>
              <a:solidFill>
                <a:schemeClr val="tx1">
                  <a:alpha val="17000"/>
                </a:schemeClr>
              </a:solidFill>
            </a:ln>
          </c:spPr>
        </c:majorGridlines>
        <c:numFmt formatCode="0" sourceLinked="0"/>
        <c:majorTickMark val="cross"/>
        <c:minorTickMark val="none"/>
        <c:tickLblPos val="nextTo"/>
        <c:txPr>
          <a:bodyPr/>
          <a:lstStyle/>
          <a:p>
            <a:pPr>
              <a:defRPr sz="800"/>
            </a:pPr>
            <a:endParaRPr lang="es-CO"/>
          </a:p>
        </c:txPr>
        <c:crossAx val="542390784"/>
        <c:crosses val="autoZero"/>
        <c:crossBetween val="between"/>
      </c:valAx>
    </c:plotArea>
    <c:legend>
      <c:legendPos val="r"/>
      <c:layout>
        <c:manualLayout>
          <c:xMode val="edge"/>
          <c:yMode val="edge"/>
          <c:x val="0.22230489938757661"/>
          <c:y val="1.8134660250801987E-2"/>
          <c:w val="0.54436176727909014"/>
          <c:h val="9.3360309128025648E-2"/>
        </c:manualLayout>
      </c:layout>
      <c:overlay val="0"/>
      <c:txPr>
        <a:bodyPr/>
        <a:lstStyle/>
        <a:p>
          <a:pPr>
            <a:defRPr sz="800"/>
          </a:pPr>
          <a:endParaRPr lang="es-CO"/>
        </a:p>
      </c:txPr>
    </c:legend>
    <c:plotVisOnly val="1"/>
    <c:dispBlanksAs val="gap"/>
    <c:showDLblsOverMax val="0"/>
  </c:chart>
  <c:spPr>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1"/>
          <c:order val="0"/>
          <c:tx>
            <c:strRef>
              <c:f>'Datos y graficos AVAD'!$B$61</c:f>
              <c:strCache>
                <c:ptCount val="1"/>
                <c:pt idx="0">
                  <c:v>APP</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c:spPr>
          <c:invertIfNegative val="0"/>
          <c:dLbls>
            <c:spPr>
              <a:noFill/>
              <a:ln>
                <a:noFill/>
              </a:ln>
              <a:effectLst/>
            </c:spPr>
            <c:txPr>
              <a:bodyPr/>
              <a:lstStyle/>
              <a:p>
                <a:pPr>
                  <a:defRPr sz="8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'Datos y graficos AVAD'!$A$62:$A$66</c:f>
              <c:numCache>
                <c:formatCode>General</c:formatCode>
                <c:ptCount val="5"/>
                <c:pt idx="0">
                  <c:v>2019</c:v>
                </c:pt>
                <c:pt idx="1">
                  <c:v>2020</c:v>
                </c:pt>
                <c:pt idx="2">
                  <c:v>2021</c:v>
                </c:pt>
                <c:pt idx="3">
                  <c:v>2022</c:v>
                </c:pt>
                <c:pt idx="4">
                  <c:v>2023</c:v>
                </c:pt>
              </c:numCache>
            </c:numRef>
          </c:cat>
          <c:val>
            <c:numRef>
              <c:f>'Datos y graficos AVAD'!$H$62:$H$66</c:f>
              <c:numCache>
                <c:formatCode>#,#00%</c:formatCode>
                <c:ptCount val="5"/>
                <c:pt idx="0">
                  <c:v>0.27171669048753372</c:v>
                </c:pt>
                <c:pt idx="1">
                  <c:v>0.17932312843817266</c:v>
                </c:pt>
                <c:pt idx="2">
                  <c:v>0.5327066800215734</c:v>
                </c:pt>
                <c:pt idx="3">
                  <c:v>0.33583426651735721</c:v>
                </c:pt>
                <c:pt idx="4">
                  <c:v>0.12572822785440421</c:v>
                </c:pt>
              </c:numCache>
            </c:numRef>
          </c:val>
          <c:extLst>
            <c:ext xmlns:c16="http://schemas.microsoft.com/office/drawing/2014/chart" uri="{C3380CC4-5D6E-409C-BE32-E72D297353CC}">
              <c16:uniqueId val="{00000000-4B6A-4513-8CFC-277741A1647C}"/>
            </c:ext>
          </c:extLst>
        </c:ser>
        <c:ser>
          <c:idx val="2"/>
          <c:order val="1"/>
          <c:tx>
            <c:strRef>
              <c:f>'Datos y graficos AVAD'!$D$61</c:f>
              <c:strCache>
                <c:ptCount val="1"/>
                <c:pt idx="0">
                  <c:v>AVD</c:v>
                </c:pt>
              </c:strCache>
            </c:strRef>
          </c:tx>
          <c:spPr>
            <a:solidFill>
              <a:schemeClr val="tx2"/>
            </a:solidFill>
            <a:ln w="6350" cap="flat" cmpd="sng" algn="ctr">
              <a:solidFill>
                <a:schemeClr val="accent3"/>
              </a:solidFill>
              <a:prstDash val="solid"/>
              <a:miter lim="800000"/>
            </a:ln>
            <a:effectLst/>
          </c:spPr>
          <c:invertIfNegative val="0"/>
          <c:dLbls>
            <c:spPr>
              <a:noFill/>
              <a:ln>
                <a:noFill/>
              </a:ln>
              <a:effectLst/>
            </c:spPr>
            <c:txPr>
              <a:bodyPr/>
              <a:lstStyle/>
              <a:p>
                <a:pPr>
                  <a:defRPr sz="8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'Datos y graficos AVAD'!$A$62:$A$66</c:f>
              <c:numCache>
                <c:formatCode>General</c:formatCode>
                <c:ptCount val="5"/>
                <c:pt idx="0">
                  <c:v>2019</c:v>
                </c:pt>
                <c:pt idx="1">
                  <c:v>2020</c:v>
                </c:pt>
                <c:pt idx="2">
                  <c:v>2021</c:v>
                </c:pt>
                <c:pt idx="3">
                  <c:v>2022</c:v>
                </c:pt>
                <c:pt idx="4">
                  <c:v>2023</c:v>
                </c:pt>
              </c:numCache>
            </c:numRef>
          </c:cat>
          <c:val>
            <c:numRef>
              <c:f>'Datos y graficos AVAD'!$I$62:$I$66</c:f>
              <c:numCache>
                <c:formatCode>#,#00%</c:formatCode>
                <c:ptCount val="5"/>
                <c:pt idx="0">
                  <c:v>0.72828330951246623</c:v>
                </c:pt>
                <c:pt idx="1">
                  <c:v>0.82067687156182723</c:v>
                </c:pt>
                <c:pt idx="2">
                  <c:v>0.46729331997842671</c:v>
                </c:pt>
                <c:pt idx="3">
                  <c:v>0.66416573348264285</c:v>
                </c:pt>
                <c:pt idx="4">
                  <c:v>0.87427177214559582</c:v>
                </c:pt>
              </c:numCache>
            </c:numRef>
          </c:val>
          <c:extLst>
            <c:ext xmlns:c16="http://schemas.microsoft.com/office/drawing/2014/chart" uri="{C3380CC4-5D6E-409C-BE32-E72D297353CC}">
              <c16:uniqueId val="{00000001-4B6A-4513-8CFC-277741A1647C}"/>
            </c:ext>
          </c:extLst>
        </c:ser>
        <c:dLbls>
          <c:showLegendKey val="0"/>
          <c:showVal val="0"/>
          <c:showCatName val="0"/>
          <c:showSerName val="0"/>
          <c:showPercent val="0"/>
          <c:showBubbleSize val="0"/>
        </c:dLbls>
        <c:gapWidth val="150"/>
        <c:overlap val="100"/>
        <c:axId val="544065536"/>
        <c:axId val="501881600"/>
      </c:barChart>
      <c:catAx>
        <c:axId val="544065536"/>
        <c:scaling>
          <c:orientation val="minMax"/>
        </c:scaling>
        <c:delete val="0"/>
        <c:axPos val="b"/>
        <c:title>
          <c:tx>
            <c:rich>
              <a:bodyPr/>
              <a:lstStyle/>
              <a:p>
                <a:pPr>
                  <a:defRPr b="0"/>
                </a:pPr>
                <a:r>
                  <a:rPr lang="en-US" b="0"/>
                  <a:t>Años</a:t>
                </a:r>
              </a:p>
            </c:rich>
          </c:tx>
          <c:layout>
            <c:manualLayout>
              <c:xMode val="edge"/>
              <c:yMode val="edge"/>
              <c:x val="0.46037156883623154"/>
              <c:y val="0.84076047105877127"/>
            </c:manualLayout>
          </c:layout>
          <c:overlay val="0"/>
        </c:title>
        <c:numFmt formatCode="General" sourceLinked="1"/>
        <c:majorTickMark val="cross"/>
        <c:minorTickMark val="out"/>
        <c:tickLblPos val="nextTo"/>
        <c:spPr>
          <a:ln>
            <a:solidFill>
              <a:schemeClr val="tx1"/>
            </a:solidFill>
          </a:ln>
        </c:spPr>
        <c:txPr>
          <a:bodyPr/>
          <a:lstStyle/>
          <a:p>
            <a:pPr>
              <a:defRPr sz="800"/>
            </a:pPr>
            <a:endParaRPr lang="es-CO"/>
          </a:p>
        </c:txPr>
        <c:crossAx val="501881600"/>
        <c:crosses val="autoZero"/>
        <c:auto val="1"/>
        <c:lblAlgn val="ctr"/>
        <c:lblOffset val="100"/>
        <c:noMultiLvlLbl val="0"/>
      </c:catAx>
      <c:valAx>
        <c:axId val="501881600"/>
        <c:scaling>
          <c:orientation val="minMax"/>
        </c:scaling>
        <c:delete val="0"/>
        <c:axPos val="l"/>
        <c:majorGridlines>
          <c:spPr>
            <a:ln>
              <a:solidFill>
                <a:schemeClr val="tx1">
                  <a:alpha val="7000"/>
                </a:schemeClr>
              </a:solidFill>
            </a:ln>
          </c:spPr>
        </c:majorGridlines>
        <c:title>
          <c:tx>
            <c:rich>
              <a:bodyPr rot="-5400000" vert="horz"/>
              <a:lstStyle/>
              <a:p>
                <a:pPr>
                  <a:defRPr b="0"/>
                </a:pPr>
                <a:r>
                  <a:rPr lang="en-US" b="0"/>
                  <a:t>Porcentaje</a:t>
                </a:r>
              </a:p>
            </c:rich>
          </c:tx>
          <c:layout>
            <c:manualLayout>
              <c:xMode val="edge"/>
              <c:yMode val="edge"/>
              <c:x val="1.3018260673243964E-2"/>
              <c:y val="0.1860209976669259"/>
            </c:manualLayout>
          </c:layout>
          <c:overlay val="0"/>
        </c:title>
        <c:numFmt formatCode="0%" sourceLinked="1"/>
        <c:majorTickMark val="cross"/>
        <c:minorTickMark val="in"/>
        <c:tickLblPos val="nextTo"/>
        <c:spPr>
          <a:ln>
            <a:solidFill>
              <a:schemeClr val="tx1"/>
            </a:solidFill>
          </a:ln>
        </c:spPr>
        <c:crossAx val="544065536"/>
        <c:crosses val="autoZero"/>
        <c:crossBetween val="between"/>
      </c:valAx>
    </c:plotArea>
    <c:legend>
      <c:legendPos val="r"/>
      <c:overlay val="0"/>
      <c:txPr>
        <a:bodyPr/>
        <a:lstStyle/>
        <a:p>
          <a:pPr>
            <a:defRPr sz="900"/>
          </a:pPr>
          <a:endParaRPr lang="es-CO"/>
        </a:p>
      </c:txPr>
    </c:legend>
    <c:plotVisOnly val="1"/>
    <c:dispBlanksAs val="gap"/>
    <c:showDLblsOverMax val="0"/>
  </c:chart>
  <c:spPr>
    <a:ln>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'Datos y graficos AVAD'!$F$61</c:f>
              <c:strCache>
                <c:ptCount val="1"/>
                <c:pt idx="0">
                  <c:v>AVAD</c:v>
                </c:pt>
              </c:strCache>
            </c:strRef>
          </c:tx>
          <c:spPr>
            <a:ln w="15875">
              <a:solidFill>
                <a:schemeClr val="tx1"/>
              </a:solidFill>
            </a:ln>
          </c:spPr>
          <c:marker>
            <c:symbol val="circle"/>
            <c:size val="4"/>
            <c:spPr>
              <a:noFill/>
              <a:ln>
                <a:solidFill>
                  <a:schemeClr val="tx1"/>
                </a:solidFill>
              </a:ln>
            </c:spPr>
          </c:marker>
          <c:dLbls>
            <c:dLbl>
              <c:idx val="0"/>
              <c:layout>
                <c:manualLayout>
                  <c:x val="-4.8134668444700095E-2"/>
                  <c:y val="-2.65486699235822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26A-47F9-AE62-B52AA5589D51}"/>
                </c:ext>
              </c:extLst>
            </c:dLbl>
            <c:dLbl>
              <c:idx val="1"/>
              <c:layout>
                <c:manualLayout>
                  <c:x val="-3.7023511353929735E-2"/>
                  <c:y val="-4.55120055832838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26A-47F9-AE62-B52AA5589D51}"/>
                </c:ext>
              </c:extLst>
            </c:dLbl>
            <c:dLbl>
              <c:idx val="2"/>
              <c:layout>
                <c:manualLayout>
                  <c:x val="-1.6666666666666666E-2"/>
                  <c:y val="-3.0341337055522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6A-47F9-AE62-B52AA5589D51}"/>
                </c:ext>
              </c:extLst>
            </c:dLbl>
            <c:dLbl>
              <c:idx val="3"/>
              <c:layout>
                <c:manualLayout>
                  <c:x val="-2.2972357373683243E-2"/>
                  <c:y val="-5.3097339847164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26A-47F9-AE62-B52AA5589D51}"/>
                </c:ext>
              </c:extLst>
            </c:dLbl>
            <c:dLbl>
              <c:idx val="4"/>
              <c:layout>
                <c:manualLayout>
                  <c:x val="-2.3722572989548017E-2"/>
                  <c:y val="-3.79266713194031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26A-47F9-AE62-B52AA5589D51}"/>
                </c:ext>
              </c:extLst>
            </c:dLbl>
            <c:numFmt formatCode="#,##0" sourceLinked="0"/>
            <c:spPr>
              <a:noFill/>
              <a:ln>
                <a:noFill/>
              </a:ln>
              <a:effectLst/>
            </c:spPr>
            <c:txPr>
              <a:bodyPr/>
              <a:lstStyle/>
              <a:p>
                <a:pPr>
                  <a:defRPr sz="7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'Datos y graficos AVAD'!$A$62:$A$66</c:f>
              <c:numCache>
                <c:formatCode>General</c:formatCode>
                <c:ptCount val="5"/>
                <c:pt idx="0">
                  <c:v>2019</c:v>
                </c:pt>
                <c:pt idx="1">
                  <c:v>2020</c:v>
                </c:pt>
                <c:pt idx="2">
                  <c:v>2021</c:v>
                </c:pt>
                <c:pt idx="3">
                  <c:v>2022</c:v>
                </c:pt>
                <c:pt idx="4">
                  <c:v>2023</c:v>
                </c:pt>
              </c:numCache>
            </c:numRef>
          </c:cat>
          <c:val>
            <c:numRef>
              <c:f>'Datos y graficos AVAD'!$F$62:$F$66</c:f>
              <c:numCache>
                <c:formatCode>General</c:formatCode>
                <c:ptCount val="5"/>
                <c:pt idx="0">
                  <c:v>62.97</c:v>
                </c:pt>
                <c:pt idx="1">
                  <c:v>334.48</c:v>
                </c:pt>
                <c:pt idx="2">
                  <c:v>259.58</c:v>
                </c:pt>
                <c:pt idx="3">
                  <c:v>89.3</c:v>
                </c:pt>
                <c:pt idx="4">
                  <c:v>200.83</c:v>
                </c:pt>
              </c:numCache>
            </c:numRef>
          </c:val>
          <c:smooth val="1"/>
          <c:extLst>
            <c:ext xmlns:c16="http://schemas.microsoft.com/office/drawing/2014/chart" uri="{C3380CC4-5D6E-409C-BE32-E72D297353CC}">
              <c16:uniqueId val="{00000005-F26A-47F9-AE62-B52AA5589D51}"/>
            </c:ext>
          </c:extLst>
        </c:ser>
        <c:ser>
          <c:idx val="1"/>
          <c:order val="1"/>
          <c:tx>
            <c:strRef>
              <c:f>'Datos y graficos AVAD'!$B$61</c:f>
              <c:strCache>
                <c:ptCount val="1"/>
                <c:pt idx="0">
                  <c:v>APP</c:v>
                </c:pt>
              </c:strCache>
            </c:strRef>
          </c:tx>
          <c:spPr>
            <a:ln w="15875">
              <a:solidFill>
                <a:schemeClr val="accent1"/>
              </a:solidFill>
            </a:ln>
          </c:spPr>
          <c:marker>
            <c:symbol val="circle"/>
            <c:size val="4"/>
            <c:spPr>
              <a:solidFill>
                <a:schemeClr val="accent1"/>
              </a:solidFill>
              <a:ln>
                <a:solidFill>
                  <a:schemeClr val="tx1"/>
                </a:solidFill>
              </a:ln>
            </c:spPr>
          </c:marker>
          <c:dLbls>
            <c:dLbl>
              <c:idx val="0"/>
              <c:layout>
                <c:manualLayout>
                  <c:x val="-5.0364969293059288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26A-47F9-AE62-B52AA5589D51}"/>
                </c:ext>
              </c:extLst>
            </c:dLbl>
            <c:dLbl>
              <c:idx val="1"/>
              <c:layout>
                <c:manualLayout>
                  <c:x val="-3.5036500377780375E-2"/>
                  <c:y val="-3.7926671319403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26A-47F9-AE62-B52AA5589D51}"/>
                </c:ext>
              </c:extLst>
            </c:dLbl>
            <c:dLbl>
              <c:idx val="2"/>
              <c:layout>
                <c:manualLayout>
                  <c:x val="-3.065693783055783E-2"/>
                  <c:y val="-4.17193384513435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26A-47F9-AE62-B52AA5589D51}"/>
                </c:ext>
              </c:extLst>
            </c:dLbl>
            <c:dLbl>
              <c:idx val="3"/>
              <c:layout>
                <c:manualLayout>
                  <c:x val="-2.8467156556946555E-2"/>
                  <c:y val="-3.41340041874630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26A-47F9-AE62-B52AA5589D51}"/>
                </c:ext>
              </c:extLst>
            </c:dLbl>
            <c:dLbl>
              <c:idx val="4"/>
              <c:layout>
                <c:manualLayout>
                  <c:x val="-3.28467191041691E-2"/>
                  <c:y val="-3.79266713194031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26A-47F9-AE62-B52AA5589D51}"/>
                </c:ext>
              </c:extLst>
            </c:dLbl>
            <c:numFmt formatCode="#,##0" sourceLinked="0"/>
            <c:spPr>
              <a:noFill/>
              <a:ln>
                <a:noFill/>
              </a:ln>
              <a:effectLst/>
            </c:spPr>
            <c:txPr>
              <a:bodyPr/>
              <a:lstStyle/>
              <a:p>
                <a:pPr>
                  <a:defRPr sz="7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'Datos y graficos AVAD'!$B$62:$B$66</c:f>
              <c:numCache>
                <c:formatCode>General</c:formatCode>
                <c:ptCount val="5"/>
                <c:pt idx="0">
                  <c:v>17.11</c:v>
                </c:pt>
                <c:pt idx="1">
                  <c:v>59.98</c:v>
                </c:pt>
                <c:pt idx="2">
                  <c:v>138.28</c:v>
                </c:pt>
                <c:pt idx="3">
                  <c:v>29.99</c:v>
                </c:pt>
                <c:pt idx="4">
                  <c:v>25.25</c:v>
                </c:pt>
              </c:numCache>
            </c:numRef>
          </c:val>
          <c:smooth val="1"/>
          <c:extLst>
            <c:ext xmlns:c16="http://schemas.microsoft.com/office/drawing/2014/chart" uri="{C3380CC4-5D6E-409C-BE32-E72D297353CC}">
              <c16:uniqueId val="{0000000B-F26A-47F9-AE62-B52AA5589D51}"/>
            </c:ext>
          </c:extLst>
        </c:ser>
        <c:ser>
          <c:idx val="2"/>
          <c:order val="2"/>
          <c:tx>
            <c:strRef>
              <c:f>'Datos y graficos AVAD'!$D$61</c:f>
              <c:strCache>
                <c:ptCount val="1"/>
                <c:pt idx="0">
                  <c:v>AVD</c:v>
                </c:pt>
              </c:strCache>
            </c:strRef>
          </c:tx>
          <c:spPr>
            <a:ln w="15875">
              <a:solidFill>
                <a:srgbClr val="C00000"/>
              </a:solidFill>
            </a:ln>
          </c:spPr>
          <c:marker>
            <c:symbol val="circle"/>
            <c:size val="4"/>
            <c:spPr>
              <a:solidFill>
                <a:srgbClr val="C00000"/>
              </a:solidFill>
              <a:ln>
                <a:solidFill>
                  <a:schemeClr val="tx1"/>
                </a:solidFill>
              </a:ln>
            </c:spPr>
          </c:marker>
          <c:dLbls>
            <c:dLbl>
              <c:idx val="0"/>
              <c:layout>
                <c:manualLayout>
                  <c:x val="-4.8175188019448013E-2"/>
                  <c:y val="7.58533426388063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26A-47F9-AE62-B52AA5589D51}"/>
                </c:ext>
              </c:extLst>
            </c:dLbl>
            <c:dLbl>
              <c:idx val="1"/>
              <c:layout>
                <c:manualLayout>
                  <c:x val="-2.8467156556946555E-2"/>
                  <c:y val="-2.65486699235822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F26A-47F9-AE62-B52AA5589D51}"/>
                </c:ext>
              </c:extLst>
            </c:dLbl>
            <c:dLbl>
              <c:idx val="2"/>
              <c:layout>
                <c:manualLayout>
                  <c:x val="-3.065693783055783E-2"/>
                  <c:y val="3.41340041874629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26A-47F9-AE62-B52AA5589D51}"/>
                </c:ext>
              </c:extLst>
            </c:dLbl>
            <c:dLbl>
              <c:idx val="3"/>
              <c:layout>
                <c:manualLayout>
                  <c:x val="-2.4087594009724007E-2"/>
                  <c:y val="-3.0341337055522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26A-47F9-AE62-B52AA5589D51}"/>
                </c:ext>
              </c:extLst>
            </c:dLbl>
            <c:dLbl>
              <c:idx val="4"/>
              <c:layout>
                <c:manualLayout>
                  <c:x val="-6.5693438208338202E-3"/>
                  <c:y val="-3.79266713194038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F26A-47F9-AE62-B52AA5589D51}"/>
                </c:ext>
              </c:extLst>
            </c:dLbl>
            <c:numFmt formatCode="#,##0" sourceLinked="0"/>
            <c:spPr>
              <a:noFill/>
              <a:ln>
                <a:noFill/>
              </a:ln>
              <a:effectLst/>
            </c:spPr>
            <c:txPr>
              <a:bodyPr/>
              <a:lstStyle/>
              <a:p>
                <a:pPr>
                  <a:defRPr sz="7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'Datos y graficos AVAD'!$D$62:$D$66</c:f>
              <c:numCache>
                <c:formatCode>General</c:formatCode>
                <c:ptCount val="5"/>
                <c:pt idx="0">
                  <c:v>45.86</c:v>
                </c:pt>
                <c:pt idx="1">
                  <c:v>274.5</c:v>
                </c:pt>
                <c:pt idx="2">
                  <c:v>121.3</c:v>
                </c:pt>
                <c:pt idx="3">
                  <c:v>59.31</c:v>
                </c:pt>
                <c:pt idx="4">
                  <c:v>175.58</c:v>
                </c:pt>
              </c:numCache>
            </c:numRef>
          </c:val>
          <c:smooth val="1"/>
          <c:extLst>
            <c:ext xmlns:c16="http://schemas.microsoft.com/office/drawing/2014/chart" uri="{C3380CC4-5D6E-409C-BE32-E72D297353CC}">
              <c16:uniqueId val="{00000011-F26A-47F9-AE62-B52AA5589D51}"/>
            </c:ext>
          </c:extLst>
        </c:ser>
        <c:dLbls>
          <c:showLegendKey val="0"/>
          <c:showVal val="0"/>
          <c:showCatName val="0"/>
          <c:showSerName val="0"/>
          <c:showPercent val="0"/>
          <c:showBubbleSize val="0"/>
        </c:dLbls>
        <c:marker val="1"/>
        <c:smooth val="0"/>
        <c:axId val="544067072"/>
        <c:axId val="35153600"/>
      </c:lineChart>
      <c:catAx>
        <c:axId val="544067072"/>
        <c:scaling>
          <c:orientation val="minMax"/>
        </c:scaling>
        <c:delete val="0"/>
        <c:axPos val="b"/>
        <c:numFmt formatCode="General" sourceLinked="1"/>
        <c:majorTickMark val="none"/>
        <c:minorTickMark val="cross"/>
        <c:tickLblPos val="nextTo"/>
        <c:spPr>
          <a:ln>
            <a:solidFill>
              <a:schemeClr val="tx1"/>
            </a:solidFill>
          </a:ln>
        </c:spPr>
        <c:txPr>
          <a:bodyPr/>
          <a:lstStyle/>
          <a:p>
            <a:pPr>
              <a:defRPr sz="800"/>
            </a:pPr>
            <a:endParaRPr lang="es-CO"/>
          </a:p>
        </c:txPr>
        <c:crossAx val="35153600"/>
        <c:crosses val="autoZero"/>
        <c:auto val="1"/>
        <c:lblAlgn val="ctr"/>
        <c:lblOffset val="100"/>
        <c:noMultiLvlLbl val="0"/>
      </c:catAx>
      <c:valAx>
        <c:axId val="35153600"/>
        <c:scaling>
          <c:orientation val="minMax"/>
        </c:scaling>
        <c:delete val="0"/>
        <c:axPos val="l"/>
        <c:majorGridlines>
          <c:spPr>
            <a:ln>
              <a:solidFill>
                <a:schemeClr val="tx1">
                  <a:alpha val="10000"/>
                </a:schemeClr>
              </a:solidFill>
            </a:ln>
          </c:spPr>
        </c:majorGridlines>
        <c:title>
          <c:tx>
            <c:rich>
              <a:bodyPr rot="-5400000" vert="horz"/>
              <a:lstStyle/>
              <a:p>
                <a:pPr>
                  <a:defRPr/>
                </a:pPr>
                <a:r>
                  <a:rPr lang="en-US"/>
                  <a:t>AVAD</a:t>
                </a:r>
              </a:p>
            </c:rich>
          </c:tx>
          <c:layout>
            <c:manualLayout>
              <c:xMode val="edge"/>
              <c:yMode val="edge"/>
              <c:x val="1.3888888888888888E-2"/>
              <c:y val="0.34839311752697577"/>
            </c:manualLayout>
          </c:layout>
          <c:overlay val="0"/>
        </c:title>
        <c:numFmt formatCode="General" sourceLinked="1"/>
        <c:majorTickMark val="cross"/>
        <c:minorTickMark val="in"/>
        <c:tickLblPos val="nextTo"/>
        <c:spPr>
          <a:ln>
            <a:solidFill>
              <a:schemeClr val="tx1"/>
            </a:solidFill>
          </a:ln>
        </c:spPr>
        <c:crossAx val="544067072"/>
        <c:crosses val="autoZero"/>
        <c:crossBetween val="between"/>
      </c:valAx>
    </c:plotArea>
    <c:legend>
      <c:legendPos val="r"/>
      <c:overlay val="0"/>
    </c:legend>
    <c:plotVisOnly val="1"/>
    <c:dispBlanksAs val="gap"/>
    <c:showDLblsOverMax val="0"/>
  </c:chart>
  <c:spPr>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'Datos y graficos AVAD'!$B$60:$D$60</c:f>
              <c:strCache>
                <c:ptCount val="1"/>
                <c:pt idx="0">
                  <c:v>Total</c:v>
                </c:pt>
              </c:strCache>
            </c:strRef>
          </c:tx>
          <c:spPr>
            <a:ln w="15875">
              <a:solidFill>
                <a:schemeClr val="tx1"/>
              </a:solidFill>
            </a:ln>
          </c:spPr>
          <c:marker>
            <c:symbol val="circle"/>
            <c:size val="4"/>
            <c:spPr>
              <a:noFill/>
              <a:ln>
                <a:solidFill>
                  <a:schemeClr val="tx1"/>
                </a:solidFill>
              </a:ln>
            </c:spPr>
          </c:marker>
          <c:dLbls>
            <c:dLbl>
              <c:idx val="0"/>
              <c:layout>
                <c:manualLayout>
                  <c:x val="-7.2222222222222215E-2"/>
                  <c:y val="-7.58533426388063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D56-46A4-8640-654263DE0E92}"/>
                </c:ext>
              </c:extLst>
            </c:dLbl>
            <c:dLbl>
              <c:idx val="1"/>
              <c:layout>
                <c:manualLayout>
                  <c:x val="-3.7023511353929735E-2"/>
                  <c:y val="-4.55120055832838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D56-46A4-8640-654263DE0E92}"/>
                </c:ext>
              </c:extLst>
            </c:dLbl>
            <c:dLbl>
              <c:idx val="2"/>
              <c:layout>
                <c:manualLayout>
                  <c:x val="-1.6666666666666666E-2"/>
                  <c:y val="-3.0341337055522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D56-46A4-8640-654263DE0E92}"/>
                </c:ext>
              </c:extLst>
            </c:dLbl>
            <c:dLbl>
              <c:idx val="3"/>
              <c:layout>
                <c:manualLayout>
                  <c:x val="-3.6111111111111108E-2"/>
                  <c:y val="-5.3097339847164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D56-46A4-8640-654263DE0E92}"/>
                </c:ext>
              </c:extLst>
            </c:dLbl>
            <c:dLbl>
              <c:idx val="4"/>
              <c:layout>
                <c:manualLayout>
                  <c:x val="-0.05"/>
                  <c:y val="-3.7926671319403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D56-46A4-8640-654263DE0E92}"/>
                </c:ext>
              </c:extLst>
            </c:dLbl>
            <c:numFmt formatCode="#,##0" sourceLinked="0"/>
            <c:spPr>
              <a:noFill/>
              <a:ln>
                <a:noFill/>
              </a:ln>
              <a:effectLst/>
            </c:spPr>
            <c:txPr>
              <a:bodyPr/>
              <a:lstStyle/>
              <a:p>
                <a:pPr>
                  <a:defRPr sz="8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'Datos y graficos AVAD'!$A$62:$A$66</c:f>
              <c:numCache>
                <c:formatCode>General</c:formatCode>
                <c:ptCount val="5"/>
                <c:pt idx="0">
                  <c:v>2019</c:v>
                </c:pt>
                <c:pt idx="1">
                  <c:v>2020</c:v>
                </c:pt>
                <c:pt idx="2">
                  <c:v>2021</c:v>
                </c:pt>
                <c:pt idx="3">
                  <c:v>2022</c:v>
                </c:pt>
                <c:pt idx="4">
                  <c:v>2023</c:v>
                </c:pt>
              </c:numCache>
            </c:numRef>
          </c:cat>
          <c:val>
            <c:numRef>
              <c:f>'Datos y graficos AVAD'!$F$62:$F$66</c:f>
              <c:numCache>
                <c:formatCode>General</c:formatCode>
                <c:ptCount val="5"/>
                <c:pt idx="0">
                  <c:v>62.97</c:v>
                </c:pt>
                <c:pt idx="1">
                  <c:v>334.48</c:v>
                </c:pt>
                <c:pt idx="2">
                  <c:v>259.58</c:v>
                </c:pt>
                <c:pt idx="3">
                  <c:v>89.3</c:v>
                </c:pt>
                <c:pt idx="4">
                  <c:v>200.83</c:v>
                </c:pt>
              </c:numCache>
            </c:numRef>
          </c:val>
          <c:smooth val="1"/>
          <c:extLst>
            <c:ext xmlns:c16="http://schemas.microsoft.com/office/drawing/2014/chart" uri="{C3380CC4-5D6E-409C-BE32-E72D297353CC}">
              <c16:uniqueId val="{00000005-6D56-46A4-8640-654263DE0E92}"/>
            </c:ext>
          </c:extLst>
        </c:ser>
        <c:ser>
          <c:idx val="1"/>
          <c:order val="1"/>
          <c:tx>
            <c:strRef>
              <c:f>'Datos y graficos AVAD'!$B$68:$D$68</c:f>
              <c:strCache>
                <c:ptCount val="1"/>
                <c:pt idx="0">
                  <c:v>Hombres</c:v>
                </c:pt>
              </c:strCache>
            </c:strRef>
          </c:tx>
          <c:spPr>
            <a:ln w="15875">
              <a:solidFill>
                <a:schemeClr val="accent1"/>
              </a:solidFill>
            </a:ln>
          </c:spPr>
          <c:marker>
            <c:symbol val="circle"/>
            <c:size val="4"/>
            <c:spPr>
              <a:solidFill>
                <a:schemeClr val="accent1"/>
              </a:solidFill>
              <a:ln>
                <a:solidFill>
                  <a:schemeClr val="tx1"/>
                </a:solidFill>
              </a:ln>
            </c:spPr>
          </c:marker>
          <c:dLbls>
            <c:dLbl>
              <c:idx val="1"/>
              <c:layout>
                <c:manualLayout>
                  <c:x val="-3.5036500377780375E-2"/>
                  <c:y val="-3.7926671319403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D56-46A4-8640-654263DE0E92}"/>
                </c:ext>
              </c:extLst>
            </c:dLbl>
            <c:dLbl>
              <c:idx val="2"/>
              <c:layout>
                <c:manualLayout>
                  <c:x val="-3.065693783055783E-2"/>
                  <c:y val="-4.17193384513435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D56-46A4-8640-654263DE0E92}"/>
                </c:ext>
              </c:extLst>
            </c:dLbl>
            <c:dLbl>
              <c:idx val="3"/>
              <c:layout>
                <c:manualLayout>
                  <c:x val="-2.8467156556946555E-2"/>
                  <c:y val="-3.41340041874630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D56-46A4-8640-654263DE0E92}"/>
                </c:ext>
              </c:extLst>
            </c:dLbl>
            <c:dLbl>
              <c:idx val="4"/>
              <c:layout>
                <c:manualLayout>
                  <c:x val="-3.28467191041691E-2"/>
                  <c:y val="-3.79266713194031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D56-46A4-8640-654263DE0E92}"/>
                </c:ext>
              </c:extLst>
            </c:dLbl>
            <c:numFmt formatCode="#,##0" sourceLinked="0"/>
            <c:spPr>
              <a:noFill/>
              <a:ln>
                <a:noFill/>
              </a:ln>
              <a:effectLst/>
            </c:spPr>
            <c:txPr>
              <a:bodyPr/>
              <a:lstStyle/>
              <a:p>
                <a:pPr>
                  <a:defRPr sz="8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'Datos y graficos AVAD'!$D$70:$D$74</c:f>
              <c:numCache>
                <c:formatCode>General</c:formatCode>
                <c:ptCount val="5"/>
                <c:pt idx="0">
                  <c:v>23.36</c:v>
                </c:pt>
                <c:pt idx="1">
                  <c:v>172.65</c:v>
                </c:pt>
                <c:pt idx="2">
                  <c:v>147.85</c:v>
                </c:pt>
                <c:pt idx="3">
                  <c:v>60.88</c:v>
                </c:pt>
                <c:pt idx="4">
                  <c:v>110.96</c:v>
                </c:pt>
              </c:numCache>
            </c:numRef>
          </c:val>
          <c:smooth val="1"/>
          <c:extLst>
            <c:ext xmlns:c16="http://schemas.microsoft.com/office/drawing/2014/chart" uri="{C3380CC4-5D6E-409C-BE32-E72D297353CC}">
              <c16:uniqueId val="{0000000A-6D56-46A4-8640-654263DE0E92}"/>
            </c:ext>
          </c:extLst>
        </c:ser>
        <c:ser>
          <c:idx val="2"/>
          <c:order val="2"/>
          <c:tx>
            <c:strRef>
              <c:f>'Datos y graficos AVAD'!$B$76:$D$76</c:f>
              <c:strCache>
                <c:ptCount val="1"/>
                <c:pt idx="0">
                  <c:v>Mujeres</c:v>
                </c:pt>
              </c:strCache>
            </c:strRef>
          </c:tx>
          <c:spPr>
            <a:ln w="15875">
              <a:solidFill>
                <a:srgbClr val="C00000"/>
              </a:solidFill>
            </a:ln>
          </c:spPr>
          <c:marker>
            <c:symbol val="circle"/>
            <c:size val="4"/>
            <c:spPr>
              <a:solidFill>
                <a:srgbClr val="C00000"/>
              </a:solidFill>
              <a:ln>
                <a:solidFill>
                  <a:schemeClr val="tx1"/>
                </a:solidFill>
              </a:ln>
            </c:spPr>
          </c:marker>
          <c:dLbls>
            <c:dLbl>
              <c:idx val="0"/>
              <c:layout>
                <c:manualLayout>
                  <c:x val="-5.2554750566670562E-2"/>
                  <c:y val="-1.13780013958209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D56-46A4-8640-654263DE0E92}"/>
                </c:ext>
              </c:extLst>
            </c:dLbl>
            <c:dLbl>
              <c:idx val="1"/>
              <c:layout>
                <c:manualLayout>
                  <c:x val="-2.1897812736112736E-2"/>
                  <c:y val="3.79266713194031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D56-46A4-8640-654263DE0E92}"/>
                </c:ext>
              </c:extLst>
            </c:dLbl>
            <c:dLbl>
              <c:idx val="2"/>
              <c:layout>
                <c:manualLayout>
                  <c:x val="-2.1897812736112816E-2"/>
                  <c:y val="-3.03413370555226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D56-46A4-8640-654263DE0E92}"/>
                </c:ext>
              </c:extLst>
            </c:dLbl>
            <c:dLbl>
              <c:idx val="3"/>
              <c:layout>
                <c:manualLayout>
                  <c:x val="-2.4087594009724007E-2"/>
                  <c:y val="-3.0341337055522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6D56-46A4-8640-654263DE0E92}"/>
                </c:ext>
              </c:extLst>
            </c:dLbl>
            <c:dLbl>
              <c:idx val="4"/>
              <c:layout>
                <c:manualLayout>
                  <c:x val="-6.5693438208338202E-3"/>
                  <c:y val="-3.79266713194038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6D56-46A4-8640-654263DE0E92}"/>
                </c:ext>
              </c:extLst>
            </c:dLbl>
            <c:numFmt formatCode="#,##0" sourceLinked="0"/>
            <c:spPr>
              <a:noFill/>
              <a:ln>
                <a:noFill/>
              </a:ln>
              <a:effectLst/>
            </c:spPr>
            <c:txPr>
              <a:bodyPr/>
              <a:lstStyle/>
              <a:p>
                <a:pPr>
                  <a:defRPr sz="800"/>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'Datos y graficos AVAD'!$D$78:$D$82</c:f>
              <c:numCache>
                <c:formatCode>General</c:formatCode>
                <c:ptCount val="5"/>
                <c:pt idx="0">
                  <c:v>39.6</c:v>
                </c:pt>
                <c:pt idx="1">
                  <c:v>161.83000000000001</c:v>
                </c:pt>
                <c:pt idx="2">
                  <c:v>111.73</c:v>
                </c:pt>
                <c:pt idx="3">
                  <c:v>28.42</c:v>
                </c:pt>
                <c:pt idx="4">
                  <c:v>89.87</c:v>
                </c:pt>
              </c:numCache>
            </c:numRef>
          </c:val>
          <c:smooth val="1"/>
          <c:extLst>
            <c:ext xmlns:c16="http://schemas.microsoft.com/office/drawing/2014/chart" uri="{C3380CC4-5D6E-409C-BE32-E72D297353CC}">
              <c16:uniqueId val="{00000010-6D56-46A4-8640-654263DE0E92}"/>
            </c:ext>
          </c:extLst>
        </c:ser>
        <c:dLbls>
          <c:showLegendKey val="0"/>
          <c:showVal val="0"/>
          <c:showCatName val="0"/>
          <c:showSerName val="0"/>
          <c:showPercent val="0"/>
          <c:showBubbleSize val="0"/>
        </c:dLbls>
        <c:marker val="1"/>
        <c:smooth val="0"/>
        <c:axId val="544223232"/>
        <c:axId val="35155328"/>
      </c:lineChart>
      <c:catAx>
        <c:axId val="544223232"/>
        <c:scaling>
          <c:orientation val="minMax"/>
        </c:scaling>
        <c:delete val="0"/>
        <c:axPos val="b"/>
        <c:title>
          <c:tx>
            <c:rich>
              <a:bodyPr/>
              <a:lstStyle/>
              <a:p>
                <a:pPr>
                  <a:defRPr/>
                </a:pPr>
                <a:r>
                  <a:rPr lang="en-US"/>
                  <a:t>Años</a:t>
                </a:r>
              </a:p>
            </c:rich>
          </c:tx>
          <c:layout>
            <c:manualLayout>
              <c:xMode val="edge"/>
              <c:yMode val="edge"/>
              <c:x val="0.44661302252966045"/>
              <c:y val="0.89821481356786792"/>
            </c:manualLayout>
          </c:layout>
          <c:overlay val="0"/>
        </c:title>
        <c:numFmt formatCode="General" sourceLinked="1"/>
        <c:majorTickMark val="none"/>
        <c:minorTickMark val="cross"/>
        <c:tickLblPos val="nextTo"/>
        <c:spPr>
          <a:ln>
            <a:solidFill>
              <a:schemeClr val="tx1"/>
            </a:solidFill>
          </a:ln>
        </c:spPr>
        <c:crossAx val="35155328"/>
        <c:crosses val="autoZero"/>
        <c:auto val="1"/>
        <c:lblAlgn val="ctr"/>
        <c:lblOffset val="100"/>
        <c:noMultiLvlLbl val="0"/>
      </c:catAx>
      <c:valAx>
        <c:axId val="35155328"/>
        <c:scaling>
          <c:orientation val="minMax"/>
        </c:scaling>
        <c:delete val="0"/>
        <c:axPos val="l"/>
        <c:majorGridlines>
          <c:spPr>
            <a:ln>
              <a:solidFill>
                <a:schemeClr val="tx1">
                  <a:alpha val="10000"/>
                </a:schemeClr>
              </a:solidFill>
            </a:ln>
          </c:spPr>
        </c:majorGridlines>
        <c:title>
          <c:tx>
            <c:rich>
              <a:bodyPr rot="-5400000" vert="horz"/>
              <a:lstStyle/>
              <a:p>
                <a:pPr>
                  <a:defRPr/>
                </a:pPr>
                <a:r>
                  <a:rPr lang="en-US"/>
                  <a:t>AVAD</a:t>
                </a:r>
              </a:p>
            </c:rich>
          </c:tx>
          <c:layout>
            <c:manualLayout>
              <c:xMode val="edge"/>
              <c:yMode val="edge"/>
              <c:x val="1.3888888888888888E-2"/>
              <c:y val="0.34839311752697577"/>
            </c:manualLayout>
          </c:layout>
          <c:overlay val="0"/>
        </c:title>
        <c:numFmt formatCode="General" sourceLinked="1"/>
        <c:majorTickMark val="cross"/>
        <c:minorTickMark val="in"/>
        <c:tickLblPos val="nextTo"/>
        <c:spPr>
          <a:ln>
            <a:solidFill>
              <a:schemeClr val="tx1"/>
            </a:solidFill>
          </a:ln>
        </c:spPr>
        <c:crossAx val="544223232"/>
        <c:crosses val="autoZero"/>
        <c:crossBetween val="between"/>
      </c:valAx>
    </c:plotArea>
    <c:legend>
      <c:legendPos val="r"/>
      <c:overlay val="0"/>
    </c:legend>
    <c:plotVisOnly val="1"/>
    <c:dispBlanksAs val="gap"/>
    <c:showDLblsOverMax val="0"/>
  </c:chart>
  <c:spPr>
    <a:ln>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'Datos y graficos AVAD'!$C$98</c:f>
              <c:strCache>
                <c:ptCount val="1"/>
                <c:pt idx="0">
                  <c:v>2019</c:v>
                </c:pt>
              </c:strCache>
            </c:strRef>
          </c:tx>
          <c:spPr>
            <a:ln w="15875">
              <a:solidFill>
                <a:srgbClr val="00B050"/>
              </a:solidFill>
            </a:ln>
          </c:spPr>
          <c:marker>
            <c:symbol val="none"/>
          </c:marker>
          <c:cat>
            <c:strRef>
              <c:f>'Datos y graficos AVAD'!$B$99:$B$106</c:f>
              <c:strCache>
                <c:ptCount val="8"/>
                <c:pt idx="0">
                  <c:v>0-4 años</c:v>
                </c:pt>
                <c:pt idx="1">
                  <c:v>5-14 años</c:v>
                </c:pt>
                <c:pt idx="2">
                  <c:v>15-29 años</c:v>
                </c:pt>
                <c:pt idx="3">
                  <c:v>30-44 años</c:v>
                </c:pt>
                <c:pt idx="4">
                  <c:v>45-59 años</c:v>
                </c:pt>
                <c:pt idx="5">
                  <c:v>60-69 años</c:v>
                </c:pt>
                <c:pt idx="6">
                  <c:v>70-79 años</c:v>
                </c:pt>
                <c:pt idx="7">
                  <c:v>80+ años</c:v>
                </c:pt>
              </c:strCache>
            </c:strRef>
          </c:cat>
          <c:val>
            <c:numRef>
              <c:f>'Datos y graficos AVAD'!$C$99:$C$106</c:f>
              <c:numCache>
                <c:formatCode>#,#00</c:formatCode>
                <c:ptCount val="8"/>
                <c:pt idx="0">
                  <c:v>5.0326640184505003</c:v>
                </c:pt>
                <c:pt idx="1">
                  <c:v>11.431956628118165</c:v>
                </c:pt>
                <c:pt idx="2">
                  <c:v>13.058895427186215</c:v>
                </c:pt>
                <c:pt idx="3">
                  <c:v>7.1585307158994187</c:v>
                </c:pt>
                <c:pt idx="4">
                  <c:v>5.0109715011295934</c:v>
                </c:pt>
                <c:pt idx="5">
                  <c:v>19.190739797474716</c:v>
                </c:pt>
                <c:pt idx="6">
                  <c:v>1.0412408314035519</c:v>
                </c:pt>
                <c:pt idx="7">
                  <c:v>1.0412408314035519</c:v>
                </c:pt>
              </c:numCache>
            </c:numRef>
          </c:val>
          <c:smooth val="1"/>
          <c:extLst>
            <c:ext xmlns:c16="http://schemas.microsoft.com/office/drawing/2014/chart" uri="{C3380CC4-5D6E-409C-BE32-E72D297353CC}">
              <c16:uniqueId val="{00000000-ADF3-43DB-ACC3-B34E8A20ED31}"/>
            </c:ext>
          </c:extLst>
        </c:ser>
        <c:ser>
          <c:idx val="1"/>
          <c:order val="1"/>
          <c:tx>
            <c:strRef>
              <c:f>'Datos y graficos AVAD'!$D$98</c:f>
              <c:strCache>
                <c:ptCount val="1"/>
                <c:pt idx="0">
                  <c:v>2020</c:v>
                </c:pt>
              </c:strCache>
            </c:strRef>
          </c:tx>
          <c:spPr>
            <a:ln w="15875">
              <a:solidFill>
                <a:srgbClr val="C00000"/>
              </a:solidFill>
            </a:ln>
          </c:spPr>
          <c:marker>
            <c:symbol val="none"/>
          </c:marker>
          <c:val>
            <c:numRef>
              <c:f>'Datos y graficos AVAD'!$D$99:$D$106</c:f>
              <c:numCache>
                <c:formatCode>#,#00</c:formatCode>
                <c:ptCount val="8"/>
                <c:pt idx="0">
                  <c:v>35.228648129153505</c:v>
                </c:pt>
                <c:pt idx="1">
                  <c:v>86.943609422196573</c:v>
                </c:pt>
                <c:pt idx="2">
                  <c:v>107.68630888028704</c:v>
                </c:pt>
                <c:pt idx="3">
                  <c:v>61.7187294648364</c:v>
                </c:pt>
                <c:pt idx="4">
                  <c:v>21.45389963037735</c:v>
                </c:pt>
                <c:pt idx="5">
                  <c:v>8.5468518244374874</c:v>
                </c:pt>
                <c:pt idx="6">
                  <c:v>4.5337361200696318</c:v>
                </c:pt>
                <c:pt idx="7">
                  <c:v>8.3693807410051448</c:v>
                </c:pt>
              </c:numCache>
            </c:numRef>
          </c:val>
          <c:smooth val="1"/>
          <c:extLst>
            <c:ext xmlns:c16="http://schemas.microsoft.com/office/drawing/2014/chart" uri="{C3380CC4-5D6E-409C-BE32-E72D297353CC}">
              <c16:uniqueId val="{00000001-ADF3-43DB-ACC3-B34E8A20ED31}"/>
            </c:ext>
          </c:extLst>
        </c:ser>
        <c:ser>
          <c:idx val="2"/>
          <c:order val="2"/>
          <c:tx>
            <c:strRef>
              <c:f>'Datos y graficos AVAD'!$E$98</c:f>
              <c:strCache>
                <c:ptCount val="1"/>
                <c:pt idx="0">
                  <c:v>2021</c:v>
                </c:pt>
              </c:strCache>
            </c:strRef>
          </c:tx>
          <c:spPr>
            <a:ln w="15875"/>
          </c:spPr>
          <c:marker>
            <c:symbol val="none"/>
          </c:marker>
          <c:val>
            <c:numRef>
              <c:f>'Datos y graficos AVAD'!$E$99:$E$106</c:f>
              <c:numCache>
                <c:formatCode>#,#00</c:formatCode>
                <c:ptCount val="8"/>
                <c:pt idx="0">
                  <c:v>20.911586697354664</c:v>
                </c:pt>
                <c:pt idx="1">
                  <c:v>101.19237309504788</c:v>
                </c:pt>
                <c:pt idx="2">
                  <c:v>86.526842795987591</c:v>
                </c:pt>
                <c:pt idx="3">
                  <c:v>13.427668221641637</c:v>
                </c:pt>
                <c:pt idx="4">
                  <c:v>30.99549583636874</c:v>
                </c:pt>
                <c:pt idx="5">
                  <c:v>3.5358803233078948</c:v>
                </c:pt>
                <c:pt idx="6">
                  <c:v>1.8221714549562158</c:v>
                </c:pt>
                <c:pt idx="7">
                  <c:v>1.1713959353289958</c:v>
                </c:pt>
              </c:numCache>
            </c:numRef>
          </c:val>
          <c:smooth val="1"/>
          <c:extLst>
            <c:ext xmlns:c16="http://schemas.microsoft.com/office/drawing/2014/chart" uri="{C3380CC4-5D6E-409C-BE32-E72D297353CC}">
              <c16:uniqueId val="{00000002-ADF3-43DB-ACC3-B34E8A20ED31}"/>
            </c:ext>
          </c:extLst>
        </c:ser>
        <c:ser>
          <c:idx val="3"/>
          <c:order val="3"/>
          <c:tx>
            <c:strRef>
              <c:f>'Datos y graficos AVAD'!$F$98</c:f>
              <c:strCache>
                <c:ptCount val="1"/>
                <c:pt idx="0">
                  <c:v>2022</c:v>
                </c:pt>
              </c:strCache>
            </c:strRef>
          </c:tx>
          <c:spPr>
            <a:ln w="15875"/>
          </c:spPr>
          <c:marker>
            <c:symbol val="none"/>
          </c:marker>
          <c:val>
            <c:numRef>
              <c:f>'Datos y graficos AVAD'!$F$99:$F$106</c:f>
              <c:numCache>
                <c:formatCode>#,#00</c:formatCode>
                <c:ptCount val="8"/>
                <c:pt idx="0">
                  <c:v>7.8309987528475462</c:v>
                </c:pt>
                <c:pt idx="1">
                  <c:v>45.830249811202449</c:v>
                </c:pt>
                <c:pt idx="2">
                  <c:v>16.247695473359592</c:v>
                </c:pt>
                <c:pt idx="3">
                  <c:v>9.3928599999528739</c:v>
                </c:pt>
                <c:pt idx="4">
                  <c:v>5.4231293302268329</c:v>
                </c:pt>
                <c:pt idx="5">
                  <c:v>2.3644843879788988</c:v>
                </c:pt>
                <c:pt idx="6">
                  <c:v>1.3015510392544398</c:v>
                </c:pt>
                <c:pt idx="7">
                  <c:v>0.9110857274781079</c:v>
                </c:pt>
              </c:numCache>
            </c:numRef>
          </c:val>
          <c:smooth val="1"/>
          <c:extLst>
            <c:ext xmlns:c16="http://schemas.microsoft.com/office/drawing/2014/chart" uri="{C3380CC4-5D6E-409C-BE32-E72D297353CC}">
              <c16:uniqueId val="{00000003-ADF3-43DB-ACC3-B34E8A20ED31}"/>
            </c:ext>
          </c:extLst>
        </c:ser>
        <c:ser>
          <c:idx val="4"/>
          <c:order val="4"/>
          <c:tx>
            <c:strRef>
              <c:f>'Datos y graficos AVAD'!$G$98</c:f>
              <c:strCache>
                <c:ptCount val="1"/>
                <c:pt idx="0">
                  <c:v>2023</c:v>
                </c:pt>
              </c:strCache>
            </c:strRef>
          </c:tx>
          <c:spPr>
            <a:ln w="15875"/>
          </c:spPr>
          <c:marker>
            <c:symbol val="none"/>
          </c:marker>
          <c:val>
            <c:numRef>
              <c:f>'Datos y graficos AVAD'!$G$99:$G$106</c:f>
              <c:numCache>
                <c:formatCode>#,#00</c:formatCode>
                <c:ptCount val="8"/>
                <c:pt idx="0">
                  <c:v>15.85723016158326</c:v>
                </c:pt>
                <c:pt idx="1">
                  <c:v>50.478487805751357</c:v>
                </c:pt>
                <c:pt idx="2">
                  <c:v>54.29637085423105</c:v>
                </c:pt>
                <c:pt idx="3">
                  <c:v>51.393091220084514</c:v>
                </c:pt>
                <c:pt idx="4">
                  <c:v>14.533986605007911</c:v>
                </c:pt>
                <c:pt idx="5">
                  <c:v>7.9828463740938975</c:v>
                </c:pt>
                <c:pt idx="6">
                  <c:v>4.1649633256142078</c:v>
                </c:pt>
                <c:pt idx="7">
                  <c:v>2.1258666974489184</c:v>
                </c:pt>
              </c:numCache>
            </c:numRef>
          </c:val>
          <c:smooth val="1"/>
          <c:extLst>
            <c:ext xmlns:c16="http://schemas.microsoft.com/office/drawing/2014/chart" uri="{C3380CC4-5D6E-409C-BE32-E72D297353CC}">
              <c16:uniqueId val="{00000004-ADF3-43DB-ACC3-B34E8A20ED31}"/>
            </c:ext>
          </c:extLst>
        </c:ser>
        <c:dLbls>
          <c:showLegendKey val="0"/>
          <c:showVal val="0"/>
          <c:showCatName val="0"/>
          <c:showSerName val="0"/>
          <c:showPercent val="0"/>
          <c:showBubbleSize val="0"/>
        </c:dLbls>
        <c:smooth val="0"/>
        <c:axId val="544224768"/>
        <c:axId val="35157056"/>
      </c:lineChart>
      <c:catAx>
        <c:axId val="544224768"/>
        <c:scaling>
          <c:orientation val="minMax"/>
        </c:scaling>
        <c:delete val="0"/>
        <c:axPos val="b"/>
        <c:title>
          <c:tx>
            <c:rich>
              <a:bodyPr/>
              <a:lstStyle/>
              <a:p>
                <a:pPr>
                  <a:defRPr b="0"/>
                </a:pPr>
                <a:r>
                  <a:rPr lang="en-US" b="0"/>
                  <a:t>Grupos de edad</a:t>
                </a:r>
              </a:p>
            </c:rich>
          </c:tx>
          <c:layout>
            <c:manualLayout>
              <c:xMode val="edge"/>
              <c:yMode val="edge"/>
              <c:x val="0.40676745694413979"/>
              <c:y val="0.91108778069407992"/>
            </c:manualLayout>
          </c:layout>
          <c:overlay val="0"/>
        </c:title>
        <c:numFmt formatCode="General" sourceLinked="0"/>
        <c:majorTickMark val="cross"/>
        <c:minorTickMark val="in"/>
        <c:tickLblPos val="nextTo"/>
        <c:spPr>
          <a:ln>
            <a:solidFill>
              <a:schemeClr val="tx1"/>
            </a:solidFill>
          </a:ln>
        </c:spPr>
        <c:crossAx val="35157056"/>
        <c:crosses val="autoZero"/>
        <c:auto val="1"/>
        <c:lblAlgn val="ctr"/>
        <c:lblOffset val="100"/>
        <c:noMultiLvlLbl val="0"/>
      </c:catAx>
      <c:valAx>
        <c:axId val="35157056"/>
        <c:scaling>
          <c:orientation val="minMax"/>
          <c:min val="0"/>
        </c:scaling>
        <c:delete val="0"/>
        <c:axPos val="l"/>
        <c:majorGridlines>
          <c:spPr>
            <a:ln>
              <a:solidFill>
                <a:schemeClr val="tx1">
                  <a:alpha val="12000"/>
                </a:schemeClr>
              </a:solidFill>
            </a:ln>
          </c:spPr>
        </c:majorGridlines>
        <c:title>
          <c:tx>
            <c:rich>
              <a:bodyPr rot="-5400000" vert="horz"/>
              <a:lstStyle/>
              <a:p>
                <a:pPr>
                  <a:defRPr b="0"/>
                </a:pPr>
                <a:r>
                  <a:rPr lang="es-CO" b="0"/>
                  <a:t>AVAD</a:t>
                </a:r>
              </a:p>
            </c:rich>
          </c:tx>
          <c:overlay val="0"/>
        </c:title>
        <c:numFmt formatCode="#,#00" sourceLinked="1"/>
        <c:majorTickMark val="cross"/>
        <c:minorTickMark val="in"/>
        <c:tickLblPos val="nextTo"/>
        <c:spPr>
          <a:ln>
            <a:solidFill>
              <a:schemeClr val="tx1"/>
            </a:solidFill>
          </a:ln>
        </c:spPr>
        <c:crossAx val="544224768"/>
        <c:crosses val="autoZero"/>
        <c:crossBetween val="between"/>
      </c:valAx>
    </c:plotArea>
    <c:legend>
      <c:legendPos val="r"/>
      <c:overlay val="0"/>
    </c:legend>
    <c:plotVisOnly val="1"/>
    <c:dispBlanksAs val="gap"/>
    <c:showDLblsOverMax val="0"/>
  </c:chart>
  <c:spPr>
    <a:ln>
      <a:noFill/>
    </a:ln>
  </c:spPr>
  <c:externalData r:id="rId1">
    <c:autoUpdate val="0"/>
  </c:externalData>
</c:chartSpace>
</file>

<file path=ppt/drawings/_rels/drawing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drawing1.xml><?xml version="1.0" encoding="utf-8"?>
<c:userShapes xmlns:c="http://schemas.openxmlformats.org/drawingml/2006/chart">
  <cdr:relSizeAnchor xmlns:cdr="http://schemas.openxmlformats.org/drawingml/2006/chartDrawing">
    <cdr:from>
      <cdr:x>0.24099</cdr:x>
      <cdr:y>0.10795</cdr:y>
    </cdr:from>
    <cdr:to>
      <cdr:x>0.26502</cdr:x>
      <cdr:y>0.19303</cdr:y>
    </cdr:to>
    <cdr:pic>
      <cdr:nvPicPr>
        <cdr:cNvPr id="2" name="0 Imagen">
          <a:extLst xmlns:a="http://schemas.openxmlformats.org/drawingml/2006/main">
            <a:ext uri="{FF2B5EF4-FFF2-40B4-BE49-F238E27FC236}">
              <a16:creationId xmlns:a16="http://schemas.microsoft.com/office/drawing/2014/main" id="{3D3B228B-1AE1-4886-A538-BD067A74BE72}"/>
            </a:ext>
          </a:extLst>
        </cdr:cNvPr>
        <cdr:cNvPicPr/>
      </cdr:nvPicPr>
      <cdr:blipFill>
        <a:blip xmlns:a="http://schemas.openxmlformats.org/drawingml/2006/main" xmlns:r="http://schemas.openxmlformats.org/officeDocument/2006/relationships" r:embed="rId1" cstate="print">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1489710" y="383540"/>
          <a:ext cx="148590" cy="302260"/>
        </a:xfrm>
        <a:prstGeom xmlns:a="http://schemas.openxmlformats.org/drawingml/2006/main" prst="rect">
          <a:avLst/>
        </a:prstGeom>
      </cdr:spPr>
    </cdr:pic>
  </cdr:relSizeAnchor>
  <cdr:relSizeAnchor xmlns:cdr="http://schemas.openxmlformats.org/drawingml/2006/chartDrawing">
    <cdr:from>
      <cdr:x>0.84418</cdr:x>
      <cdr:y>0.10119</cdr:y>
    </cdr:from>
    <cdr:to>
      <cdr:x>0.86989</cdr:x>
      <cdr:y>0.18038</cdr:y>
    </cdr:to>
    <cdr:pic>
      <cdr:nvPicPr>
        <cdr:cNvPr id="3" name="0 Imagen">
          <a:extLst xmlns:a="http://schemas.openxmlformats.org/drawingml/2006/main">
            <a:ext uri="{FF2B5EF4-FFF2-40B4-BE49-F238E27FC236}">
              <a16:creationId xmlns:a16="http://schemas.microsoft.com/office/drawing/2014/main" id="{D243874C-B642-4EAF-9694-386DF60E942C}"/>
            </a:ext>
          </a:extLst>
        </cdr:cNvPr>
        <cdr:cNvPicPr/>
      </cdr:nvPicPr>
      <cdr:blipFill>
        <a:blip xmlns:a="http://schemas.openxmlformats.org/drawingml/2006/main" xmlns:r="http://schemas.openxmlformats.org/officeDocument/2006/relationships" r:embed="rId2" cstate="print">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3316027" y="261778"/>
          <a:ext cx="100992" cy="204863"/>
        </a:xfrm>
        <a:prstGeom xmlns:a="http://schemas.openxmlformats.org/drawingml/2006/main" prst="rect">
          <a:avLst/>
        </a:prstGeom>
      </cdr:spPr>
    </cdr:pic>
  </cdr:relSizeAnchor>
  <cdr:relSizeAnchor xmlns:cdr="http://schemas.openxmlformats.org/drawingml/2006/chartDrawing">
    <cdr:from>
      <cdr:x>0.24099</cdr:x>
      <cdr:y>0.10795</cdr:y>
    </cdr:from>
    <cdr:to>
      <cdr:x>0.26502</cdr:x>
      <cdr:y>0.19303</cdr:y>
    </cdr:to>
    <cdr:pic>
      <cdr:nvPicPr>
        <cdr:cNvPr id="4" name="0 Imagen">
          <a:extLst xmlns:a="http://schemas.openxmlformats.org/drawingml/2006/main">
            <a:ext uri="{FF2B5EF4-FFF2-40B4-BE49-F238E27FC236}">
              <a16:creationId xmlns:a16="http://schemas.microsoft.com/office/drawing/2014/main" id="{385DAB80-4E5A-4665-BF21-26D878250074}"/>
            </a:ext>
          </a:extLst>
        </cdr:cNvPr>
        <cdr:cNvPicPr/>
      </cdr:nvPicPr>
      <cdr:blipFill>
        <a:blip xmlns:a="http://schemas.openxmlformats.org/drawingml/2006/main" xmlns:r="http://schemas.openxmlformats.org/officeDocument/2006/relationships" r:embed="rId1" cstate="print">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1489710" y="383540"/>
          <a:ext cx="148590" cy="302260"/>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235238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Mencionar aquí las etapas o valoraciones sociales</a:t>
            </a:r>
            <a:r>
              <a:rPr lang="es-ES" baseline="0" dirty="0"/>
              <a:t> que </a:t>
            </a:r>
            <a:r>
              <a:rPr lang="es-ES" dirty="0"/>
              <a:t>conlleva la estimación de los AVAD:</a:t>
            </a:r>
          </a:p>
          <a:p>
            <a:pPr marL="0" lvl="0" indent="0" algn="l" rtl="0">
              <a:spcBef>
                <a:spcPts val="0"/>
              </a:spcBef>
              <a:spcAft>
                <a:spcPts val="0"/>
              </a:spcAft>
              <a:buNone/>
            </a:pPr>
            <a:r>
              <a:rPr lang="es-ES" dirty="0"/>
              <a:t> - </a:t>
            </a:r>
            <a:r>
              <a:rPr lang="es-ES" dirty="0" err="1"/>
              <a:t>Duracion</a:t>
            </a:r>
            <a:r>
              <a:rPr lang="es-ES" dirty="0"/>
              <a:t> del tiempo perdido por muerte</a:t>
            </a:r>
            <a:r>
              <a:rPr lang="es-ES" baseline="0" dirty="0"/>
              <a:t> prematura</a:t>
            </a:r>
          </a:p>
          <a:p>
            <a:pPr marL="171450" lvl="0" indent="-171450" algn="l" rtl="0">
              <a:spcBef>
                <a:spcPts val="0"/>
              </a:spcBef>
              <a:spcAft>
                <a:spcPts val="0"/>
              </a:spcAft>
              <a:buFontTx/>
              <a:buChar char="-"/>
            </a:pPr>
            <a:r>
              <a:rPr lang="es-ES" baseline="0" dirty="0"/>
              <a:t>Valor social del tiempo vivido a diferentes edades</a:t>
            </a:r>
          </a:p>
          <a:p>
            <a:pPr marL="171450" lvl="0" indent="-171450" algn="l" rtl="0">
              <a:spcBef>
                <a:spcPts val="0"/>
              </a:spcBef>
              <a:spcAft>
                <a:spcPts val="0"/>
              </a:spcAft>
              <a:buFontTx/>
              <a:buChar char="-"/>
            </a:pPr>
            <a:r>
              <a:rPr lang="es-ES" baseline="0" dirty="0"/>
              <a:t>Preferencia temporal</a:t>
            </a:r>
          </a:p>
          <a:p>
            <a:pPr marL="171450" lvl="0" indent="-171450" algn="l" rtl="0">
              <a:spcBef>
                <a:spcPts val="0"/>
              </a:spcBef>
              <a:spcAft>
                <a:spcPts val="0"/>
              </a:spcAft>
              <a:buFontTx/>
              <a:buChar char="-"/>
            </a:pPr>
            <a:r>
              <a:rPr lang="es-ES" baseline="0" dirty="0"/>
              <a:t>Modelo de enfermedad</a:t>
            </a:r>
          </a:p>
          <a:p>
            <a:pPr marL="0" lvl="0" indent="0" algn="l" rtl="0">
              <a:spcBef>
                <a:spcPts val="0"/>
              </a:spcBef>
              <a:spcAft>
                <a:spcPts val="0"/>
              </a:spcAft>
              <a:buFontTx/>
              <a:buNone/>
            </a:pPr>
            <a:r>
              <a:rPr lang="es-ES" dirty="0"/>
              <a:t>Y definir los objetivos del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117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Hablar del Dengue, su descripción</a:t>
            </a:r>
            <a:r>
              <a:rPr lang="es-ES" baseline="0" dirty="0"/>
              <a:t> epidemiológica (tiempo, lugar y persona. Datos sobre la región de las américas hasta llegar a Colombia y Cali.</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dirty="0"/>
              <a:t>Colombia: Caldas y San Andrés dentro de lo esperado. Valle del cauca Risaralda y Quindío en situación de alarma. Los demás en situación de brote.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sz="1100" dirty="0"/>
              <a:t>Cali: La ubicación intertropical del distrito, su variada precipitación (temporadas húmedas y secas de 8 y 4 meses respectivamente), su altitud promedio por debajo de los 2 314 mts sobre el nivel del mar, su temperatura media de 24.7°C, el alto grado de urbanización concentrado en la zona oriente aunado, configuran las condiciones propicias para la ocurrencia del dengue. </a:t>
            </a:r>
            <a:r>
              <a:rPr lang="es-ES" dirty="0"/>
              <a:t>Las</a:t>
            </a:r>
            <a:r>
              <a:rPr lang="es-ES" baseline="0" dirty="0"/>
              <a:t> comunas 6, 21, 14 y 2 acumulan mas de una tercera parte de los casos (35%)</a:t>
            </a:r>
            <a:endParaRPr lang="es-E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dirty="0"/>
          </a:p>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sz="1100" dirty="0"/>
              <a:t>Curva epidémica</a:t>
            </a:r>
            <a:r>
              <a:rPr lang="es-ES" sz="1100" baseline="0" dirty="0"/>
              <a:t> indicar que a partir de la semana 17 al realizar el canal endémico se encontró un reporte consecutivo de mas de 4 semanas seguidas por fuera de lo </a:t>
            </a:r>
            <a:r>
              <a:rPr lang="es-ES" sz="1100" baseline="0" dirty="0" err="1"/>
              <a:t>esparado</a:t>
            </a:r>
            <a:r>
              <a:rPr lang="es-ES" sz="1100" baseline="0" dirty="0"/>
              <a:t>, para configurar la definición de un brote.</a:t>
            </a:r>
            <a:endParaRPr lang="es-ES" sz="1100" dirty="0"/>
          </a:p>
          <a:p>
            <a:pPr marL="0" lvl="0" indent="0" algn="l" rtl="0">
              <a:spcBef>
                <a:spcPts val="0"/>
              </a:spcBef>
              <a:spcAft>
                <a:spcPts val="0"/>
              </a:spcAft>
              <a:buNone/>
            </a:pPr>
            <a:r>
              <a:rPr lang="es-ES" dirty="0"/>
              <a:t>Distribución por sexo aproximadamente igual (50.4% son hombres) </a:t>
            </a:r>
          </a:p>
          <a:p>
            <a:pPr marL="0" lvl="0" indent="0" algn="l" rtl="0">
              <a:spcBef>
                <a:spcPts val="0"/>
              </a:spcBef>
              <a:spcAft>
                <a:spcPts val="0"/>
              </a:spcAft>
              <a:buNone/>
            </a:pPr>
            <a:r>
              <a:rPr lang="es-ES" dirty="0"/>
              <a:t>El 63% tienen 24 años o menos.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dirty="0"/>
          </a:p>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Mencionar aquí las etapas o valoraciones sociales</a:t>
            </a:r>
            <a:r>
              <a:rPr lang="es-ES" baseline="0" dirty="0"/>
              <a:t> que </a:t>
            </a:r>
            <a:r>
              <a:rPr lang="es-ES" dirty="0"/>
              <a:t>conlleva la estimación de los AVAD:</a:t>
            </a:r>
          </a:p>
          <a:p>
            <a:pPr marL="0" lvl="0" indent="0" algn="l" rtl="0">
              <a:spcBef>
                <a:spcPts val="0"/>
              </a:spcBef>
              <a:spcAft>
                <a:spcPts val="0"/>
              </a:spcAft>
              <a:buNone/>
            </a:pPr>
            <a:r>
              <a:rPr lang="es-ES" dirty="0"/>
              <a:t> - </a:t>
            </a:r>
            <a:r>
              <a:rPr lang="es-ES" dirty="0" err="1"/>
              <a:t>Duracion</a:t>
            </a:r>
            <a:r>
              <a:rPr lang="es-ES" dirty="0"/>
              <a:t> del tiempo perdido por muerte</a:t>
            </a:r>
            <a:r>
              <a:rPr lang="es-ES" baseline="0" dirty="0"/>
              <a:t> prematura</a:t>
            </a:r>
          </a:p>
          <a:p>
            <a:pPr marL="171450" lvl="0" indent="-171450" algn="l" rtl="0">
              <a:spcBef>
                <a:spcPts val="0"/>
              </a:spcBef>
              <a:spcAft>
                <a:spcPts val="0"/>
              </a:spcAft>
              <a:buFontTx/>
              <a:buChar char="-"/>
            </a:pPr>
            <a:r>
              <a:rPr lang="es-ES" baseline="0" dirty="0"/>
              <a:t>Valor social del tiempo vivido a diferentes edades</a:t>
            </a:r>
          </a:p>
          <a:p>
            <a:pPr marL="171450" lvl="0" indent="-171450" algn="l" rtl="0">
              <a:spcBef>
                <a:spcPts val="0"/>
              </a:spcBef>
              <a:spcAft>
                <a:spcPts val="0"/>
              </a:spcAft>
              <a:buFontTx/>
              <a:buChar char="-"/>
            </a:pPr>
            <a:r>
              <a:rPr lang="es-ES" baseline="0" dirty="0"/>
              <a:t>Preferencia temporal</a:t>
            </a:r>
          </a:p>
          <a:p>
            <a:pPr marL="171450" lvl="0" indent="-171450" algn="l" rtl="0">
              <a:spcBef>
                <a:spcPts val="0"/>
              </a:spcBef>
              <a:spcAft>
                <a:spcPts val="0"/>
              </a:spcAft>
              <a:buFontTx/>
              <a:buChar char="-"/>
            </a:pPr>
            <a:r>
              <a:rPr lang="es-ES" baseline="0" dirty="0"/>
              <a:t>Modelo de enfermedad</a:t>
            </a:r>
          </a:p>
          <a:p>
            <a:pPr marL="0" lvl="0" indent="0" algn="l" rtl="0">
              <a:spcBef>
                <a:spcPts val="0"/>
              </a:spcBef>
              <a:spcAft>
                <a:spcPts val="0"/>
              </a:spcAft>
              <a:buFontTx/>
              <a:buNone/>
            </a:pPr>
            <a:r>
              <a:rPr lang="es-ES" dirty="0"/>
              <a:t>Y definir los objetivos del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1377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Mencionar aquí las etapas o valoraciones sociales</a:t>
            </a:r>
            <a:r>
              <a:rPr lang="es-ES" baseline="0" dirty="0"/>
              <a:t> que </a:t>
            </a:r>
            <a:r>
              <a:rPr lang="es-ES" dirty="0"/>
              <a:t>conlleva la estimación de los AVAD:</a:t>
            </a:r>
          </a:p>
          <a:p>
            <a:pPr marL="0" lvl="0" indent="0" algn="l" rtl="0">
              <a:spcBef>
                <a:spcPts val="0"/>
              </a:spcBef>
              <a:spcAft>
                <a:spcPts val="0"/>
              </a:spcAft>
              <a:buNone/>
            </a:pPr>
            <a:r>
              <a:rPr lang="es-ES" dirty="0"/>
              <a:t> - </a:t>
            </a:r>
            <a:r>
              <a:rPr lang="es-ES" dirty="0" err="1"/>
              <a:t>Duracion</a:t>
            </a:r>
            <a:r>
              <a:rPr lang="es-ES" dirty="0"/>
              <a:t> del tiempo perdido por muerte</a:t>
            </a:r>
            <a:r>
              <a:rPr lang="es-ES" baseline="0" dirty="0"/>
              <a:t> prematura</a:t>
            </a:r>
          </a:p>
          <a:p>
            <a:pPr marL="171450" lvl="0" indent="-171450" algn="l" rtl="0">
              <a:spcBef>
                <a:spcPts val="0"/>
              </a:spcBef>
              <a:spcAft>
                <a:spcPts val="0"/>
              </a:spcAft>
              <a:buFontTx/>
              <a:buChar char="-"/>
            </a:pPr>
            <a:r>
              <a:rPr lang="es-ES" baseline="0" dirty="0"/>
              <a:t>Valor social del tiempo vivido a diferentes edades</a:t>
            </a:r>
          </a:p>
          <a:p>
            <a:pPr marL="171450" lvl="0" indent="-171450" algn="l" rtl="0">
              <a:spcBef>
                <a:spcPts val="0"/>
              </a:spcBef>
              <a:spcAft>
                <a:spcPts val="0"/>
              </a:spcAft>
              <a:buFontTx/>
              <a:buChar char="-"/>
            </a:pPr>
            <a:r>
              <a:rPr lang="es-ES" baseline="0" dirty="0"/>
              <a:t>Preferencia temporal</a:t>
            </a:r>
          </a:p>
          <a:p>
            <a:pPr marL="171450" lvl="0" indent="-171450" algn="l" rtl="0">
              <a:spcBef>
                <a:spcPts val="0"/>
              </a:spcBef>
              <a:spcAft>
                <a:spcPts val="0"/>
              </a:spcAft>
              <a:buFontTx/>
              <a:buChar char="-"/>
            </a:pPr>
            <a:r>
              <a:rPr lang="es-ES" baseline="0" dirty="0"/>
              <a:t>Modelo de enfermedad</a:t>
            </a:r>
          </a:p>
          <a:p>
            <a:pPr marL="0" lvl="0" indent="0" algn="l" rtl="0">
              <a:spcBef>
                <a:spcPts val="0"/>
              </a:spcBef>
              <a:spcAft>
                <a:spcPts val="0"/>
              </a:spcAft>
              <a:buFontTx/>
              <a:buNone/>
            </a:pPr>
            <a:r>
              <a:rPr lang="es-ES" dirty="0"/>
              <a:t>Y definir los objetivos del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ES" sz="1100" b="0" i="0" u="none" strike="noStrike" cap="none" dirty="0">
                <a:solidFill>
                  <a:srgbClr val="000000"/>
                </a:solidFill>
                <a:effectLst/>
                <a:latin typeface="Arial"/>
                <a:ea typeface="Arial"/>
                <a:cs typeface="Arial"/>
                <a:sym typeface="Arial"/>
              </a:rPr>
              <a:t>Debido a que el GBD requería de un enfoque estandarizado para 301 afecciones, evaluó la discapacidad durante la fase aguda sólo para una enfermedad infecciosa genérica, y no específicamente para el dengue. Sin embargo, los casos sintomáticos de dengue se diferencian de muchas enfermedades infecciosas agudas en varios aspectos. En primer lugar, además de fiebre y malestar, el dengue, a veces llamado “fiebre quebranta huesos”, puede causar dolor intenso, lo que reduce significativamente la calidad de vida de los pacientes. En segundo lugar, el dengue puede persistir durante meses con síntomas crónicos, como fatiga, depresión, insomnio, dolor de cabeza o artralgia</a:t>
            </a:r>
            <a:endParaRPr lang="es-ES" dirty="0"/>
          </a:p>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Hablar de las particularidades</a:t>
            </a:r>
            <a:r>
              <a:rPr lang="es-ES" baseline="0" dirty="0"/>
              <a:t> encontradas para este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Mencionar aquí las etapas o valoraciones sociales</a:t>
            </a:r>
            <a:r>
              <a:rPr lang="es-ES" baseline="0" dirty="0"/>
              <a:t> que </a:t>
            </a:r>
            <a:r>
              <a:rPr lang="es-ES" dirty="0"/>
              <a:t>conlleva la estimación de los AVAD:</a:t>
            </a:r>
          </a:p>
          <a:p>
            <a:pPr marL="0" lvl="0" indent="0" algn="l" rtl="0">
              <a:spcBef>
                <a:spcPts val="0"/>
              </a:spcBef>
              <a:spcAft>
                <a:spcPts val="0"/>
              </a:spcAft>
              <a:buNone/>
            </a:pPr>
            <a:r>
              <a:rPr lang="es-ES" dirty="0"/>
              <a:t> - </a:t>
            </a:r>
            <a:r>
              <a:rPr lang="es-ES" dirty="0" err="1"/>
              <a:t>Duracion</a:t>
            </a:r>
            <a:r>
              <a:rPr lang="es-ES" dirty="0"/>
              <a:t> del tiempo perdido por muerte</a:t>
            </a:r>
            <a:r>
              <a:rPr lang="es-ES" baseline="0" dirty="0"/>
              <a:t> prematura</a:t>
            </a:r>
          </a:p>
          <a:p>
            <a:pPr marL="171450" lvl="0" indent="-171450" algn="l" rtl="0">
              <a:spcBef>
                <a:spcPts val="0"/>
              </a:spcBef>
              <a:spcAft>
                <a:spcPts val="0"/>
              </a:spcAft>
              <a:buFontTx/>
              <a:buChar char="-"/>
            </a:pPr>
            <a:r>
              <a:rPr lang="es-ES" baseline="0" dirty="0"/>
              <a:t>Valor social del tiempo vivido a diferentes edades</a:t>
            </a:r>
          </a:p>
          <a:p>
            <a:pPr marL="171450" lvl="0" indent="-171450" algn="l" rtl="0">
              <a:spcBef>
                <a:spcPts val="0"/>
              </a:spcBef>
              <a:spcAft>
                <a:spcPts val="0"/>
              </a:spcAft>
              <a:buFontTx/>
              <a:buChar char="-"/>
            </a:pPr>
            <a:r>
              <a:rPr lang="es-ES" baseline="0" dirty="0"/>
              <a:t>Preferencia temporal</a:t>
            </a:r>
          </a:p>
          <a:p>
            <a:pPr marL="171450" lvl="0" indent="-171450" algn="l" rtl="0">
              <a:spcBef>
                <a:spcPts val="0"/>
              </a:spcBef>
              <a:spcAft>
                <a:spcPts val="0"/>
              </a:spcAft>
              <a:buFontTx/>
              <a:buChar char="-"/>
            </a:pPr>
            <a:r>
              <a:rPr lang="es-ES" baseline="0" dirty="0"/>
              <a:t>Modelo de enfermedad</a:t>
            </a:r>
          </a:p>
          <a:p>
            <a:pPr marL="0" lvl="0" indent="0" algn="l" rtl="0">
              <a:spcBef>
                <a:spcPts val="0"/>
              </a:spcBef>
              <a:spcAft>
                <a:spcPts val="0"/>
              </a:spcAft>
              <a:buFontTx/>
              <a:buNone/>
            </a:pPr>
            <a:r>
              <a:rPr lang="es-ES" dirty="0"/>
              <a:t>Y definir los objetivos del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6641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074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930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6585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0269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138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Mencionar aquí las etapas o valoraciones sociales</a:t>
            </a:r>
            <a:r>
              <a:rPr lang="es-ES" baseline="0" dirty="0"/>
              <a:t> que </a:t>
            </a:r>
            <a:r>
              <a:rPr lang="es-ES" dirty="0"/>
              <a:t>conlleva la estimación de los AVAD:</a:t>
            </a:r>
          </a:p>
          <a:p>
            <a:pPr marL="0" lvl="0" indent="0" algn="l" rtl="0">
              <a:spcBef>
                <a:spcPts val="0"/>
              </a:spcBef>
              <a:spcAft>
                <a:spcPts val="0"/>
              </a:spcAft>
              <a:buNone/>
            </a:pPr>
            <a:r>
              <a:rPr lang="es-ES" dirty="0"/>
              <a:t> - </a:t>
            </a:r>
            <a:r>
              <a:rPr lang="es-ES" dirty="0" err="1"/>
              <a:t>Duracion</a:t>
            </a:r>
            <a:r>
              <a:rPr lang="es-ES" dirty="0"/>
              <a:t> del tiempo perdido por muerte</a:t>
            </a:r>
            <a:r>
              <a:rPr lang="es-ES" baseline="0" dirty="0"/>
              <a:t> prematura</a:t>
            </a:r>
          </a:p>
          <a:p>
            <a:pPr marL="171450" lvl="0" indent="-171450" algn="l" rtl="0">
              <a:spcBef>
                <a:spcPts val="0"/>
              </a:spcBef>
              <a:spcAft>
                <a:spcPts val="0"/>
              </a:spcAft>
              <a:buFontTx/>
              <a:buChar char="-"/>
            </a:pPr>
            <a:r>
              <a:rPr lang="es-ES" baseline="0" dirty="0"/>
              <a:t>Valor social del tiempo vivido a diferentes edades</a:t>
            </a:r>
          </a:p>
          <a:p>
            <a:pPr marL="171450" lvl="0" indent="-171450" algn="l" rtl="0">
              <a:spcBef>
                <a:spcPts val="0"/>
              </a:spcBef>
              <a:spcAft>
                <a:spcPts val="0"/>
              </a:spcAft>
              <a:buFontTx/>
              <a:buChar char="-"/>
            </a:pPr>
            <a:r>
              <a:rPr lang="es-ES" baseline="0" dirty="0"/>
              <a:t>Preferencia temporal</a:t>
            </a:r>
          </a:p>
          <a:p>
            <a:pPr marL="171450" lvl="0" indent="-171450" algn="l" rtl="0">
              <a:spcBef>
                <a:spcPts val="0"/>
              </a:spcBef>
              <a:spcAft>
                <a:spcPts val="0"/>
              </a:spcAft>
              <a:buFontTx/>
              <a:buChar char="-"/>
            </a:pPr>
            <a:r>
              <a:rPr lang="es-ES" baseline="0" dirty="0"/>
              <a:t>Modelo de enfermedad</a:t>
            </a:r>
          </a:p>
          <a:p>
            <a:pPr marL="0" lvl="0" indent="0" algn="l" rtl="0">
              <a:spcBef>
                <a:spcPts val="0"/>
              </a:spcBef>
              <a:spcAft>
                <a:spcPts val="0"/>
              </a:spcAft>
              <a:buFontTx/>
              <a:buNone/>
            </a:pPr>
            <a:r>
              <a:rPr lang="es-ES" dirty="0"/>
              <a:t>Y definir los objetivos del estudio.</a:t>
            </a: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7987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849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849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8497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2443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2443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2443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d8667f22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d8667f22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2443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92" cy="763539"/>
          </a:xfrm>
          <a:prstGeom prst="rect">
            <a:avLst/>
          </a:prstGeom>
        </p:spPr>
        <p:txBody>
          <a:bodyPr spcFirstLastPara="1" wrap="square" lIns="185925" tIns="185925" rIns="185925" bIns="185925" anchor="t" anchorCtr="0">
            <a:noAutofit/>
          </a:bodyPr>
          <a:lstStyle>
            <a:lvl1pPr lvl="0">
              <a:spcBef>
                <a:spcPts val="0"/>
              </a:spcBef>
              <a:spcAft>
                <a:spcPts val="0"/>
              </a:spcAft>
              <a:buSzPts val="5700"/>
              <a:buNone/>
              <a:defRPr/>
            </a:lvl1pPr>
            <a:lvl2pPr lvl="1">
              <a:spcBef>
                <a:spcPts val="0"/>
              </a:spcBef>
              <a:spcAft>
                <a:spcPts val="0"/>
              </a:spcAft>
              <a:buSzPts val="5700"/>
              <a:buNone/>
              <a:defRPr/>
            </a:lvl2pPr>
            <a:lvl3pPr lvl="2">
              <a:spcBef>
                <a:spcPts val="0"/>
              </a:spcBef>
              <a:spcAft>
                <a:spcPts val="0"/>
              </a:spcAft>
              <a:buSzPts val="5700"/>
              <a:buNone/>
              <a:defRPr/>
            </a:lvl3pPr>
            <a:lvl4pPr lvl="3">
              <a:spcBef>
                <a:spcPts val="0"/>
              </a:spcBef>
              <a:spcAft>
                <a:spcPts val="0"/>
              </a:spcAft>
              <a:buSzPts val="5700"/>
              <a:buNone/>
              <a:defRPr/>
            </a:lvl4pPr>
            <a:lvl5pPr lvl="4">
              <a:spcBef>
                <a:spcPts val="0"/>
              </a:spcBef>
              <a:spcAft>
                <a:spcPts val="0"/>
              </a:spcAft>
              <a:buSzPts val="5700"/>
              <a:buNone/>
              <a:defRPr/>
            </a:lvl5pPr>
            <a:lvl6pPr lvl="5">
              <a:spcBef>
                <a:spcPts val="0"/>
              </a:spcBef>
              <a:spcAft>
                <a:spcPts val="0"/>
              </a:spcAft>
              <a:buSzPts val="5700"/>
              <a:buNone/>
              <a:defRPr/>
            </a:lvl6pPr>
            <a:lvl7pPr lvl="6">
              <a:spcBef>
                <a:spcPts val="0"/>
              </a:spcBef>
              <a:spcAft>
                <a:spcPts val="0"/>
              </a:spcAft>
              <a:buSzPts val="5700"/>
              <a:buNone/>
              <a:defRPr/>
            </a:lvl7pPr>
            <a:lvl8pPr lvl="7">
              <a:spcBef>
                <a:spcPts val="0"/>
              </a:spcBef>
              <a:spcAft>
                <a:spcPts val="0"/>
              </a:spcAft>
              <a:buSzPts val="5700"/>
              <a:buNone/>
              <a:defRPr/>
            </a:lvl8pPr>
            <a:lvl9pPr lvl="8">
              <a:spcBef>
                <a:spcPts val="0"/>
              </a:spcBef>
              <a:spcAft>
                <a:spcPts val="0"/>
              </a:spcAft>
              <a:buSzPts val="5700"/>
              <a:buNone/>
              <a:defRPr/>
            </a:lvl9pPr>
          </a:lstStyle>
          <a:p>
            <a:endParaRPr/>
          </a:p>
        </p:txBody>
      </p:sp>
      <p:sp>
        <p:nvSpPr>
          <p:cNvPr id="18" name="Google Shape;18;p4"/>
          <p:cNvSpPr txBox="1">
            <a:spLocks noGrp="1"/>
          </p:cNvSpPr>
          <p:nvPr>
            <p:ph type="body" idx="1"/>
          </p:nvPr>
        </p:nvSpPr>
        <p:spPr>
          <a:xfrm>
            <a:off x="415600" y="1536633"/>
            <a:ext cx="11360892" cy="4555175"/>
          </a:xfrm>
          <a:prstGeom prst="rect">
            <a:avLst/>
          </a:prstGeom>
        </p:spPr>
        <p:txBody>
          <a:bodyPr spcFirstLastPara="1" wrap="square" lIns="185925" tIns="185925" rIns="185925" bIns="185925" anchor="t" anchorCtr="0">
            <a:noAutofit/>
          </a:bodyPr>
          <a:lstStyle>
            <a:lvl1pPr marL="249768" lvl="0" indent="-253237">
              <a:spcBef>
                <a:spcPts val="0"/>
              </a:spcBef>
              <a:spcAft>
                <a:spcPts val="0"/>
              </a:spcAft>
              <a:buSzPts val="3700"/>
              <a:buChar char="●"/>
              <a:defRPr/>
            </a:lvl1pPr>
            <a:lvl2pPr marL="499537" lvl="1" indent="-222016">
              <a:spcBef>
                <a:spcPts val="1803"/>
              </a:spcBef>
              <a:spcAft>
                <a:spcPts val="0"/>
              </a:spcAft>
              <a:buSzPts val="2800"/>
              <a:buChar char="○"/>
              <a:defRPr/>
            </a:lvl2pPr>
            <a:lvl3pPr marL="749305" lvl="2" indent="-222016">
              <a:spcBef>
                <a:spcPts val="1803"/>
              </a:spcBef>
              <a:spcAft>
                <a:spcPts val="0"/>
              </a:spcAft>
              <a:buSzPts val="2800"/>
              <a:buChar char="■"/>
              <a:defRPr/>
            </a:lvl3pPr>
            <a:lvl4pPr marL="999073" lvl="3" indent="-222016">
              <a:spcBef>
                <a:spcPts val="1803"/>
              </a:spcBef>
              <a:spcAft>
                <a:spcPts val="0"/>
              </a:spcAft>
              <a:buSzPts val="2800"/>
              <a:buChar char="●"/>
              <a:defRPr/>
            </a:lvl4pPr>
            <a:lvl5pPr marL="1248842" lvl="4" indent="-222016">
              <a:spcBef>
                <a:spcPts val="1803"/>
              </a:spcBef>
              <a:spcAft>
                <a:spcPts val="0"/>
              </a:spcAft>
              <a:buSzPts val="2800"/>
              <a:buChar char="○"/>
              <a:defRPr/>
            </a:lvl5pPr>
            <a:lvl6pPr marL="1498610" lvl="5" indent="-222016">
              <a:spcBef>
                <a:spcPts val="1803"/>
              </a:spcBef>
              <a:spcAft>
                <a:spcPts val="0"/>
              </a:spcAft>
              <a:buSzPts val="2800"/>
              <a:buChar char="■"/>
              <a:defRPr/>
            </a:lvl6pPr>
            <a:lvl7pPr marL="1748379" lvl="6" indent="-222016">
              <a:spcBef>
                <a:spcPts val="1803"/>
              </a:spcBef>
              <a:spcAft>
                <a:spcPts val="0"/>
              </a:spcAft>
              <a:buSzPts val="2800"/>
              <a:buChar char="●"/>
              <a:defRPr/>
            </a:lvl7pPr>
            <a:lvl8pPr marL="1998147" lvl="7" indent="-222016">
              <a:spcBef>
                <a:spcPts val="1803"/>
              </a:spcBef>
              <a:spcAft>
                <a:spcPts val="0"/>
              </a:spcAft>
              <a:buSzPts val="2800"/>
              <a:buChar char="○"/>
              <a:defRPr/>
            </a:lvl8pPr>
            <a:lvl9pPr marL="2247915" lvl="8" indent="-222016">
              <a:spcBef>
                <a:spcPts val="1803"/>
              </a:spcBef>
              <a:spcAft>
                <a:spcPts val="1803"/>
              </a:spcAft>
              <a:buSzPts val="2800"/>
              <a:buChar char="■"/>
              <a:defRPr/>
            </a:lvl9pPr>
          </a:lstStyle>
          <a:p>
            <a:endParaRPr/>
          </a:p>
        </p:txBody>
      </p:sp>
      <p:sp>
        <p:nvSpPr>
          <p:cNvPr id="19" name="Google Shape;19;p4"/>
          <p:cNvSpPr txBox="1">
            <a:spLocks noGrp="1"/>
          </p:cNvSpPr>
          <p:nvPr>
            <p:ph type="sldNum" idx="12"/>
          </p:nvPr>
        </p:nvSpPr>
        <p:spPr>
          <a:xfrm>
            <a:off x="11296611" y="6217622"/>
            <a:ext cx="731501" cy="524759"/>
          </a:xfrm>
          <a:prstGeom prst="rect">
            <a:avLst/>
          </a:prstGeom>
        </p:spPr>
        <p:txBody>
          <a:bodyPr spcFirstLastPara="1" wrap="square" lIns="185925" tIns="185925" rIns="185925" bIns="1859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CO" smtClean="0"/>
              <a:pPr/>
              <a:t>‹Nº›</a:t>
            </a:fld>
            <a:endParaRPr lang="es-CO"/>
          </a:p>
        </p:txBody>
      </p:sp>
    </p:spTree>
    <p:extLst>
      <p:ext uri="{BB962C8B-B14F-4D97-AF65-F5344CB8AC3E}">
        <p14:creationId xmlns:p14="http://schemas.microsoft.com/office/powerpoint/2010/main" val="3937033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3"/>
          <p:cNvSpPr txBox="1"/>
          <p:nvPr/>
        </p:nvSpPr>
        <p:spPr>
          <a:xfrm>
            <a:off x="6581775" y="2996952"/>
            <a:ext cx="4933950" cy="28930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i="0" u="none" strike="noStrike" cap="none" dirty="0">
                <a:solidFill>
                  <a:srgbClr val="009D7E"/>
                </a:solidFill>
                <a:latin typeface="Arial"/>
                <a:ea typeface="Arial"/>
                <a:cs typeface="Arial"/>
                <a:sym typeface="Arial"/>
              </a:rPr>
              <a:t>Estimación de la carga de la enfermedad por dengue. Santiago de Cali 2019 - 2023</a:t>
            </a:r>
            <a:endParaRPr sz="1100" dirty="0"/>
          </a:p>
          <a:p>
            <a:pPr marL="0" marR="0" lvl="0" indent="0" algn="l" rtl="0">
              <a:spcBef>
                <a:spcPts val="0"/>
              </a:spcBef>
              <a:spcAft>
                <a:spcPts val="0"/>
              </a:spcAft>
              <a:buNone/>
            </a:pPr>
            <a:endParaRPr lang="es-CO" sz="1800" b="1" dirty="0">
              <a:solidFill>
                <a:srgbClr val="787775"/>
              </a:solidFill>
              <a:latin typeface="Arial"/>
              <a:ea typeface="Arial"/>
              <a:cs typeface="Arial"/>
              <a:sym typeface="Arial"/>
            </a:endParaRPr>
          </a:p>
          <a:p>
            <a:pPr marL="0" marR="0" lvl="0" indent="0" algn="l" rtl="0">
              <a:spcBef>
                <a:spcPts val="0"/>
              </a:spcBef>
              <a:spcAft>
                <a:spcPts val="0"/>
              </a:spcAft>
              <a:buNone/>
            </a:pPr>
            <a:r>
              <a:rPr lang="es-CO" sz="1800" b="1" dirty="0">
                <a:solidFill>
                  <a:srgbClr val="787775"/>
                </a:solidFill>
                <a:latin typeface="Arial"/>
                <a:ea typeface="Arial"/>
                <a:cs typeface="Arial"/>
                <a:sym typeface="Arial"/>
              </a:rPr>
              <a:t>David Santiago Delgado Grijalba</a:t>
            </a:r>
          </a:p>
          <a:p>
            <a:pPr marL="0" marR="0" lvl="0" indent="0" algn="l" rtl="0">
              <a:spcBef>
                <a:spcPts val="0"/>
              </a:spcBef>
              <a:spcAft>
                <a:spcPts val="0"/>
              </a:spcAft>
              <a:buNone/>
            </a:pPr>
            <a:r>
              <a:rPr lang="es-ES" sz="1800" b="1" dirty="0">
                <a:solidFill>
                  <a:srgbClr val="787775"/>
                </a:solidFill>
              </a:rPr>
              <a:t>Wilson Rafael Salas Chávez</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Tabla de Contenido</a:t>
            </a:r>
            <a:endParaRPr dirty="0"/>
          </a:p>
        </p:txBody>
      </p:sp>
      <p:sp>
        <p:nvSpPr>
          <p:cNvPr id="5" name="Google Shape;69;p15">
            <a:hlinkClick r:id="rId3" action="ppaction://hlinksldjump"/>
          </p:cNvPr>
          <p:cNvSpPr txBox="1"/>
          <p:nvPr/>
        </p:nvSpPr>
        <p:spPr>
          <a:xfrm>
            <a:off x="1656616" y="2485658"/>
            <a:ext cx="2207136" cy="410460"/>
          </a:xfrm>
          <a:prstGeom prst="rect">
            <a:avLst/>
          </a:prstGeom>
          <a:noFill/>
          <a:ln>
            <a:noFill/>
          </a:ln>
        </p:spPr>
        <p:txBody>
          <a:bodyPr spcFirstLastPara="1" wrap="square" lIns="91425" tIns="91425" rIns="91425" bIns="91425" anchor="ctr" anchorCtr="0">
            <a:noAutofit/>
          </a:bodyPr>
          <a:lstStyle/>
          <a:p>
            <a:pPr lvl="0"/>
            <a:r>
              <a:rPr lang="es-CO" sz="2800" dirty="0">
                <a:solidFill>
                  <a:srgbClr val="787775"/>
                </a:solidFill>
                <a:highlight>
                  <a:srgbClr val="FFFFFF"/>
                </a:highlight>
              </a:rPr>
              <a:t>Contexto</a:t>
            </a:r>
            <a:endParaRPr lang="es" sz="2800" dirty="0">
              <a:solidFill>
                <a:srgbClr val="434343"/>
              </a:solidFill>
            </a:endParaRPr>
          </a:p>
        </p:txBody>
      </p:sp>
      <p:sp>
        <p:nvSpPr>
          <p:cNvPr id="6" name="5 Elipse">
            <a:hlinkClick r:id="rId3" action="ppaction://hlinksldjump"/>
          </p:cNvPr>
          <p:cNvSpPr/>
          <p:nvPr/>
        </p:nvSpPr>
        <p:spPr>
          <a:xfrm>
            <a:off x="767408" y="2420888"/>
            <a:ext cx="540000" cy="540000"/>
          </a:xfrm>
          <a:prstGeom prst="ellipse">
            <a:avLst/>
          </a:prstGeom>
          <a:solidFill>
            <a:srgbClr val="00B09B"/>
          </a:solidFill>
          <a:ln>
            <a:solidFill>
              <a:srgbClr val="00B0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t>1</a:t>
            </a:r>
            <a:endParaRPr lang="es-CO" sz="1100" b="1" dirty="0"/>
          </a:p>
        </p:txBody>
      </p:sp>
      <p:sp>
        <p:nvSpPr>
          <p:cNvPr id="20" name="Google Shape;69;p15">
            <a:hlinkClick r:id="rId3" action="ppaction://hlinksldjump"/>
          </p:cNvPr>
          <p:cNvSpPr txBox="1"/>
          <p:nvPr/>
        </p:nvSpPr>
        <p:spPr>
          <a:xfrm>
            <a:off x="1648540" y="3197054"/>
            <a:ext cx="8911956" cy="410460"/>
          </a:xfrm>
          <a:prstGeom prst="rect">
            <a:avLst/>
          </a:prstGeom>
          <a:noFill/>
          <a:ln>
            <a:noFill/>
          </a:ln>
        </p:spPr>
        <p:txBody>
          <a:bodyPr spcFirstLastPara="1" wrap="square" lIns="91425" tIns="91425" rIns="91425" bIns="91425" anchor="ctr" anchorCtr="0">
            <a:noAutofit/>
          </a:bodyPr>
          <a:lstStyle/>
          <a:p>
            <a:pPr lvl="0"/>
            <a:r>
              <a:rPr lang="es-CO" sz="2800" dirty="0">
                <a:solidFill>
                  <a:srgbClr val="787775"/>
                </a:solidFill>
                <a:highlight>
                  <a:srgbClr val="FFFFFF"/>
                </a:highlight>
              </a:rPr>
              <a:t>Estimación de la carga de la enfermedad por dengue</a:t>
            </a:r>
            <a:endParaRPr lang="es" sz="2800" dirty="0">
              <a:solidFill>
                <a:srgbClr val="434343"/>
              </a:solidFill>
            </a:endParaRPr>
          </a:p>
        </p:txBody>
      </p:sp>
      <p:sp>
        <p:nvSpPr>
          <p:cNvPr id="21" name="Google Shape;69;p15">
            <a:hlinkClick r:id="rId3" action="ppaction://hlinksldjump"/>
          </p:cNvPr>
          <p:cNvSpPr txBox="1"/>
          <p:nvPr/>
        </p:nvSpPr>
        <p:spPr>
          <a:xfrm>
            <a:off x="1656616" y="3969062"/>
            <a:ext cx="8399824" cy="410460"/>
          </a:xfrm>
          <a:prstGeom prst="rect">
            <a:avLst/>
          </a:prstGeom>
          <a:noFill/>
          <a:ln>
            <a:noFill/>
          </a:ln>
        </p:spPr>
        <p:txBody>
          <a:bodyPr spcFirstLastPara="1" wrap="square" lIns="91425" tIns="91425" rIns="91425" bIns="91425" anchor="ctr" anchorCtr="0">
            <a:noAutofit/>
          </a:bodyPr>
          <a:lstStyle/>
          <a:p>
            <a:pPr lvl="0"/>
            <a:r>
              <a:rPr lang="es-CO" sz="2800" dirty="0">
                <a:solidFill>
                  <a:srgbClr val="787775"/>
                </a:solidFill>
                <a:highlight>
                  <a:srgbClr val="FFFFFF"/>
                </a:highlight>
              </a:rPr>
              <a:t>Estimación de los costos en salud y bienestar</a:t>
            </a:r>
            <a:endParaRPr lang="es" sz="2800" dirty="0">
              <a:solidFill>
                <a:srgbClr val="434343"/>
              </a:solidFill>
            </a:endParaRPr>
          </a:p>
        </p:txBody>
      </p:sp>
      <p:sp>
        <p:nvSpPr>
          <p:cNvPr id="22" name="21 Elipse">
            <a:hlinkClick r:id="rId3" action="ppaction://hlinksldjump"/>
          </p:cNvPr>
          <p:cNvSpPr/>
          <p:nvPr/>
        </p:nvSpPr>
        <p:spPr>
          <a:xfrm>
            <a:off x="767408" y="3132284"/>
            <a:ext cx="540000" cy="540000"/>
          </a:xfrm>
          <a:prstGeom prst="ellipse">
            <a:avLst/>
          </a:prstGeom>
          <a:solidFill>
            <a:srgbClr val="00B09B"/>
          </a:solidFill>
          <a:ln>
            <a:solidFill>
              <a:srgbClr val="00B0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t>2</a:t>
            </a:r>
            <a:endParaRPr lang="es-CO" sz="1100" b="1" dirty="0"/>
          </a:p>
        </p:txBody>
      </p:sp>
      <p:sp>
        <p:nvSpPr>
          <p:cNvPr id="23" name="22 Elipse">
            <a:hlinkClick r:id="rId3" action="ppaction://hlinksldjump"/>
          </p:cNvPr>
          <p:cNvSpPr/>
          <p:nvPr/>
        </p:nvSpPr>
        <p:spPr>
          <a:xfrm>
            <a:off x="767408" y="3904292"/>
            <a:ext cx="540000" cy="540000"/>
          </a:xfrm>
          <a:prstGeom prst="ellipse">
            <a:avLst/>
          </a:prstGeom>
          <a:solidFill>
            <a:srgbClr val="00B09B"/>
          </a:solidFill>
          <a:ln>
            <a:solidFill>
              <a:srgbClr val="00B0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t>3</a:t>
            </a:r>
            <a:endParaRPr lang="es-CO" sz="1100" b="1" dirty="0"/>
          </a:p>
        </p:txBody>
      </p:sp>
      <p:sp>
        <p:nvSpPr>
          <p:cNvPr id="24" name="23 Elipse">
            <a:hlinkClick r:id="rId3" action="ppaction://hlinksldjump"/>
          </p:cNvPr>
          <p:cNvSpPr/>
          <p:nvPr/>
        </p:nvSpPr>
        <p:spPr>
          <a:xfrm>
            <a:off x="767408" y="4666057"/>
            <a:ext cx="540000" cy="540000"/>
          </a:xfrm>
          <a:prstGeom prst="ellipse">
            <a:avLst/>
          </a:prstGeom>
          <a:solidFill>
            <a:srgbClr val="00B09B"/>
          </a:solidFill>
          <a:ln>
            <a:solidFill>
              <a:srgbClr val="00B0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t>4</a:t>
            </a:r>
            <a:endParaRPr lang="es-CO" sz="1100" b="1" dirty="0"/>
          </a:p>
        </p:txBody>
      </p:sp>
      <p:sp>
        <p:nvSpPr>
          <p:cNvPr id="25" name="Google Shape;69;p15">
            <a:hlinkClick r:id="rId3" action="ppaction://hlinksldjump"/>
          </p:cNvPr>
          <p:cNvSpPr txBox="1"/>
          <p:nvPr/>
        </p:nvSpPr>
        <p:spPr>
          <a:xfrm>
            <a:off x="1656616" y="4730827"/>
            <a:ext cx="6167576" cy="410460"/>
          </a:xfrm>
          <a:prstGeom prst="rect">
            <a:avLst/>
          </a:prstGeom>
          <a:noFill/>
          <a:ln>
            <a:noFill/>
          </a:ln>
        </p:spPr>
        <p:txBody>
          <a:bodyPr spcFirstLastPara="1" wrap="square" lIns="91425" tIns="91425" rIns="91425" bIns="91425" anchor="ctr" anchorCtr="0">
            <a:noAutofit/>
          </a:bodyPr>
          <a:lstStyle/>
          <a:p>
            <a:pPr lvl="0"/>
            <a:r>
              <a:rPr lang="es-CO" sz="2800" dirty="0">
                <a:solidFill>
                  <a:srgbClr val="787775"/>
                </a:solidFill>
                <a:highlight>
                  <a:srgbClr val="FFFFFF"/>
                </a:highlight>
              </a:rPr>
              <a:t>Conclusiones y recomendaciones</a:t>
            </a:r>
            <a:endParaRPr lang="es" sz="2800" dirty="0">
              <a:solidFill>
                <a:srgbClr val="4343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0" y="4509120"/>
            <a:ext cx="12192000" cy="553998"/>
          </a:xfrm>
          <a:prstGeom prst="rect">
            <a:avLst/>
          </a:prstGeom>
          <a:solidFill>
            <a:srgbClr val="00B09B"/>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000" b="1" dirty="0">
                <a:solidFill>
                  <a:schemeClr val="bg1"/>
                </a:solidFill>
                <a:latin typeface="Arial"/>
                <a:ea typeface="Arial"/>
                <a:cs typeface="Arial"/>
                <a:sym typeface="Arial"/>
              </a:rPr>
              <a:t>Contexto</a:t>
            </a:r>
          </a:p>
        </p:txBody>
      </p:sp>
    </p:spTree>
    <p:extLst>
      <p:ext uri="{BB962C8B-B14F-4D97-AF65-F5344CB8AC3E}">
        <p14:creationId xmlns:p14="http://schemas.microsoft.com/office/powerpoint/2010/main" val="2570828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6" name="5 Imagen"/>
          <p:cNvPicPr/>
          <p:nvPr/>
        </p:nvPicPr>
        <p:blipFill rotWithShape="1">
          <a:blip r:embed="rId3" cstate="print">
            <a:extLst>
              <a:ext uri="{28A0092B-C50C-407E-A947-70E740481C1C}">
                <a14:useLocalDpi xmlns:a14="http://schemas.microsoft.com/office/drawing/2010/main" val="0"/>
              </a:ext>
            </a:extLst>
          </a:blip>
          <a:srcRect l="3235" t="18385" r="4608"/>
          <a:stretch/>
        </p:blipFill>
        <p:spPr bwMode="auto">
          <a:xfrm>
            <a:off x="6449516" y="742673"/>
            <a:ext cx="4032448" cy="2130077"/>
          </a:xfrm>
          <a:prstGeom prst="rect">
            <a:avLst/>
          </a:prstGeom>
          <a:ln>
            <a:noFill/>
          </a:ln>
          <a:extLst>
            <a:ext uri="{53640926-AAD7-44D8-BBD7-CCE9431645EC}">
              <a14:shadowObscured xmlns:a14="http://schemas.microsoft.com/office/drawing/2010/main"/>
            </a:ext>
          </a:extLst>
        </p:spPr>
      </p:pic>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Contexto</a:t>
            </a:r>
            <a:endParaRPr dirty="0"/>
          </a:p>
        </p:txBody>
      </p:sp>
      <p:sp>
        <p:nvSpPr>
          <p:cNvPr id="97" name="Google Shape;97;p15"/>
          <p:cNvSpPr txBox="1"/>
          <p:nvPr/>
        </p:nvSpPr>
        <p:spPr>
          <a:xfrm>
            <a:off x="458354" y="2473977"/>
            <a:ext cx="5218966" cy="3108503"/>
          </a:xfrm>
          <a:prstGeom prst="rect">
            <a:avLst/>
          </a:prstGeom>
          <a:noFill/>
          <a:ln>
            <a:noFill/>
          </a:ln>
        </p:spPr>
        <p:txBody>
          <a:bodyPr spcFirstLastPara="1" wrap="square" lIns="91425" tIns="45700" rIns="91425" bIns="45700" anchor="t" anchorCtr="0">
            <a:spAutoFit/>
          </a:bodyPr>
          <a:lstStyle/>
          <a:p>
            <a:pPr lvl="0" algn="just"/>
            <a:r>
              <a:rPr lang="es-CO" sz="1600" dirty="0">
                <a:solidFill>
                  <a:srgbClr val="787775"/>
                </a:solidFill>
                <a:highlight>
                  <a:srgbClr val="FFFFFF"/>
                </a:highlight>
              </a:rPr>
              <a:t>- Dengue </a:t>
            </a:r>
            <a:r>
              <a:rPr lang="es-CO" sz="1600" b="1" dirty="0">
                <a:solidFill>
                  <a:srgbClr val="00B09B"/>
                </a:solidFill>
                <a:highlight>
                  <a:srgbClr val="FFFFFF"/>
                </a:highlight>
              </a:rPr>
              <a:t>infección viral </a:t>
            </a:r>
            <a:r>
              <a:rPr lang="es-CO" sz="1600" dirty="0">
                <a:solidFill>
                  <a:srgbClr val="787775"/>
                </a:solidFill>
                <a:highlight>
                  <a:srgbClr val="FFFFFF"/>
                </a:highlight>
              </a:rPr>
              <a:t>(4 serotipos)</a:t>
            </a:r>
          </a:p>
          <a:p>
            <a:pPr lvl="0" algn="just"/>
            <a:r>
              <a:rPr lang="es-ES" sz="1600" dirty="0">
                <a:solidFill>
                  <a:srgbClr val="787775"/>
                </a:solidFill>
                <a:highlight>
                  <a:srgbClr val="FFFFFF"/>
                </a:highlight>
              </a:rPr>
              <a:t>- C</a:t>
            </a:r>
            <a:r>
              <a:rPr lang="es-CO" sz="1600" dirty="0">
                <a:solidFill>
                  <a:srgbClr val="787775"/>
                </a:solidFill>
                <a:highlight>
                  <a:srgbClr val="FFFFFF"/>
                </a:highlight>
              </a:rPr>
              <a:t>limas tropicales y subtropicales</a:t>
            </a:r>
          </a:p>
          <a:p>
            <a:pPr algn="just"/>
            <a:r>
              <a:rPr lang="es-CO" sz="1600" dirty="0">
                <a:solidFill>
                  <a:srgbClr val="787775"/>
                </a:solidFill>
                <a:highlight>
                  <a:srgbClr val="FFFFFF"/>
                </a:highlight>
              </a:rPr>
              <a:t>- Mundial 505,430 casos 2000 vs </a:t>
            </a:r>
            <a:r>
              <a:rPr lang="es-CO" sz="2000" b="1" dirty="0">
                <a:solidFill>
                  <a:srgbClr val="00B09B"/>
                </a:solidFill>
                <a:highlight>
                  <a:srgbClr val="FFFFFF"/>
                </a:highlight>
              </a:rPr>
              <a:t>5.2 millones</a:t>
            </a:r>
            <a:r>
              <a:rPr lang="es-CO" sz="1600" dirty="0">
                <a:solidFill>
                  <a:srgbClr val="787775"/>
                </a:solidFill>
                <a:highlight>
                  <a:srgbClr val="FFFFFF"/>
                </a:highlight>
              </a:rPr>
              <a:t> 2019.</a:t>
            </a:r>
          </a:p>
          <a:p>
            <a:pPr algn="just"/>
            <a:r>
              <a:rPr lang="es-CO" sz="1600" dirty="0">
                <a:solidFill>
                  <a:srgbClr val="787775"/>
                </a:solidFill>
                <a:highlight>
                  <a:srgbClr val="FFFFFF"/>
                </a:highlight>
              </a:rPr>
              <a:t>- Mayor riesgo de padecer dengue grave o muerte si se infecta por otro serotipo</a:t>
            </a:r>
          </a:p>
          <a:p>
            <a:pPr algn="just"/>
            <a:r>
              <a:rPr lang="es-CO" sz="1600" b="1" dirty="0">
                <a:solidFill>
                  <a:srgbClr val="00B09B"/>
                </a:solidFill>
                <a:highlight>
                  <a:srgbClr val="FFFFFF"/>
                </a:highlight>
              </a:rPr>
              <a:t>- No hay medicina </a:t>
            </a:r>
            <a:r>
              <a:rPr lang="es-CO" sz="1600" dirty="0">
                <a:solidFill>
                  <a:srgbClr val="787775"/>
                </a:solidFill>
                <a:highlight>
                  <a:srgbClr val="FFFFFF"/>
                </a:highlight>
              </a:rPr>
              <a:t>específica para su tratamiento, de manera que las acciones se centran en la </a:t>
            </a:r>
            <a:r>
              <a:rPr lang="es-CO" sz="1600" b="1" dirty="0">
                <a:solidFill>
                  <a:srgbClr val="00B09B"/>
                </a:solidFill>
                <a:highlight>
                  <a:srgbClr val="FFFFFF"/>
                </a:highlight>
              </a:rPr>
              <a:t>prevención y control</a:t>
            </a:r>
            <a:r>
              <a:rPr lang="es-CO" sz="1600" dirty="0">
                <a:solidFill>
                  <a:srgbClr val="787775"/>
                </a:solidFill>
                <a:highlight>
                  <a:srgbClr val="FFFFFF"/>
                </a:highlight>
              </a:rPr>
              <a:t>.</a:t>
            </a:r>
          </a:p>
          <a:p>
            <a:pPr algn="just"/>
            <a:r>
              <a:rPr lang="es-CO" sz="1600" dirty="0">
                <a:solidFill>
                  <a:srgbClr val="787775"/>
                </a:solidFill>
                <a:highlight>
                  <a:srgbClr val="FFFFFF"/>
                </a:highlight>
              </a:rPr>
              <a:t>- Colombia comportamiento </a:t>
            </a:r>
            <a:r>
              <a:rPr lang="es-CO" sz="1600" dirty="0" err="1">
                <a:solidFill>
                  <a:srgbClr val="787775"/>
                </a:solidFill>
                <a:highlight>
                  <a:srgbClr val="FFFFFF"/>
                </a:highlight>
              </a:rPr>
              <a:t>endemo</a:t>
            </a:r>
            <a:r>
              <a:rPr lang="es-CO" sz="1600" dirty="0">
                <a:solidFill>
                  <a:srgbClr val="787775"/>
                </a:solidFill>
                <a:highlight>
                  <a:srgbClr val="FFFFFF"/>
                </a:highlight>
              </a:rPr>
              <a:t> - epidémico / 3 años</a:t>
            </a:r>
          </a:p>
          <a:p>
            <a:pPr algn="just"/>
            <a:r>
              <a:rPr lang="es-CO" sz="1600" dirty="0">
                <a:solidFill>
                  <a:srgbClr val="787775"/>
                </a:solidFill>
                <a:highlight>
                  <a:srgbClr val="FFFFFF"/>
                </a:highlight>
              </a:rPr>
              <a:t>- Circulan los 4 serotipos</a:t>
            </a:r>
            <a:endParaRPr sz="1600" dirty="0">
              <a:solidFill>
                <a:srgbClr val="787775"/>
              </a:solidFill>
              <a:highlight>
                <a:srgbClr val="FFFFFF"/>
              </a:highlight>
            </a:endParaRPr>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Epidemiología del Dengue</a:t>
            </a:r>
            <a:endParaRPr dirty="0"/>
          </a:p>
        </p:txBody>
      </p:sp>
      <p:pic>
        <p:nvPicPr>
          <p:cNvPr id="7" name="6 Imagen"/>
          <p:cNvPicPr/>
          <p:nvPr/>
        </p:nvPicPr>
        <p:blipFill>
          <a:blip r:embed="rId4" cstate="print">
            <a:extLst>
              <a:ext uri="{28A0092B-C50C-407E-A947-70E740481C1C}">
                <a14:useLocalDpi xmlns:a14="http://schemas.microsoft.com/office/drawing/2010/main" val="0"/>
              </a:ext>
            </a:extLst>
          </a:blip>
          <a:stretch>
            <a:fillRect/>
          </a:stretch>
        </p:blipFill>
        <p:spPr>
          <a:xfrm>
            <a:off x="6672064" y="3717032"/>
            <a:ext cx="1906270" cy="2038350"/>
          </a:xfrm>
          <a:prstGeom prst="rect">
            <a:avLst/>
          </a:prstGeom>
          <a:ln>
            <a:solidFill>
              <a:srgbClr val="00B050"/>
            </a:solidFill>
          </a:ln>
        </p:spPr>
      </p:pic>
      <p:pic>
        <p:nvPicPr>
          <p:cNvPr id="8" name="7 Imagen"/>
          <p:cNvPicPr/>
          <p:nvPr/>
        </p:nvPicPr>
        <p:blipFill>
          <a:blip r:embed="rId5" cstate="print">
            <a:extLst>
              <a:ext uri="{28A0092B-C50C-407E-A947-70E740481C1C}">
                <a14:useLocalDpi xmlns:a14="http://schemas.microsoft.com/office/drawing/2010/main" val="0"/>
              </a:ext>
            </a:extLst>
          </a:blip>
          <a:stretch>
            <a:fillRect/>
          </a:stretch>
        </p:blipFill>
        <p:spPr>
          <a:xfrm>
            <a:off x="9840416" y="3717032"/>
            <a:ext cx="1531273" cy="1734285"/>
          </a:xfrm>
          <a:prstGeom prst="rect">
            <a:avLst/>
          </a:prstGeom>
        </p:spPr>
      </p:pic>
      <p:cxnSp>
        <p:nvCxnSpPr>
          <p:cNvPr id="3" name="2 Conector recto"/>
          <p:cNvCxnSpPr>
            <a:stCxn id="10" idx="2"/>
          </p:cNvCxnSpPr>
          <p:nvPr/>
        </p:nvCxnSpPr>
        <p:spPr>
          <a:xfrm flipH="1">
            <a:off x="6384032" y="1898816"/>
            <a:ext cx="1044144" cy="144888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10 Conector recto"/>
          <p:cNvCxnSpPr>
            <a:stCxn id="10" idx="6"/>
          </p:cNvCxnSpPr>
          <p:nvPr/>
        </p:nvCxnSpPr>
        <p:spPr>
          <a:xfrm>
            <a:off x="7680176" y="1898816"/>
            <a:ext cx="1080120" cy="144888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9 Elipse"/>
          <p:cNvSpPr/>
          <p:nvPr/>
        </p:nvSpPr>
        <p:spPr>
          <a:xfrm>
            <a:off x="7428176" y="1772816"/>
            <a:ext cx="252000" cy="25200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18 Elipse"/>
          <p:cNvSpPr/>
          <p:nvPr/>
        </p:nvSpPr>
        <p:spPr>
          <a:xfrm>
            <a:off x="7140144" y="4581128"/>
            <a:ext cx="252000" cy="25200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0" name="19 Conector recto"/>
          <p:cNvCxnSpPr>
            <a:stCxn id="19" idx="0"/>
          </p:cNvCxnSpPr>
          <p:nvPr/>
        </p:nvCxnSpPr>
        <p:spPr>
          <a:xfrm flipV="1">
            <a:off x="7266144" y="3717032"/>
            <a:ext cx="2214232" cy="86409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a:off x="7266144" y="4833128"/>
            <a:ext cx="2073470" cy="92225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23 Rectángulo"/>
          <p:cNvSpPr/>
          <p:nvPr/>
        </p:nvSpPr>
        <p:spPr>
          <a:xfrm>
            <a:off x="5971541" y="5769434"/>
            <a:ext cx="3307316" cy="230832"/>
          </a:xfrm>
          <a:prstGeom prst="rect">
            <a:avLst/>
          </a:prstGeom>
        </p:spPr>
        <p:txBody>
          <a:bodyPr wrap="none">
            <a:spAutoFit/>
          </a:bodyPr>
          <a:lstStyle/>
          <a:p>
            <a:pPr algn="ctr"/>
            <a:r>
              <a:rPr lang="es-CO" sz="900" b="1" dirty="0">
                <a:solidFill>
                  <a:schemeClr val="bg1">
                    <a:lumMod val="75000"/>
                  </a:schemeClr>
                </a:solidFill>
              </a:rPr>
              <a:t>Fuente: </a:t>
            </a:r>
            <a:r>
              <a:rPr lang="es-CO" sz="900" dirty="0">
                <a:solidFill>
                  <a:schemeClr val="bg1">
                    <a:lumMod val="75000"/>
                  </a:schemeClr>
                </a:solidFill>
              </a:rPr>
              <a:t>Sivigila. Instituto Nacional de Salud. Colombia, 2023</a:t>
            </a:r>
          </a:p>
        </p:txBody>
      </p:sp>
      <p:sp>
        <p:nvSpPr>
          <p:cNvPr id="25" name="24 Rectángulo"/>
          <p:cNvSpPr/>
          <p:nvPr/>
        </p:nvSpPr>
        <p:spPr>
          <a:xfrm>
            <a:off x="7636025" y="2830905"/>
            <a:ext cx="1659429" cy="230832"/>
          </a:xfrm>
          <a:prstGeom prst="rect">
            <a:avLst/>
          </a:prstGeom>
        </p:spPr>
        <p:txBody>
          <a:bodyPr wrap="none">
            <a:spAutoFit/>
          </a:bodyPr>
          <a:lstStyle/>
          <a:p>
            <a:r>
              <a:rPr lang="es-CO" sz="900" dirty="0">
                <a:solidFill>
                  <a:schemeClr val="bg1">
                    <a:lumMod val="75000"/>
                  </a:schemeClr>
                </a:solidFill>
              </a:rPr>
              <a:t>Fuente: www. healthmap.org</a:t>
            </a:r>
          </a:p>
        </p:txBody>
      </p:sp>
      <p:sp>
        <p:nvSpPr>
          <p:cNvPr id="26" name="25 Rectángulo"/>
          <p:cNvSpPr/>
          <p:nvPr/>
        </p:nvSpPr>
        <p:spPr>
          <a:xfrm>
            <a:off x="6751168" y="476672"/>
            <a:ext cx="3429144" cy="230832"/>
          </a:xfrm>
          <a:prstGeom prst="rect">
            <a:avLst/>
          </a:prstGeom>
        </p:spPr>
        <p:txBody>
          <a:bodyPr wrap="none">
            <a:spAutoFit/>
          </a:bodyPr>
          <a:lstStyle/>
          <a:p>
            <a:r>
              <a:rPr lang="es-CO" sz="900" dirty="0">
                <a:solidFill>
                  <a:schemeClr val="bg1">
                    <a:lumMod val="75000"/>
                  </a:schemeClr>
                </a:solidFill>
              </a:rPr>
              <a:t>Distribución de los casos de dengue a nivel mundial. Año 2023</a:t>
            </a:r>
          </a:p>
        </p:txBody>
      </p:sp>
      <p:sp>
        <p:nvSpPr>
          <p:cNvPr id="27" name="26 Rectángulo"/>
          <p:cNvSpPr/>
          <p:nvPr/>
        </p:nvSpPr>
        <p:spPr>
          <a:xfrm>
            <a:off x="6095999" y="3347700"/>
            <a:ext cx="2952329" cy="369332"/>
          </a:xfrm>
          <a:prstGeom prst="rect">
            <a:avLst/>
          </a:prstGeom>
        </p:spPr>
        <p:txBody>
          <a:bodyPr wrap="square">
            <a:spAutoFit/>
          </a:bodyPr>
          <a:lstStyle/>
          <a:p>
            <a:pPr algn="ctr"/>
            <a:r>
              <a:rPr lang="es-CO" sz="900" dirty="0">
                <a:solidFill>
                  <a:schemeClr val="bg1">
                    <a:lumMod val="75000"/>
                  </a:schemeClr>
                </a:solidFill>
              </a:rPr>
              <a:t>Distribución casos de dengue por departamento en Colombia. Semana epidemiológica 32 de 2023</a:t>
            </a:r>
          </a:p>
        </p:txBody>
      </p:sp>
      <p:sp>
        <p:nvSpPr>
          <p:cNvPr id="30" name="29 Rectángulo"/>
          <p:cNvSpPr/>
          <p:nvPr/>
        </p:nvSpPr>
        <p:spPr>
          <a:xfrm>
            <a:off x="9339614" y="5435932"/>
            <a:ext cx="2517026" cy="369332"/>
          </a:xfrm>
          <a:prstGeom prst="rect">
            <a:avLst/>
          </a:prstGeom>
        </p:spPr>
        <p:txBody>
          <a:bodyPr wrap="square">
            <a:spAutoFit/>
          </a:bodyPr>
          <a:lstStyle/>
          <a:p>
            <a:pPr algn="ctr"/>
            <a:r>
              <a:rPr lang="es-CO" sz="900" b="1" dirty="0">
                <a:solidFill>
                  <a:schemeClr val="bg1">
                    <a:lumMod val="75000"/>
                  </a:schemeClr>
                </a:solidFill>
              </a:rPr>
              <a:t>Fuente: </a:t>
            </a:r>
            <a:r>
              <a:rPr lang="es-CO" sz="900" dirty="0">
                <a:solidFill>
                  <a:schemeClr val="bg1">
                    <a:lumMod val="75000"/>
                  </a:schemeClr>
                </a:solidFill>
              </a:rPr>
              <a:t>Sivigila. Secretaria de Salud Pública Distrital de Santiago de Cali, 2023</a:t>
            </a:r>
          </a:p>
        </p:txBody>
      </p:sp>
      <p:sp>
        <p:nvSpPr>
          <p:cNvPr id="33" name="32 Rectángulo"/>
          <p:cNvSpPr/>
          <p:nvPr/>
        </p:nvSpPr>
        <p:spPr>
          <a:xfrm>
            <a:off x="9362159" y="3167389"/>
            <a:ext cx="2471936" cy="507831"/>
          </a:xfrm>
          <a:prstGeom prst="rect">
            <a:avLst/>
          </a:prstGeom>
        </p:spPr>
        <p:txBody>
          <a:bodyPr wrap="square">
            <a:spAutoFit/>
          </a:bodyPr>
          <a:lstStyle/>
          <a:p>
            <a:pPr algn="ctr"/>
            <a:r>
              <a:rPr lang="es-CO" sz="900" dirty="0">
                <a:solidFill>
                  <a:schemeClr val="bg1">
                    <a:lumMod val="75000"/>
                  </a:schemeClr>
                </a:solidFill>
              </a:rPr>
              <a:t>Distribución casos de dengue en Santiago de Cali. Semana epidemiológica  43 del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Contexto</a:t>
            </a:r>
            <a:endParaRPr dirty="0"/>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Epidemiología del Dengue</a:t>
            </a:r>
            <a:endParaRPr dirty="0"/>
          </a:p>
        </p:txBody>
      </p:sp>
      <p:sp>
        <p:nvSpPr>
          <p:cNvPr id="26" name="25 Rectángulo"/>
          <p:cNvSpPr/>
          <p:nvPr/>
        </p:nvSpPr>
        <p:spPr>
          <a:xfrm>
            <a:off x="6240016" y="361256"/>
            <a:ext cx="4878259" cy="230832"/>
          </a:xfrm>
          <a:prstGeom prst="rect">
            <a:avLst/>
          </a:prstGeom>
        </p:spPr>
        <p:txBody>
          <a:bodyPr wrap="none">
            <a:spAutoFit/>
          </a:bodyPr>
          <a:lstStyle/>
          <a:p>
            <a:r>
              <a:rPr lang="es-CO" sz="900" dirty="0">
                <a:solidFill>
                  <a:schemeClr val="bg1">
                    <a:lumMod val="75000"/>
                  </a:schemeClr>
                </a:solidFill>
              </a:rPr>
              <a:t>Incidencia de dengue con y sin signos de alarma según sexo y edad. Santiago de Cali 2023</a:t>
            </a:r>
          </a:p>
        </p:txBody>
      </p:sp>
      <p:sp>
        <p:nvSpPr>
          <p:cNvPr id="27" name="26 Rectángulo"/>
          <p:cNvSpPr/>
          <p:nvPr/>
        </p:nvSpPr>
        <p:spPr>
          <a:xfrm>
            <a:off x="1739228" y="5157192"/>
            <a:ext cx="2376264" cy="230832"/>
          </a:xfrm>
          <a:prstGeom prst="rect">
            <a:avLst/>
          </a:prstGeom>
        </p:spPr>
        <p:txBody>
          <a:bodyPr wrap="square">
            <a:spAutoFit/>
          </a:bodyPr>
          <a:lstStyle/>
          <a:p>
            <a:pPr algn="ctr"/>
            <a:r>
              <a:rPr lang="es-CO" sz="900" b="1" dirty="0">
                <a:solidFill>
                  <a:schemeClr val="bg1">
                    <a:lumMod val="75000"/>
                  </a:schemeClr>
                </a:solidFill>
              </a:rPr>
              <a:t>Fuente:</a:t>
            </a:r>
            <a:r>
              <a:rPr lang="es-CO" sz="900" dirty="0">
                <a:solidFill>
                  <a:schemeClr val="bg1">
                    <a:lumMod val="75000"/>
                  </a:schemeClr>
                </a:solidFill>
              </a:rPr>
              <a:t> Sivigila</a:t>
            </a:r>
          </a:p>
        </p:txBody>
      </p:sp>
      <p:sp>
        <p:nvSpPr>
          <p:cNvPr id="30" name="29 Rectángulo"/>
          <p:cNvSpPr/>
          <p:nvPr/>
        </p:nvSpPr>
        <p:spPr>
          <a:xfrm>
            <a:off x="9062030" y="5935376"/>
            <a:ext cx="2517026" cy="230832"/>
          </a:xfrm>
          <a:prstGeom prst="rect">
            <a:avLst/>
          </a:prstGeom>
        </p:spPr>
        <p:txBody>
          <a:bodyPr wrap="square">
            <a:spAutoFit/>
          </a:bodyPr>
          <a:lstStyle/>
          <a:p>
            <a:pPr algn="ctr"/>
            <a:r>
              <a:rPr lang="es-CO" sz="900" b="1" dirty="0">
                <a:solidFill>
                  <a:schemeClr val="bg1">
                    <a:lumMod val="75000"/>
                  </a:schemeClr>
                </a:solidFill>
              </a:rPr>
              <a:t>Fuente: </a:t>
            </a:r>
            <a:r>
              <a:rPr lang="es-CO" sz="900" dirty="0">
                <a:solidFill>
                  <a:schemeClr val="bg1">
                    <a:lumMod val="75000"/>
                  </a:schemeClr>
                </a:solidFill>
              </a:rPr>
              <a:t>Sivigila.</a:t>
            </a:r>
          </a:p>
        </p:txBody>
      </p:sp>
      <p:sp>
        <p:nvSpPr>
          <p:cNvPr id="33" name="32 Rectángulo"/>
          <p:cNvSpPr/>
          <p:nvPr/>
        </p:nvSpPr>
        <p:spPr>
          <a:xfrm>
            <a:off x="9192344" y="3241223"/>
            <a:ext cx="2471936" cy="369332"/>
          </a:xfrm>
          <a:prstGeom prst="rect">
            <a:avLst/>
          </a:prstGeom>
        </p:spPr>
        <p:txBody>
          <a:bodyPr wrap="square">
            <a:spAutoFit/>
          </a:bodyPr>
          <a:lstStyle/>
          <a:p>
            <a:pPr algn="ctr"/>
            <a:r>
              <a:rPr lang="es-CO" sz="900" dirty="0">
                <a:solidFill>
                  <a:schemeClr val="bg1">
                    <a:lumMod val="75000"/>
                  </a:schemeClr>
                </a:solidFill>
              </a:rPr>
              <a:t>Incidencia de dengue grave por sexo y edad. Santiago de Cali 2023</a:t>
            </a:r>
          </a:p>
        </p:txBody>
      </p:sp>
      <p:graphicFrame>
        <p:nvGraphicFramePr>
          <p:cNvPr id="21" name="20 Gráfico"/>
          <p:cNvGraphicFramePr/>
          <p:nvPr>
            <p:extLst>
              <p:ext uri="{D42A27DB-BD31-4B8C-83A1-F6EECF244321}">
                <p14:modId xmlns:p14="http://schemas.microsoft.com/office/powerpoint/2010/main" val="848433347"/>
              </p:ext>
            </p:extLst>
          </p:nvPr>
        </p:nvGraphicFramePr>
        <p:xfrm>
          <a:off x="458354" y="2636912"/>
          <a:ext cx="4119004" cy="2591635"/>
        </p:xfrm>
        <a:graphic>
          <a:graphicData uri="http://schemas.openxmlformats.org/drawingml/2006/chart">
            <c:chart xmlns:c="http://schemas.openxmlformats.org/drawingml/2006/chart" xmlns:r="http://schemas.openxmlformats.org/officeDocument/2006/relationships" r:id="rId3"/>
          </a:graphicData>
        </a:graphic>
      </p:graphicFrame>
      <p:sp>
        <p:nvSpPr>
          <p:cNvPr id="28" name="27 Rectángulo"/>
          <p:cNvSpPr/>
          <p:nvPr/>
        </p:nvSpPr>
        <p:spPr>
          <a:xfrm>
            <a:off x="6698214" y="5793023"/>
            <a:ext cx="1063112" cy="230832"/>
          </a:xfrm>
          <a:prstGeom prst="rect">
            <a:avLst/>
          </a:prstGeom>
        </p:spPr>
        <p:txBody>
          <a:bodyPr wrap="none">
            <a:spAutoFit/>
          </a:bodyPr>
          <a:lstStyle/>
          <a:p>
            <a:pPr algn="ctr"/>
            <a:r>
              <a:rPr lang="es-CO" sz="900" b="1" dirty="0">
                <a:solidFill>
                  <a:schemeClr val="bg1">
                    <a:lumMod val="75000"/>
                  </a:schemeClr>
                </a:solidFill>
              </a:rPr>
              <a:t>Fuente: </a:t>
            </a:r>
            <a:r>
              <a:rPr lang="es-CO" sz="900" dirty="0">
                <a:solidFill>
                  <a:schemeClr val="bg1">
                    <a:lumMod val="75000"/>
                  </a:schemeClr>
                </a:solidFill>
              </a:rPr>
              <a:t>Sivigila.</a:t>
            </a:r>
          </a:p>
        </p:txBody>
      </p:sp>
      <p:sp>
        <p:nvSpPr>
          <p:cNvPr id="29" name="28 Rectángulo"/>
          <p:cNvSpPr/>
          <p:nvPr/>
        </p:nvSpPr>
        <p:spPr>
          <a:xfrm>
            <a:off x="911424" y="2492896"/>
            <a:ext cx="4031873" cy="230832"/>
          </a:xfrm>
          <a:prstGeom prst="rect">
            <a:avLst/>
          </a:prstGeom>
        </p:spPr>
        <p:txBody>
          <a:bodyPr wrap="none">
            <a:spAutoFit/>
          </a:bodyPr>
          <a:lstStyle/>
          <a:p>
            <a:r>
              <a:rPr lang="es-CO" sz="900" dirty="0">
                <a:solidFill>
                  <a:schemeClr val="bg1">
                    <a:lumMod val="75000"/>
                  </a:schemeClr>
                </a:solidFill>
              </a:rPr>
              <a:t>Curva epidémica  para el dengue en Santiago de Cali. Periodo 2019 - 2023</a:t>
            </a:r>
          </a:p>
        </p:txBody>
      </p:sp>
      <p:graphicFrame>
        <p:nvGraphicFramePr>
          <p:cNvPr id="32" name="31 Gráfico"/>
          <p:cNvGraphicFramePr/>
          <p:nvPr>
            <p:extLst>
              <p:ext uri="{D42A27DB-BD31-4B8C-83A1-F6EECF244321}">
                <p14:modId xmlns:p14="http://schemas.microsoft.com/office/powerpoint/2010/main" val="4114670471"/>
              </p:ext>
            </p:extLst>
          </p:nvPr>
        </p:nvGraphicFramePr>
        <p:xfrm>
          <a:off x="5519936" y="3679804"/>
          <a:ext cx="2945803" cy="2078976"/>
        </p:xfrm>
        <a:graphic>
          <a:graphicData uri="http://schemas.openxmlformats.org/drawingml/2006/chart">
            <c:chart xmlns:c="http://schemas.openxmlformats.org/drawingml/2006/chart" xmlns:r="http://schemas.openxmlformats.org/officeDocument/2006/relationships" r:id="rId4"/>
          </a:graphicData>
        </a:graphic>
      </p:graphicFrame>
      <p:sp>
        <p:nvSpPr>
          <p:cNvPr id="34" name="33 Rectángulo"/>
          <p:cNvSpPr/>
          <p:nvPr/>
        </p:nvSpPr>
        <p:spPr>
          <a:xfrm>
            <a:off x="5663952" y="3171973"/>
            <a:ext cx="2729778" cy="507831"/>
          </a:xfrm>
          <a:prstGeom prst="rect">
            <a:avLst/>
          </a:prstGeom>
        </p:spPr>
        <p:txBody>
          <a:bodyPr wrap="square">
            <a:spAutoFit/>
          </a:bodyPr>
          <a:lstStyle/>
          <a:p>
            <a:pPr algn="ctr"/>
            <a:r>
              <a:rPr lang="es-CO" sz="900" dirty="0">
                <a:solidFill>
                  <a:schemeClr val="bg1">
                    <a:lumMod val="75000"/>
                  </a:schemeClr>
                </a:solidFill>
              </a:rPr>
              <a:t>Distribución casos acumulados de dengue notificados en Cali, por grupos de edad y sexo. Semana epidemiológica 43 del 2023</a:t>
            </a:r>
          </a:p>
        </p:txBody>
      </p:sp>
      <p:graphicFrame>
        <p:nvGraphicFramePr>
          <p:cNvPr id="35" name="34 Gráfico"/>
          <p:cNvGraphicFramePr/>
          <p:nvPr>
            <p:extLst>
              <p:ext uri="{D42A27DB-BD31-4B8C-83A1-F6EECF244321}">
                <p14:modId xmlns:p14="http://schemas.microsoft.com/office/powerpoint/2010/main" val="3607851753"/>
              </p:ext>
            </p:extLst>
          </p:nvPr>
        </p:nvGraphicFramePr>
        <p:xfrm>
          <a:off x="5693271" y="844698"/>
          <a:ext cx="2768600" cy="23272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6" name="35 Gráfico"/>
          <p:cNvGraphicFramePr/>
          <p:nvPr>
            <p:extLst>
              <p:ext uri="{D42A27DB-BD31-4B8C-83A1-F6EECF244321}">
                <p14:modId xmlns:p14="http://schemas.microsoft.com/office/powerpoint/2010/main" val="4166486127"/>
              </p:ext>
            </p:extLst>
          </p:nvPr>
        </p:nvGraphicFramePr>
        <p:xfrm>
          <a:off x="8679145" y="844698"/>
          <a:ext cx="2878137" cy="232727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9" name="38 Gráfico"/>
          <p:cNvGraphicFramePr/>
          <p:nvPr>
            <p:extLst>
              <p:ext uri="{D42A27DB-BD31-4B8C-83A1-F6EECF244321}">
                <p14:modId xmlns:p14="http://schemas.microsoft.com/office/powerpoint/2010/main" val="2672349632"/>
              </p:ext>
            </p:extLst>
          </p:nvPr>
        </p:nvGraphicFramePr>
        <p:xfrm>
          <a:off x="8832304" y="3610555"/>
          <a:ext cx="2986481" cy="2413299"/>
        </p:xfrm>
        <a:graphic>
          <a:graphicData uri="http://schemas.openxmlformats.org/drawingml/2006/chart">
            <c:chart xmlns:c="http://schemas.openxmlformats.org/drawingml/2006/chart" xmlns:r="http://schemas.openxmlformats.org/officeDocument/2006/relationships" r:id="rId7"/>
          </a:graphicData>
        </a:graphic>
      </p:graphicFrame>
      <p:sp>
        <p:nvSpPr>
          <p:cNvPr id="40" name="39 Rectángulo"/>
          <p:cNvSpPr/>
          <p:nvPr/>
        </p:nvSpPr>
        <p:spPr>
          <a:xfrm>
            <a:off x="6615907" y="592088"/>
            <a:ext cx="825867" cy="230832"/>
          </a:xfrm>
          <a:prstGeom prst="rect">
            <a:avLst/>
          </a:prstGeom>
        </p:spPr>
        <p:txBody>
          <a:bodyPr wrap="none">
            <a:spAutoFit/>
          </a:bodyPr>
          <a:lstStyle/>
          <a:p>
            <a:r>
              <a:rPr lang="es-CO" sz="900" dirty="0">
                <a:solidFill>
                  <a:schemeClr val="bg1">
                    <a:lumMod val="75000"/>
                  </a:schemeClr>
                </a:solidFill>
              </a:rPr>
              <a:t>(a) Hombres</a:t>
            </a:r>
          </a:p>
        </p:txBody>
      </p:sp>
      <p:sp>
        <p:nvSpPr>
          <p:cNvPr id="41" name="40 Rectángulo"/>
          <p:cNvSpPr/>
          <p:nvPr/>
        </p:nvSpPr>
        <p:spPr>
          <a:xfrm>
            <a:off x="9552384" y="629072"/>
            <a:ext cx="768159" cy="230832"/>
          </a:xfrm>
          <a:prstGeom prst="rect">
            <a:avLst/>
          </a:prstGeom>
        </p:spPr>
        <p:txBody>
          <a:bodyPr wrap="none">
            <a:spAutoFit/>
          </a:bodyPr>
          <a:lstStyle/>
          <a:p>
            <a:r>
              <a:rPr lang="es-CO" sz="900" dirty="0">
                <a:solidFill>
                  <a:schemeClr val="bg1">
                    <a:lumMod val="75000"/>
                  </a:schemeClr>
                </a:solidFill>
              </a:rPr>
              <a:t>(b) Mujeres</a:t>
            </a:r>
          </a:p>
        </p:txBody>
      </p:sp>
    </p:spTree>
    <p:extLst>
      <p:ext uri="{BB962C8B-B14F-4D97-AF65-F5344CB8AC3E}">
        <p14:creationId xmlns:p14="http://schemas.microsoft.com/office/powerpoint/2010/main" val="3633207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0" y="4509120"/>
            <a:ext cx="12192000" cy="553998"/>
          </a:xfrm>
          <a:prstGeom prst="rect">
            <a:avLst/>
          </a:prstGeom>
          <a:solidFill>
            <a:srgbClr val="00B09B"/>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000" b="1" dirty="0">
                <a:solidFill>
                  <a:schemeClr val="bg1"/>
                </a:solidFill>
                <a:latin typeface="Arial"/>
                <a:ea typeface="Arial"/>
                <a:cs typeface="Arial"/>
                <a:sym typeface="Arial"/>
              </a:rPr>
              <a:t>Estimación de la carga de la enfermedad por dengue</a:t>
            </a:r>
          </a:p>
        </p:txBody>
      </p:sp>
    </p:spTree>
    <p:extLst>
      <p:ext uri="{BB962C8B-B14F-4D97-AF65-F5344CB8AC3E}">
        <p14:creationId xmlns:p14="http://schemas.microsoft.com/office/powerpoint/2010/main" val="46942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97" name="Google Shape;97;p15"/>
          <p:cNvSpPr txBox="1"/>
          <p:nvPr/>
        </p:nvSpPr>
        <p:spPr>
          <a:xfrm>
            <a:off x="458354" y="3212976"/>
            <a:ext cx="5218966" cy="1077178"/>
          </a:xfrm>
          <a:prstGeom prst="rect">
            <a:avLst/>
          </a:prstGeom>
          <a:noFill/>
          <a:ln>
            <a:noFill/>
          </a:ln>
        </p:spPr>
        <p:txBody>
          <a:bodyPr spcFirstLastPara="1" wrap="square" lIns="91425" tIns="45700" rIns="91425" bIns="45700" anchor="t" anchorCtr="0">
            <a:spAutoFit/>
          </a:bodyPr>
          <a:lstStyle/>
          <a:p>
            <a:pPr algn="just"/>
            <a:r>
              <a:rPr lang="es-ES" sz="1600" dirty="0">
                <a:solidFill>
                  <a:srgbClr val="787775"/>
                </a:solidFill>
                <a:highlight>
                  <a:srgbClr val="FFFFFF"/>
                </a:highlight>
              </a:rPr>
              <a:t>Es la medición de la perdida de años de vida vividos saludablemente en las personas, como consecuencia de la mortalidad y/o morbilidad por una enfermedad determinada.</a:t>
            </a:r>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Definición</a:t>
            </a:r>
            <a:endParaRPr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959" y="2708920"/>
            <a:ext cx="6333031"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2365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98" name="Google Shape;98;p15"/>
          <p:cNvSpPr txBox="1"/>
          <p:nvPr/>
        </p:nvSpPr>
        <p:spPr>
          <a:xfrm>
            <a:off x="477826" y="2135423"/>
            <a:ext cx="3888432" cy="615513"/>
          </a:xfrm>
          <a:prstGeom prst="rect">
            <a:avLst/>
          </a:prstGeom>
          <a:noFill/>
          <a:ln>
            <a:noFill/>
          </a:ln>
        </p:spPr>
        <p:txBody>
          <a:bodyPr spcFirstLastPara="1" wrap="square" lIns="91425" tIns="45700" rIns="91425" bIns="45700" anchor="t" anchorCtr="0">
            <a:spAutoFit/>
          </a:bodyPr>
          <a:lstStyle/>
          <a:p>
            <a:r>
              <a:rPr lang="es-ES" sz="2000" b="1" dirty="0">
                <a:solidFill>
                  <a:srgbClr val="787775"/>
                </a:solidFill>
              </a:rPr>
              <a:t>Modelo de enfermedad</a:t>
            </a:r>
            <a:endParaRPr lang="es-CO" sz="800" i="1" dirty="0"/>
          </a:p>
          <a:p>
            <a:pPr marL="0" marR="0" lvl="0" indent="0" algn="l" rtl="0">
              <a:spcBef>
                <a:spcPts val="0"/>
              </a:spcBef>
              <a:spcAft>
                <a:spcPts val="0"/>
              </a:spcAft>
              <a:buNone/>
            </a:pPr>
            <a:endParaRPr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824" y="1700808"/>
            <a:ext cx="7416824" cy="4194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4511427" y="1319815"/>
            <a:ext cx="7416824" cy="261610"/>
          </a:xfrm>
          <a:prstGeom prst="rect">
            <a:avLst/>
          </a:prstGeom>
        </p:spPr>
        <p:txBody>
          <a:bodyPr wrap="square">
            <a:spAutoFit/>
          </a:bodyPr>
          <a:lstStyle/>
          <a:p>
            <a:pPr algn="ctr"/>
            <a:r>
              <a:rPr lang="es-CO" sz="1100" b="1" dirty="0">
                <a:solidFill>
                  <a:schemeClr val="bg1">
                    <a:lumMod val="75000"/>
                  </a:schemeClr>
                </a:solidFill>
              </a:rPr>
              <a:t>Modelo de le enfermedad por dengue para calcular la carga de los peligros derivados de la infección</a:t>
            </a:r>
          </a:p>
        </p:txBody>
      </p:sp>
    </p:spTree>
    <p:extLst>
      <p:ext uri="{BB962C8B-B14F-4D97-AF65-F5344CB8AC3E}">
        <p14:creationId xmlns:p14="http://schemas.microsoft.com/office/powerpoint/2010/main" val="330909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Forma de cálculo</a:t>
            </a:r>
            <a:endParaRPr dirty="0"/>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2559" r="32559"/>
          <a:stretch/>
        </p:blipFill>
        <p:spPr bwMode="auto">
          <a:xfrm>
            <a:off x="1127447" y="2499471"/>
            <a:ext cx="4070201" cy="885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8" name="Google Shape;97;p15"/>
              <p:cNvSpPr txBox="1"/>
              <p:nvPr/>
            </p:nvSpPr>
            <p:spPr>
              <a:xfrm>
                <a:off x="407703" y="3697250"/>
                <a:ext cx="7149814" cy="1815841"/>
              </a:xfrm>
              <a:prstGeom prst="rect">
                <a:avLst/>
              </a:prstGeom>
              <a:noFill/>
              <a:ln>
                <a:noFill/>
              </a:ln>
            </p:spPr>
            <p:txBody>
              <a:bodyPr spcFirstLastPara="1" wrap="square" lIns="91425" tIns="45700" rIns="91425" bIns="45700" anchor="t" anchorCtr="0">
                <a:spAutoFit/>
              </a:bodyPr>
              <a:lstStyle/>
              <a:p>
                <a:pPr lvl="0"/>
                <a:r>
                  <a:rPr lang="es" sz="1600" dirty="0">
                    <a:solidFill>
                      <a:srgbClr val="787775"/>
                    </a:solidFill>
                    <a:highlight>
                      <a:srgbClr val="FFFFFF"/>
                    </a:highlight>
                  </a:rPr>
                  <a:t>Donde</a:t>
                </a:r>
              </a:p>
              <a:p>
                <a:pPr lvl="0"/>
                <a14:m>
                  <m:oMath xmlns:m="http://schemas.openxmlformats.org/officeDocument/2006/math">
                    <m:r>
                      <a:rPr lang="es-CO" sz="1600">
                        <a:solidFill>
                          <a:srgbClr val="787775"/>
                        </a:solidFill>
                        <a:highlight>
                          <a:srgbClr val="FFFFFF"/>
                        </a:highlight>
                        <a:latin typeface="Cambria Math"/>
                      </a:rPr>
                      <m:t>𝑎</m:t>
                    </m:r>
                    <m:r>
                      <a:rPr lang="es-ES" sz="1600">
                        <a:solidFill>
                          <a:srgbClr val="787775"/>
                        </a:solidFill>
                        <a:highlight>
                          <a:srgbClr val="FFFFFF"/>
                        </a:highlight>
                        <a:latin typeface="Cambria Math"/>
                      </a:rPr>
                      <m:t> </m:t>
                    </m:r>
                  </m:oMath>
                </a14:m>
                <a:r>
                  <a:rPr lang="es" sz="1600" dirty="0">
                    <a:solidFill>
                      <a:srgbClr val="787775"/>
                    </a:solidFill>
                    <a:highlight>
                      <a:srgbClr val="FFFFFF"/>
                    </a:highlight>
                  </a:rPr>
                  <a:t> Edad de inicio</a:t>
                </a:r>
              </a:p>
              <a:p>
                <a:pPr lvl="0"/>
                <a14:m>
                  <m:oMath xmlns:m="http://schemas.openxmlformats.org/officeDocument/2006/math">
                    <m:r>
                      <a:rPr lang="es-ES" sz="1600">
                        <a:solidFill>
                          <a:srgbClr val="787775"/>
                        </a:solidFill>
                        <a:highlight>
                          <a:srgbClr val="FFFFFF"/>
                        </a:highlight>
                        <a:latin typeface="Cambria Math"/>
                      </a:rPr>
                      <m:t>𝐿</m:t>
                    </m:r>
                  </m:oMath>
                </a14:m>
                <a:r>
                  <a:rPr lang="es" sz="1600" dirty="0">
                    <a:solidFill>
                      <a:srgbClr val="787775"/>
                    </a:solidFill>
                    <a:highlight>
                      <a:srgbClr val="FFFFFF"/>
                    </a:highlight>
                  </a:rPr>
                  <a:t>  Duración de la discapacidad o el tiempo perdido por mortalidad prematura</a:t>
                </a:r>
              </a:p>
              <a:p>
                <a14:m>
                  <m:oMath xmlns:m="http://schemas.openxmlformats.org/officeDocument/2006/math">
                    <m:r>
                      <a:rPr lang="es-ES" sz="1600" smtClean="0">
                        <a:solidFill>
                          <a:srgbClr val="787775"/>
                        </a:solidFill>
                        <a:highlight>
                          <a:srgbClr val="FFFFFF"/>
                        </a:highlight>
                        <a:latin typeface="Cambria Math"/>
                      </a:rPr>
                      <m:t>𝐷</m:t>
                    </m:r>
                  </m:oMath>
                </a14:m>
                <a:r>
                  <a:rPr lang="es-CO" sz="1600" dirty="0">
                    <a:solidFill>
                      <a:srgbClr val="787775"/>
                    </a:solidFill>
                    <a:highlight>
                      <a:srgbClr val="FFFFFF"/>
                    </a:highlight>
                  </a:rPr>
                  <a:t> Peso de la discapacidad</a:t>
                </a:r>
              </a:p>
              <a:p>
                <a14:m>
                  <m:oMath xmlns:m="http://schemas.openxmlformats.org/officeDocument/2006/math">
                    <m:r>
                      <a:rPr lang="es-ES" sz="1600">
                        <a:solidFill>
                          <a:srgbClr val="787775"/>
                        </a:solidFill>
                        <a:highlight>
                          <a:srgbClr val="FFFFFF"/>
                        </a:highlight>
                        <a:latin typeface="Cambria Math"/>
                      </a:rPr>
                      <m:t>𝐶</m:t>
                    </m:r>
                  </m:oMath>
                </a14:m>
                <a:r>
                  <a:rPr lang="es-CO" sz="1600" dirty="0">
                    <a:solidFill>
                      <a:srgbClr val="787775"/>
                    </a:solidFill>
                    <a:highlight>
                      <a:srgbClr val="FFFFFF"/>
                    </a:highlight>
                  </a:rPr>
                  <a:t> Constante de corrección del peso por edad</a:t>
                </a:r>
              </a:p>
              <a:p>
                <a14:m>
                  <m:oMath xmlns:m="http://schemas.openxmlformats.org/officeDocument/2006/math">
                    <m:r>
                      <a:rPr lang="es-CO" sz="1600">
                        <a:solidFill>
                          <a:srgbClr val="787775"/>
                        </a:solidFill>
                        <a:highlight>
                          <a:srgbClr val="FFFFFF"/>
                        </a:highlight>
                        <a:latin typeface="Cambria Math"/>
                      </a:rPr>
                      <m:t>𝛽</m:t>
                    </m:r>
                    <m:r>
                      <a:rPr lang="es-ES" sz="1600" b="0" i="0" smtClean="0">
                        <a:solidFill>
                          <a:srgbClr val="787775"/>
                        </a:solidFill>
                        <a:highlight>
                          <a:srgbClr val="FFFFFF"/>
                        </a:highlight>
                        <a:latin typeface="Cambria Math"/>
                      </a:rPr>
                      <m:t> </m:t>
                    </m:r>
                  </m:oMath>
                </a14:m>
                <a:r>
                  <a:rPr lang="es-CO" sz="1600" dirty="0">
                    <a:solidFill>
                      <a:srgbClr val="787775"/>
                    </a:solidFill>
                    <a:highlight>
                      <a:srgbClr val="FFFFFF"/>
                    </a:highlight>
                  </a:rPr>
                  <a:t>Parámetro derivado de la función de ponderación por edad</a:t>
                </a:r>
              </a:p>
              <a:p>
                <a14:m>
                  <m:oMath xmlns:m="http://schemas.openxmlformats.org/officeDocument/2006/math">
                    <m:r>
                      <a:rPr lang="es-ES" sz="1600">
                        <a:solidFill>
                          <a:srgbClr val="787775"/>
                        </a:solidFill>
                        <a:highlight>
                          <a:srgbClr val="FFFFFF"/>
                        </a:highlight>
                        <a:latin typeface="Cambria Math"/>
                      </a:rPr>
                      <m:t>𝑟</m:t>
                    </m:r>
                  </m:oMath>
                </a14:m>
                <a:r>
                  <a:rPr lang="es" sz="1600" dirty="0">
                    <a:solidFill>
                      <a:srgbClr val="787775"/>
                    </a:solidFill>
                    <a:highlight>
                      <a:srgbClr val="FFFFFF"/>
                    </a:highlight>
                  </a:rPr>
                  <a:t> Tasa de actualización</a:t>
                </a:r>
              </a:p>
            </p:txBody>
          </p:sp>
        </mc:Choice>
        <mc:Fallback xmlns="">
          <p:sp>
            <p:nvSpPr>
              <p:cNvPr id="8" name="Google Shape;97;p15"/>
              <p:cNvSpPr txBox="1">
                <a:spLocks noRot="1" noChangeAspect="1" noMove="1" noResize="1" noEditPoints="1" noAdjustHandles="1" noChangeArrowheads="1" noChangeShapeType="1" noTextEdit="1"/>
              </p:cNvSpPr>
              <p:nvPr/>
            </p:nvSpPr>
            <p:spPr>
              <a:xfrm>
                <a:off x="407703" y="3697250"/>
                <a:ext cx="7149814" cy="1815841"/>
              </a:xfrm>
              <a:prstGeom prst="rect">
                <a:avLst/>
              </a:prstGeom>
              <a:blipFill rotWithShape="1">
                <a:blip r:embed="rId4"/>
                <a:stretch>
                  <a:fillRect l="-512" t="-1010" b="-3704"/>
                </a:stretch>
              </a:blipFill>
              <a:ln>
                <a:noFill/>
              </a:ln>
            </p:spPr>
            <p:txBody>
              <a:bodyPr/>
              <a:lstStyle/>
              <a:p>
                <a:r>
                  <a:rPr lang="es-CO">
                    <a:noFill/>
                  </a:rPr>
                  <a:t> </a:t>
                </a:r>
              </a:p>
            </p:txBody>
          </p:sp>
        </mc:Fallback>
      </mc:AlternateContent>
      <p:pic>
        <p:nvPicPr>
          <p:cNvPr id="205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38203" t="45000" r="34688" b="21944"/>
          <a:stretch/>
        </p:blipFill>
        <p:spPr bwMode="auto">
          <a:xfrm>
            <a:off x="7536160" y="2219058"/>
            <a:ext cx="4307034" cy="2954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7796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97" name="Google Shape;97;p15"/>
          <p:cNvSpPr txBox="1"/>
          <p:nvPr/>
        </p:nvSpPr>
        <p:spPr>
          <a:xfrm>
            <a:off x="623392" y="2473977"/>
            <a:ext cx="9217024" cy="2308284"/>
          </a:xfrm>
          <a:prstGeom prst="rect">
            <a:avLst/>
          </a:prstGeom>
          <a:noFill/>
          <a:ln>
            <a:noFill/>
          </a:ln>
        </p:spPr>
        <p:txBody>
          <a:bodyPr spcFirstLastPara="1" wrap="square" lIns="91425" tIns="45700" rIns="91425" bIns="45700" anchor="t" anchorCtr="0">
            <a:spAutoFit/>
          </a:bodyPr>
          <a:lstStyle/>
          <a:p>
            <a:pPr marL="514350" lvl="0" indent="-514350" algn="just">
              <a:buFont typeface="+mj-lt"/>
              <a:buAutoNum type="arabicPeriod"/>
            </a:pPr>
            <a:r>
              <a:rPr lang="es" sz="1600" dirty="0">
                <a:solidFill>
                  <a:srgbClr val="787775"/>
                </a:solidFill>
                <a:highlight>
                  <a:srgbClr val="FFFFFF"/>
                </a:highlight>
              </a:rPr>
              <a:t>Area y poblacion de estudio: Distrito de Santiago de Cali años 2019 a 2023</a:t>
            </a:r>
          </a:p>
          <a:p>
            <a:pPr marL="514350" lvl="0" indent="-514350" algn="just">
              <a:buFont typeface="+mj-lt"/>
              <a:buAutoNum type="arabicPeriod"/>
            </a:pPr>
            <a:r>
              <a:rPr lang="es" sz="1600" dirty="0">
                <a:solidFill>
                  <a:srgbClr val="787775"/>
                </a:solidFill>
                <a:highlight>
                  <a:srgbClr val="FFFFFF"/>
                </a:highlight>
              </a:rPr>
              <a:t>Definicion de variables: Edad, sexo, muertes por dengue, muertes por todas las causas, incidencia, APP, AVD, AVAD.</a:t>
            </a:r>
          </a:p>
          <a:p>
            <a:pPr marL="514350" lvl="0" indent="-514350" algn="just">
              <a:buFont typeface="+mj-lt"/>
              <a:buAutoNum type="arabicPeriod"/>
            </a:pPr>
            <a:r>
              <a:rPr lang="es" sz="1600" dirty="0">
                <a:solidFill>
                  <a:srgbClr val="787775"/>
                </a:solidFill>
                <a:highlight>
                  <a:srgbClr val="FFFFFF"/>
                </a:highlight>
              </a:rPr>
              <a:t>Fuentes de datos: Sivigila fichas de notificacion codigo 210, 220 y 580. Proyecciones de poblacion a riesgo para dengue MSPS. Estadisticas vitales DANE.</a:t>
            </a:r>
          </a:p>
          <a:p>
            <a:pPr marL="514350" lvl="0" indent="-514350" algn="just">
              <a:buFont typeface="+mj-lt"/>
              <a:buAutoNum type="arabicPeriod"/>
            </a:pPr>
            <a:r>
              <a:rPr lang="es" sz="1600" dirty="0">
                <a:solidFill>
                  <a:srgbClr val="787775"/>
                </a:solidFill>
                <a:highlight>
                  <a:srgbClr val="FFFFFF"/>
                </a:highlight>
              </a:rPr>
              <a:t>Calidad del dato.</a:t>
            </a:r>
          </a:p>
          <a:p>
            <a:pPr marL="514350" lvl="0" indent="-514350" algn="just">
              <a:buFont typeface="+mj-lt"/>
              <a:buAutoNum type="arabicPeriod"/>
            </a:pPr>
            <a:r>
              <a:rPr lang="es" sz="1600" dirty="0">
                <a:solidFill>
                  <a:srgbClr val="787775"/>
                </a:solidFill>
                <a:highlight>
                  <a:srgbClr val="FFFFFF"/>
                </a:highlight>
              </a:rPr>
              <a:t>Plan de analisis: Estimar la duracion promedio y la gravedad a partir del modelo de enfermedad. Estimar la incidencia, mortalidad, APP, AVD y AVAD. Evaluar la sensibilidad de las estimaciones.</a:t>
            </a:r>
            <a:endParaRPr lang="es-ES" sz="1600" dirty="0">
              <a:solidFill>
                <a:srgbClr val="787775"/>
              </a:solidFill>
              <a:highlight>
                <a:srgbClr val="FFFFFF"/>
              </a:highlight>
            </a:endParaRPr>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Consideraciones</a:t>
            </a:r>
            <a:endParaRPr dirty="0"/>
          </a:p>
        </p:txBody>
      </p:sp>
    </p:spTree>
    <p:extLst>
      <p:ext uri="{BB962C8B-B14F-4D97-AF65-F5344CB8AC3E}">
        <p14:creationId xmlns:p14="http://schemas.microsoft.com/office/powerpoint/2010/main" val="597639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98" name="Google Shape;98;p15"/>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Calidad del dato: consistencia interna</a:t>
            </a:r>
            <a:endParaRP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680" y="2808907"/>
            <a:ext cx="4891770" cy="26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Rectángulo"/>
          <p:cNvSpPr/>
          <p:nvPr/>
        </p:nvSpPr>
        <p:spPr>
          <a:xfrm>
            <a:off x="3105281" y="2546219"/>
            <a:ext cx="5112568" cy="253916"/>
          </a:xfrm>
          <a:prstGeom prst="rect">
            <a:avLst/>
          </a:prstGeom>
        </p:spPr>
        <p:txBody>
          <a:bodyPr wrap="square">
            <a:spAutoFit/>
          </a:bodyPr>
          <a:lstStyle/>
          <a:p>
            <a:pPr algn="ctr"/>
            <a:r>
              <a:rPr lang="es-CO" sz="1050" dirty="0">
                <a:solidFill>
                  <a:schemeClr val="bg1">
                    <a:lumMod val="75000"/>
                  </a:schemeClr>
                </a:solidFill>
              </a:rPr>
              <a:t>Esquema del modelo de prevalencia e incidencia de la universidad de Harvard</a:t>
            </a:r>
          </a:p>
        </p:txBody>
      </p:sp>
    </p:spTree>
    <p:extLst>
      <p:ext uri="{BB962C8B-B14F-4D97-AF65-F5344CB8AC3E}">
        <p14:creationId xmlns:p14="http://schemas.microsoft.com/office/powerpoint/2010/main" val="467798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106" name="Google Shape;106;p16"/>
          <p:cNvSpPr txBox="1"/>
          <p:nvPr/>
        </p:nvSpPr>
        <p:spPr>
          <a:xfrm>
            <a:off x="458354" y="2019003"/>
            <a:ext cx="493395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Resultados</a:t>
            </a:r>
            <a:endParaRPr dirty="0"/>
          </a:p>
        </p:txBody>
      </p:sp>
      <p:pic>
        <p:nvPicPr>
          <p:cNvPr id="6" name="Picture 10"/>
          <p:cNvPicPr>
            <a:picLocks noChangeAspect="1" noChangeArrowheads="1"/>
          </p:cNvPicPr>
          <p:nvPr/>
        </p:nvPicPr>
        <p:blipFill rotWithShape="1">
          <a:blip r:embed="rId3">
            <a:extLst>
              <a:ext uri="{28A0092B-C50C-407E-A947-70E740481C1C}">
                <a14:useLocalDpi xmlns:a14="http://schemas.microsoft.com/office/drawing/2010/main" val="0"/>
              </a:ext>
            </a:extLst>
          </a:blip>
          <a:srcRect r="5872" b="3758"/>
          <a:stretch/>
        </p:blipFill>
        <p:spPr bwMode="auto">
          <a:xfrm>
            <a:off x="5015880" y="836712"/>
            <a:ext cx="6718374" cy="504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6 Rectángulo"/>
          <p:cNvSpPr/>
          <p:nvPr/>
        </p:nvSpPr>
        <p:spPr>
          <a:xfrm>
            <a:off x="551384" y="2437711"/>
            <a:ext cx="2814835" cy="2416046"/>
          </a:xfrm>
          <a:prstGeom prst="rect">
            <a:avLst/>
          </a:prstGeom>
        </p:spPr>
        <p:txBody>
          <a:bodyPr wrap="square">
            <a:spAutoFit/>
          </a:bodyPr>
          <a:lstStyle/>
          <a:p>
            <a:r>
              <a:rPr lang="es-CO" dirty="0"/>
              <a:t>Número reportado de:</a:t>
            </a:r>
          </a:p>
          <a:p>
            <a:endParaRPr lang="es-CO" dirty="0"/>
          </a:p>
          <a:p>
            <a:pPr marL="342900" lvl="3" indent="-342900">
              <a:buFont typeface="+mj-lt"/>
              <a:buAutoNum type="alphaLcParenR"/>
            </a:pPr>
            <a:r>
              <a:rPr lang="es-CO" dirty="0"/>
              <a:t>Casos de dengue</a:t>
            </a:r>
          </a:p>
          <a:p>
            <a:endParaRPr lang="es-CO" dirty="0"/>
          </a:p>
          <a:p>
            <a:pPr marL="342900" indent="-342900">
              <a:buFont typeface="+mj-lt"/>
              <a:buAutoNum type="alphaLcParenR" startAt="2"/>
            </a:pPr>
            <a:r>
              <a:rPr lang="es-CO" dirty="0"/>
              <a:t>Casos de dengue grave</a:t>
            </a:r>
          </a:p>
          <a:p>
            <a:endParaRPr lang="es-CO" dirty="0"/>
          </a:p>
          <a:p>
            <a:pPr marL="342900" indent="-342900">
              <a:buFont typeface="+mj-lt"/>
              <a:buAutoNum type="alphaLcParenR" startAt="3"/>
            </a:pPr>
            <a:r>
              <a:rPr lang="es-CO" dirty="0"/>
              <a:t>Muertes por dengue</a:t>
            </a:r>
          </a:p>
          <a:p>
            <a:endParaRPr lang="es-CO" dirty="0"/>
          </a:p>
          <a:p>
            <a:pPr marL="342900" indent="-342900">
              <a:buFont typeface="+mj-lt"/>
              <a:buAutoNum type="alphaLcParenR" startAt="4"/>
            </a:pPr>
            <a:r>
              <a:rPr lang="es-CO" dirty="0"/>
              <a:t>Distribución porcentual de casos según tipo </a:t>
            </a:r>
          </a:p>
          <a:p>
            <a:endParaRPr lang="es-CO"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106" name="Google Shape;106;p16"/>
          <p:cNvSpPr txBox="1"/>
          <p:nvPr/>
        </p:nvSpPr>
        <p:spPr>
          <a:xfrm>
            <a:off x="458354" y="2019003"/>
            <a:ext cx="10390174"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000" b="1" dirty="0">
                <a:solidFill>
                  <a:srgbClr val="787775"/>
                </a:solidFill>
                <a:latin typeface="Arial"/>
                <a:ea typeface="Arial"/>
                <a:cs typeface="Arial"/>
                <a:sym typeface="Arial"/>
              </a:rPr>
              <a:t>Calculo de los APP, AVD y AVAD por dengue. Santiago de Cali 2019 a 2023</a:t>
            </a:r>
            <a:endParaRPr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48" y="2564904"/>
            <a:ext cx="9468938" cy="211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Rectángulo"/>
          <p:cNvSpPr/>
          <p:nvPr/>
        </p:nvSpPr>
        <p:spPr>
          <a:xfrm>
            <a:off x="5064262" y="4681379"/>
            <a:ext cx="1595309" cy="230832"/>
          </a:xfrm>
          <a:prstGeom prst="rect">
            <a:avLst/>
          </a:prstGeom>
        </p:spPr>
        <p:txBody>
          <a:bodyPr wrap="none">
            <a:spAutoFit/>
          </a:bodyPr>
          <a:lstStyle/>
          <a:p>
            <a:r>
              <a:rPr lang="es-CO" sz="900" b="1" dirty="0"/>
              <a:t>Fuente: </a:t>
            </a:r>
            <a:r>
              <a:rPr lang="es-CO" sz="900" dirty="0"/>
              <a:t>Elaboración propia</a:t>
            </a:r>
          </a:p>
        </p:txBody>
      </p:sp>
    </p:spTree>
    <p:extLst>
      <p:ext uri="{BB962C8B-B14F-4D97-AF65-F5344CB8AC3E}">
        <p14:creationId xmlns:p14="http://schemas.microsoft.com/office/powerpoint/2010/main" val="4273582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407368" y="1218818"/>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graphicFrame>
        <p:nvGraphicFramePr>
          <p:cNvPr id="7" name="6 Gráfico"/>
          <p:cNvGraphicFramePr/>
          <p:nvPr>
            <p:extLst>
              <p:ext uri="{D42A27DB-BD31-4B8C-83A1-F6EECF244321}">
                <p14:modId xmlns:p14="http://schemas.microsoft.com/office/powerpoint/2010/main" val="2935839117"/>
              </p:ext>
            </p:extLst>
          </p:nvPr>
        </p:nvGraphicFramePr>
        <p:xfrm>
          <a:off x="460314" y="1885474"/>
          <a:ext cx="3902211" cy="180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8 Gráfico"/>
          <p:cNvGraphicFramePr/>
          <p:nvPr>
            <p:extLst>
              <p:ext uri="{D42A27DB-BD31-4B8C-83A1-F6EECF244321}">
                <p14:modId xmlns:p14="http://schemas.microsoft.com/office/powerpoint/2010/main" val="569650666"/>
              </p:ext>
            </p:extLst>
          </p:nvPr>
        </p:nvGraphicFramePr>
        <p:xfrm>
          <a:off x="381869" y="3861048"/>
          <a:ext cx="4953000" cy="198481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10 Gráfico"/>
          <p:cNvGraphicFramePr/>
          <p:nvPr>
            <p:extLst>
              <p:ext uri="{D42A27DB-BD31-4B8C-83A1-F6EECF244321}">
                <p14:modId xmlns:p14="http://schemas.microsoft.com/office/powerpoint/2010/main" val="3798703453"/>
              </p:ext>
            </p:extLst>
          </p:nvPr>
        </p:nvGraphicFramePr>
        <p:xfrm>
          <a:off x="5735960" y="764704"/>
          <a:ext cx="5472608" cy="248310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11 Gráfico"/>
          <p:cNvGraphicFramePr/>
          <p:nvPr>
            <p:extLst>
              <p:ext uri="{D42A27DB-BD31-4B8C-83A1-F6EECF244321}">
                <p14:modId xmlns:p14="http://schemas.microsoft.com/office/powerpoint/2010/main" val="3362180792"/>
              </p:ext>
            </p:extLst>
          </p:nvPr>
        </p:nvGraphicFramePr>
        <p:xfrm>
          <a:off x="5519936" y="3501008"/>
          <a:ext cx="5613400" cy="2616200"/>
        </p:xfrm>
        <a:graphic>
          <a:graphicData uri="http://schemas.openxmlformats.org/drawingml/2006/chart">
            <c:chart xmlns:c="http://schemas.openxmlformats.org/drawingml/2006/chart" xmlns:r="http://schemas.openxmlformats.org/officeDocument/2006/relationships" r:id="rId6"/>
          </a:graphicData>
        </a:graphic>
      </p:graphicFrame>
      <p:sp>
        <p:nvSpPr>
          <p:cNvPr id="2" name="1 Rectángulo"/>
          <p:cNvSpPr/>
          <p:nvPr/>
        </p:nvSpPr>
        <p:spPr>
          <a:xfrm>
            <a:off x="263352" y="1700808"/>
            <a:ext cx="4464496" cy="369332"/>
          </a:xfrm>
          <a:prstGeom prst="rect">
            <a:avLst/>
          </a:prstGeom>
        </p:spPr>
        <p:txBody>
          <a:bodyPr wrap="square">
            <a:spAutoFit/>
          </a:bodyPr>
          <a:lstStyle/>
          <a:p>
            <a:pPr algn="ctr"/>
            <a:r>
              <a:rPr lang="es-CO" sz="900" b="1" dirty="0">
                <a:solidFill>
                  <a:schemeClr val="bg1">
                    <a:lumMod val="75000"/>
                  </a:schemeClr>
                </a:solidFill>
              </a:rPr>
              <a:t>Contribución porcentual de los APP y AVD en los AVAD por dengue años 2019 a 2023. Santiago de Cali.</a:t>
            </a:r>
          </a:p>
        </p:txBody>
      </p:sp>
      <p:sp>
        <p:nvSpPr>
          <p:cNvPr id="3" name="2 Rectángulo"/>
          <p:cNvSpPr/>
          <p:nvPr/>
        </p:nvSpPr>
        <p:spPr>
          <a:xfrm>
            <a:off x="407368" y="3645024"/>
            <a:ext cx="4560168" cy="369332"/>
          </a:xfrm>
          <a:prstGeom prst="rect">
            <a:avLst/>
          </a:prstGeom>
        </p:spPr>
        <p:txBody>
          <a:bodyPr wrap="square">
            <a:spAutoFit/>
          </a:bodyPr>
          <a:lstStyle/>
          <a:p>
            <a:pPr algn="ctr"/>
            <a:r>
              <a:rPr lang="es-CO" sz="900" b="1" dirty="0">
                <a:solidFill>
                  <a:schemeClr val="bg1">
                    <a:lumMod val="75000"/>
                  </a:schemeClr>
                </a:solidFill>
              </a:rPr>
              <a:t>APP, AVD y AVAD por dengue para los años 2019 a 2023. Distrito de Santiago de Cali</a:t>
            </a:r>
          </a:p>
        </p:txBody>
      </p:sp>
      <p:sp>
        <p:nvSpPr>
          <p:cNvPr id="4" name="3 Rectángulo"/>
          <p:cNvSpPr/>
          <p:nvPr/>
        </p:nvSpPr>
        <p:spPr>
          <a:xfrm>
            <a:off x="5519936" y="548680"/>
            <a:ext cx="5208240" cy="230832"/>
          </a:xfrm>
          <a:prstGeom prst="rect">
            <a:avLst/>
          </a:prstGeom>
        </p:spPr>
        <p:txBody>
          <a:bodyPr wrap="square">
            <a:spAutoFit/>
          </a:bodyPr>
          <a:lstStyle/>
          <a:p>
            <a:pPr algn="ctr"/>
            <a:r>
              <a:rPr lang="es-CO" sz="900" b="1" dirty="0">
                <a:solidFill>
                  <a:schemeClr val="bg1">
                    <a:lumMod val="75000"/>
                  </a:schemeClr>
                </a:solidFill>
              </a:rPr>
              <a:t>Histórico de años de vida ajustados por discapacidad (AVAD) según sexo. Santiago de Cali</a:t>
            </a:r>
          </a:p>
        </p:txBody>
      </p:sp>
      <p:sp>
        <p:nvSpPr>
          <p:cNvPr id="5" name="4 Rectángulo"/>
          <p:cNvSpPr/>
          <p:nvPr/>
        </p:nvSpPr>
        <p:spPr>
          <a:xfrm>
            <a:off x="6023992" y="3309178"/>
            <a:ext cx="4920208" cy="230832"/>
          </a:xfrm>
          <a:prstGeom prst="rect">
            <a:avLst/>
          </a:prstGeom>
        </p:spPr>
        <p:txBody>
          <a:bodyPr wrap="square">
            <a:spAutoFit/>
          </a:bodyPr>
          <a:lstStyle/>
          <a:p>
            <a:pPr algn="ctr"/>
            <a:r>
              <a:rPr lang="es-CO" sz="900" b="1" dirty="0">
                <a:solidFill>
                  <a:schemeClr val="bg1">
                    <a:lumMod val="75000"/>
                  </a:schemeClr>
                </a:solidFill>
              </a:rPr>
              <a:t>AVAD por dengue según grupos de edad, años 2019 a 2023. Santiago de Cali.</a:t>
            </a:r>
          </a:p>
        </p:txBody>
      </p:sp>
    </p:spTree>
    <p:extLst>
      <p:ext uri="{BB962C8B-B14F-4D97-AF65-F5344CB8AC3E}">
        <p14:creationId xmlns:p14="http://schemas.microsoft.com/office/powerpoint/2010/main" val="317113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Carga de la enfermedad</a:t>
            </a:r>
            <a:endParaRPr dirty="0"/>
          </a:p>
        </p:txBody>
      </p:sp>
      <p:sp>
        <p:nvSpPr>
          <p:cNvPr id="114" name="Google Shape;114;p17"/>
          <p:cNvSpPr txBox="1"/>
          <p:nvPr/>
        </p:nvSpPr>
        <p:spPr>
          <a:xfrm>
            <a:off x="458354" y="2019003"/>
            <a:ext cx="3621422" cy="400069"/>
          </a:xfrm>
          <a:prstGeom prst="rect">
            <a:avLst/>
          </a:prstGeom>
          <a:noFill/>
          <a:ln>
            <a:noFill/>
          </a:ln>
        </p:spPr>
        <p:txBody>
          <a:bodyPr spcFirstLastPara="1" wrap="square" lIns="91425" tIns="45700" rIns="91425" bIns="45700" anchor="t" anchorCtr="0">
            <a:spAutoFit/>
          </a:bodyPr>
          <a:lstStyle/>
          <a:p>
            <a:pPr lvl="0"/>
            <a:r>
              <a:rPr lang="es-CO" sz="2000" b="1" dirty="0">
                <a:solidFill>
                  <a:srgbClr val="787775"/>
                </a:solidFill>
              </a:rPr>
              <a:t>Análisis de sensibilidad</a:t>
            </a:r>
            <a:endParaRPr sz="2000" b="1" dirty="0">
              <a:solidFill>
                <a:srgbClr val="787775"/>
              </a:solidFill>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880" y="1271811"/>
            <a:ext cx="6912768" cy="4455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0" y="4509120"/>
            <a:ext cx="12192000" cy="553998"/>
          </a:xfrm>
          <a:prstGeom prst="rect">
            <a:avLst/>
          </a:prstGeom>
          <a:solidFill>
            <a:srgbClr val="00B09B"/>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000" b="1" dirty="0">
                <a:solidFill>
                  <a:schemeClr val="bg1"/>
                </a:solidFill>
                <a:latin typeface="Arial"/>
                <a:ea typeface="Arial"/>
                <a:cs typeface="Arial"/>
                <a:sym typeface="Arial"/>
              </a:rPr>
              <a:t>Estimación de los costos en salud y bienestar</a:t>
            </a:r>
          </a:p>
        </p:txBody>
      </p:sp>
    </p:spTree>
    <p:extLst>
      <p:ext uri="{BB962C8B-B14F-4D97-AF65-F5344CB8AC3E}">
        <p14:creationId xmlns:p14="http://schemas.microsoft.com/office/powerpoint/2010/main" val="141381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Estimación de costos</a:t>
            </a:r>
            <a:endParaRPr dirty="0"/>
          </a:p>
        </p:txBody>
      </p:sp>
      <p:sp>
        <p:nvSpPr>
          <p:cNvPr id="91" name="Google Shape;91;p14"/>
          <p:cNvSpPr txBox="1"/>
          <p:nvPr/>
        </p:nvSpPr>
        <p:spPr>
          <a:xfrm>
            <a:off x="458354" y="2019003"/>
            <a:ext cx="9238046"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dirty="0">
                <a:solidFill>
                  <a:srgbClr val="787775"/>
                </a:solidFill>
                <a:latin typeface="Arial"/>
                <a:ea typeface="Arial"/>
                <a:cs typeface="Arial"/>
                <a:sym typeface="Arial"/>
              </a:rPr>
              <a:t>Costos del tratamiento por ruta de atención – Sistema de Salud</a:t>
            </a:r>
          </a:p>
          <a:p>
            <a:r>
              <a:rPr lang="es-ES" sz="2000" b="1" dirty="0">
                <a:solidFill>
                  <a:srgbClr val="787775"/>
                </a:solidFill>
                <a:latin typeface="Arial"/>
                <a:ea typeface="Arial"/>
                <a:cs typeface="Arial"/>
                <a:sym typeface="Arial"/>
              </a:rPr>
              <a:t>Pérdida de bienestar – Costo de los AVAD</a:t>
            </a:r>
          </a:p>
        </p:txBody>
      </p:sp>
      <p:sp>
        <p:nvSpPr>
          <p:cNvPr id="6" name="13 Rectángulo">
            <a:extLst>
              <a:ext uri="{FF2B5EF4-FFF2-40B4-BE49-F238E27FC236}">
                <a16:creationId xmlns:a16="http://schemas.microsoft.com/office/drawing/2014/main" id="{7C3DED5F-4F1F-4C5D-8D17-63D63396EEAF}"/>
              </a:ext>
            </a:extLst>
          </p:cNvPr>
          <p:cNvSpPr/>
          <p:nvPr/>
        </p:nvSpPr>
        <p:spPr>
          <a:xfrm>
            <a:off x="438237" y="4441024"/>
            <a:ext cx="4905261" cy="430887"/>
          </a:xfrm>
          <a:prstGeom prst="rect">
            <a:avLst/>
          </a:prstGeom>
          <a:noFill/>
        </p:spPr>
        <p:txBody>
          <a:bodyPr wrap="square">
            <a:spAutoFit/>
          </a:bodyPr>
          <a:lstStyle/>
          <a:p>
            <a:r>
              <a:rPr lang="es-CO" sz="1100" b="1" dirty="0">
                <a:solidFill>
                  <a:srgbClr val="787775"/>
                </a:solidFill>
                <a:highlight>
                  <a:srgbClr val="FFFFFF"/>
                </a:highlight>
              </a:rPr>
              <a:t>Fuente: </a:t>
            </a:r>
            <a:r>
              <a:rPr lang="es-CO" sz="1100" dirty="0">
                <a:solidFill>
                  <a:srgbClr val="787775"/>
                </a:solidFill>
                <a:highlight>
                  <a:srgbClr val="FFFFFF"/>
                </a:highlight>
              </a:rPr>
              <a:t>Elaboración propia</a:t>
            </a:r>
          </a:p>
          <a:p>
            <a:r>
              <a:rPr lang="es-CO" sz="1100" b="1" dirty="0">
                <a:solidFill>
                  <a:srgbClr val="787775"/>
                </a:solidFill>
                <a:highlight>
                  <a:srgbClr val="FFFFFF"/>
                </a:highlight>
              </a:rPr>
              <a:t>Fuente Datos: </a:t>
            </a:r>
            <a:r>
              <a:rPr lang="es-CO" sz="1100" dirty="0">
                <a:solidFill>
                  <a:srgbClr val="787775"/>
                </a:solidFill>
                <a:highlight>
                  <a:srgbClr val="FFFFFF"/>
                </a:highlight>
              </a:rPr>
              <a:t>: Secretaría Distrital de Salud Pública – Registros SIVIGILA</a:t>
            </a:r>
          </a:p>
        </p:txBody>
      </p:sp>
      <p:graphicFrame>
        <p:nvGraphicFramePr>
          <p:cNvPr id="7" name="Tabla 6">
            <a:extLst>
              <a:ext uri="{FF2B5EF4-FFF2-40B4-BE49-F238E27FC236}">
                <a16:creationId xmlns:a16="http://schemas.microsoft.com/office/drawing/2014/main" id="{602CD66F-6B76-4973-8A33-28A2766A9C20}"/>
              </a:ext>
            </a:extLst>
          </p:cNvPr>
          <p:cNvGraphicFramePr>
            <a:graphicFrameLocks noGrp="1"/>
          </p:cNvGraphicFramePr>
          <p:nvPr>
            <p:extLst>
              <p:ext uri="{D42A27DB-BD31-4B8C-83A1-F6EECF244321}">
                <p14:modId xmlns:p14="http://schemas.microsoft.com/office/powerpoint/2010/main" val="2268908219"/>
              </p:ext>
            </p:extLst>
          </p:nvPr>
        </p:nvGraphicFramePr>
        <p:xfrm>
          <a:off x="458353" y="2927210"/>
          <a:ext cx="10966239" cy="1498594"/>
        </p:xfrm>
        <a:graphic>
          <a:graphicData uri="http://schemas.openxmlformats.org/drawingml/2006/table">
            <a:tbl>
              <a:tblPr>
                <a:tableStyleId>{5940675A-B579-460E-94D1-54222C63F5DA}</a:tableStyleId>
              </a:tblPr>
              <a:tblGrid>
                <a:gridCol w="3837447">
                  <a:extLst>
                    <a:ext uri="{9D8B030D-6E8A-4147-A177-3AD203B41FA5}">
                      <a16:colId xmlns:a16="http://schemas.microsoft.com/office/drawing/2014/main" val="3663089595"/>
                    </a:ext>
                  </a:extLst>
                </a:gridCol>
                <a:gridCol w="1188132">
                  <a:extLst>
                    <a:ext uri="{9D8B030D-6E8A-4147-A177-3AD203B41FA5}">
                      <a16:colId xmlns:a16="http://schemas.microsoft.com/office/drawing/2014/main" val="554728795"/>
                    </a:ext>
                  </a:extLst>
                </a:gridCol>
                <a:gridCol w="1188132">
                  <a:extLst>
                    <a:ext uri="{9D8B030D-6E8A-4147-A177-3AD203B41FA5}">
                      <a16:colId xmlns:a16="http://schemas.microsoft.com/office/drawing/2014/main" val="3830018552"/>
                    </a:ext>
                  </a:extLst>
                </a:gridCol>
                <a:gridCol w="1188132">
                  <a:extLst>
                    <a:ext uri="{9D8B030D-6E8A-4147-A177-3AD203B41FA5}">
                      <a16:colId xmlns:a16="http://schemas.microsoft.com/office/drawing/2014/main" val="1863525315"/>
                    </a:ext>
                  </a:extLst>
                </a:gridCol>
                <a:gridCol w="1188132">
                  <a:extLst>
                    <a:ext uri="{9D8B030D-6E8A-4147-A177-3AD203B41FA5}">
                      <a16:colId xmlns:a16="http://schemas.microsoft.com/office/drawing/2014/main" val="35704765"/>
                    </a:ext>
                  </a:extLst>
                </a:gridCol>
                <a:gridCol w="1188132">
                  <a:extLst>
                    <a:ext uri="{9D8B030D-6E8A-4147-A177-3AD203B41FA5}">
                      <a16:colId xmlns:a16="http://schemas.microsoft.com/office/drawing/2014/main" val="1548022783"/>
                    </a:ext>
                  </a:extLst>
                </a:gridCol>
                <a:gridCol w="1188132">
                  <a:extLst>
                    <a:ext uri="{9D8B030D-6E8A-4147-A177-3AD203B41FA5}">
                      <a16:colId xmlns:a16="http://schemas.microsoft.com/office/drawing/2014/main" val="3720962805"/>
                    </a:ext>
                  </a:extLst>
                </a:gridCol>
              </a:tblGrid>
              <a:tr h="200657">
                <a:tc>
                  <a:txBody>
                    <a:bodyPr/>
                    <a:lstStyle/>
                    <a:p>
                      <a:pPr marL="0" marR="0" lvl="0" indent="0" algn="l" rtl="0" fontAlgn="ctr">
                        <a:lnSpc>
                          <a:spcPct val="100000"/>
                        </a:lnSpc>
                        <a:spcBef>
                          <a:spcPts val="0"/>
                        </a:spcBef>
                        <a:spcAft>
                          <a:spcPts val="0"/>
                        </a:spcAft>
                        <a:buClr>
                          <a:srgbClr val="000000"/>
                        </a:buClr>
                        <a:buFont typeface="Arial"/>
                        <a:buNone/>
                      </a:pPr>
                      <a:r>
                        <a:rPr lang="es-CO" sz="1800" b="1" i="0" u="none" strike="noStrike" cap="none" dirty="0">
                          <a:solidFill>
                            <a:schemeClr val="lt1"/>
                          </a:solidFill>
                          <a:latin typeface="+mn-lt"/>
                          <a:ea typeface="+mn-ea"/>
                          <a:cs typeface="League Spartan"/>
                          <a:sym typeface="Arial"/>
                        </a:rPr>
                        <a:t>Años</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CO" sz="1800" b="1" u="none" strike="noStrike" dirty="0">
                          <a:solidFill>
                            <a:schemeClr val="bg1"/>
                          </a:solidFill>
                          <a:effectLst/>
                          <a:latin typeface="+mn-lt"/>
                        </a:rPr>
                        <a:t>2019</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CO" sz="1800" b="1" u="none" strike="noStrike" dirty="0">
                          <a:solidFill>
                            <a:schemeClr val="bg1"/>
                          </a:solidFill>
                          <a:effectLst/>
                          <a:latin typeface="+mn-lt"/>
                        </a:rPr>
                        <a:t>2020</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CO" sz="1800" b="1" u="none" strike="noStrike" dirty="0">
                          <a:solidFill>
                            <a:schemeClr val="bg1"/>
                          </a:solidFill>
                          <a:effectLst/>
                          <a:latin typeface="+mn-lt"/>
                        </a:rPr>
                        <a:t>2021</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CO" sz="1800" b="1" u="none" strike="noStrike" dirty="0">
                          <a:solidFill>
                            <a:schemeClr val="bg1"/>
                          </a:solidFill>
                          <a:effectLst/>
                          <a:latin typeface="+mn-lt"/>
                        </a:rPr>
                        <a:t>2022</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CO" sz="1800" b="1" u="none" strike="noStrike" dirty="0">
                          <a:solidFill>
                            <a:schemeClr val="bg1"/>
                          </a:solidFill>
                          <a:effectLst/>
                          <a:latin typeface="+mn-lt"/>
                        </a:rPr>
                        <a:t>10-2023</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tc>
                  <a:txBody>
                    <a:bodyPr/>
                    <a:lstStyle/>
                    <a:p>
                      <a:pPr algn="ctr" fontAlgn="b"/>
                      <a:r>
                        <a:rPr lang="es-MX" sz="1800" b="1" i="0" u="none" strike="noStrike" dirty="0">
                          <a:solidFill>
                            <a:schemeClr val="bg1"/>
                          </a:solidFill>
                          <a:effectLst/>
                          <a:latin typeface="+mn-lt"/>
                        </a:rPr>
                        <a:t>2019-2023</a:t>
                      </a:r>
                      <a:endParaRPr lang="es-CO" sz="1800" b="1" i="0" u="none" strike="noStrike" dirty="0">
                        <a:solidFill>
                          <a:schemeClr val="bg1"/>
                        </a:solidFill>
                        <a:effectLst/>
                        <a:latin typeface="+mn-lt"/>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0B09B"/>
                    </a:solidFill>
                  </a:tcPr>
                </a:tc>
                <a:extLst>
                  <a:ext uri="{0D108BD9-81ED-4DB2-BD59-A6C34878D82A}">
                    <a16:rowId xmlns:a16="http://schemas.microsoft.com/office/drawing/2014/main" val="3320013638"/>
                  </a:ext>
                </a:extLst>
              </a:tr>
              <a:tr h="200657">
                <a:tc>
                  <a:txBody>
                    <a:bodyPr/>
                    <a:lstStyle/>
                    <a:p>
                      <a:pPr marL="0" marR="0" lvl="0" indent="0" algn="l" rtl="0" fontAlgn="ctr">
                        <a:lnSpc>
                          <a:spcPct val="100000"/>
                        </a:lnSpc>
                        <a:spcBef>
                          <a:spcPts val="0"/>
                        </a:spcBef>
                        <a:spcAft>
                          <a:spcPts val="0"/>
                        </a:spcAft>
                        <a:buClr>
                          <a:srgbClr val="000000"/>
                        </a:buClr>
                        <a:buFont typeface="Arial"/>
                        <a:buNone/>
                      </a:pPr>
                      <a:r>
                        <a:rPr lang="es-CO" sz="1800" b="0" i="0" u="none" strike="noStrike" cap="none" dirty="0">
                          <a:solidFill>
                            <a:srgbClr val="787775"/>
                          </a:solidFill>
                          <a:latin typeface="Arial"/>
                          <a:ea typeface="+mn-ea"/>
                          <a:cs typeface="Arial"/>
                          <a:sym typeface="Arial"/>
                        </a:rPr>
                        <a:t>Casos Dengue Ambulatorio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2,076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7,247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3,369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1,834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5,483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20,009</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46676156"/>
                  </a:ext>
                </a:extLst>
              </a:tr>
              <a:tr h="200657">
                <a:tc>
                  <a:txBody>
                    <a:bodyPr/>
                    <a:lstStyle/>
                    <a:p>
                      <a:pPr marL="0" marR="0" lvl="0" indent="0" algn="l" rtl="0" fontAlgn="ctr">
                        <a:lnSpc>
                          <a:spcPct val="100000"/>
                        </a:lnSpc>
                        <a:spcBef>
                          <a:spcPts val="0"/>
                        </a:spcBef>
                        <a:spcAft>
                          <a:spcPts val="0"/>
                        </a:spcAft>
                        <a:buClr>
                          <a:srgbClr val="000000"/>
                        </a:buClr>
                        <a:buFont typeface="Arial"/>
                        <a:buNone/>
                      </a:pPr>
                      <a:r>
                        <a:rPr lang="es-CO" sz="1800" b="0" i="0" u="none" strike="noStrike" cap="none" dirty="0">
                          <a:solidFill>
                            <a:srgbClr val="787775"/>
                          </a:solidFill>
                          <a:latin typeface="Arial"/>
                          <a:ea typeface="+mn-ea"/>
                          <a:cs typeface="Arial"/>
                          <a:sym typeface="Arial"/>
                        </a:rPr>
                        <a:t>Casos Hospitalización Dengue</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2,045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6,708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2,403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956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3,588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15,700</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6450515"/>
                  </a:ext>
                </a:extLst>
              </a:tr>
              <a:tr h="401314">
                <a:tc>
                  <a:txBody>
                    <a:bodyPr/>
                    <a:lstStyle/>
                    <a:p>
                      <a:pPr marL="0" marR="0" lvl="0" indent="0" algn="l" rtl="0" fontAlgn="ctr">
                        <a:lnSpc>
                          <a:spcPct val="100000"/>
                        </a:lnSpc>
                        <a:spcBef>
                          <a:spcPts val="0"/>
                        </a:spcBef>
                        <a:spcAft>
                          <a:spcPts val="0"/>
                        </a:spcAft>
                        <a:buClr>
                          <a:srgbClr val="000000"/>
                        </a:buClr>
                        <a:buFont typeface="Arial"/>
                        <a:buNone/>
                      </a:pPr>
                      <a:r>
                        <a:rPr lang="es-CO" sz="1800" b="0" i="0" u="none" strike="noStrike" cap="none" dirty="0">
                          <a:solidFill>
                            <a:srgbClr val="787775"/>
                          </a:solidFill>
                          <a:latin typeface="Arial"/>
                          <a:ea typeface="+mn-ea"/>
                          <a:cs typeface="Arial"/>
                          <a:sym typeface="Arial"/>
                        </a:rPr>
                        <a:t>Casos Hospitalización Dengue grave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62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184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62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CO" sz="1800" b="0" i="0" u="none" strike="noStrike" cap="none" dirty="0">
                          <a:solidFill>
                            <a:srgbClr val="787775"/>
                          </a:solidFill>
                          <a:latin typeface="Arial"/>
                          <a:ea typeface="+mn-ea"/>
                          <a:cs typeface="Arial"/>
                          <a:sym typeface="Arial"/>
                        </a:rPr>
                        <a:t>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431</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9229412"/>
                  </a:ext>
                </a:extLst>
              </a:tr>
              <a:tr h="200657">
                <a:tc>
                  <a:txBody>
                    <a:bodyPr/>
                    <a:lstStyle/>
                    <a:p>
                      <a:pPr marL="0" marR="0" lvl="0" indent="0" algn="l" rtl="0" fontAlgn="ctr">
                        <a:lnSpc>
                          <a:spcPct val="100000"/>
                        </a:lnSpc>
                        <a:spcBef>
                          <a:spcPts val="0"/>
                        </a:spcBef>
                        <a:spcAft>
                          <a:spcPts val="0"/>
                        </a:spcAft>
                        <a:buClr>
                          <a:srgbClr val="000000"/>
                        </a:buClr>
                        <a:buFont typeface="Arial"/>
                        <a:buNone/>
                      </a:pPr>
                      <a:r>
                        <a:rPr lang="es-MX" sz="1800" b="0" i="0" u="none" strike="noStrike" cap="none" dirty="0">
                          <a:solidFill>
                            <a:srgbClr val="787775"/>
                          </a:solidFill>
                          <a:latin typeface="Arial"/>
                          <a:ea typeface="+mn-ea"/>
                          <a:cs typeface="Arial"/>
                          <a:sym typeface="Arial"/>
                        </a:rPr>
                        <a:t>Total de casos</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4,183</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es-MX" sz="1800" b="1" i="0" u="none" strike="noStrike" cap="none" dirty="0">
                          <a:solidFill>
                            <a:srgbClr val="787775"/>
                          </a:solidFill>
                          <a:latin typeface="Arial"/>
                          <a:ea typeface="+mn-ea"/>
                          <a:cs typeface="Arial"/>
                          <a:sym typeface="Arial"/>
                        </a:rPr>
                        <a:t>14,139</a:t>
                      </a:r>
                      <a:endParaRPr lang="es-CO" sz="1800" b="1"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5,834</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0" i="0" u="none" strike="noStrike" cap="none" dirty="0">
                          <a:solidFill>
                            <a:srgbClr val="787775"/>
                          </a:solidFill>
                          <a:latin typeface="Arial"/>
                          <a:ea typeface="+mn-ea"/>
                          <a:cs typeface="Arial"/>
                          <a:sym typeface="Arial"/>
                        </a:rPr>
                        <a:t>2,827</a:t>
                      </a:r>
                      <a:endParaRPr lang="es-CO" sz="1800" b="0"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1" i="0" u="none" strike="noStrike" cap="none" dirty="0">
                          <a:solidFill>
                            <a:srgbClr val="787775"/>
                          </a:solidFill>
                          <a:latin typeface="Arial"/>
                          <a:ea typeface="+mn-ea"/>
                          <a:cs typeface="Arial"/>
                          <a:sym typeface="Arial"/>
                        </a:rPr>
                        <a:t>9,157</a:t>
                      </a:r>
                      <a:endParaRPr lang="es-CO" sz="1800" b="1" i="0" u="none" strike="noStrike" cap="none" dirty="0">
                        <a:solidFill>
                          <a:srgbClr val="787775"/>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s-MX" sz="1800" b="1" i="0" u="none" strike="noStrike" cap="none" dirty="0">
                          <a:solidFill>
                            <a:srgbClr val="00B09B"/>
                          </a:solidFill>
                          <a:latin typeface="Arial"/>
                          <a:ea typeface="+mn-ea"/>
                          <a:cs typeface="Arial"/>
                          <a:sym typeface="Arial"/>
                        </a:rPr>
                        <a:t>36,140</a:t>
                      </a:r>
                      <a:endParaRPr lang="es-CO" sz="1800" b="1" i="0" u="none" strike="noStrike" cap="none" dirty="0">
                        <a:solidFill>
                          <a:srgbClr val="00B09B"/>
                        </a:solidFill>
                        <a:latin typeface="Arial"/>
                        <a:ea typeface="+mn-ea"/>
                        <a:cs typeface="Arial"/>
                        <a:sym typeface="Arial"/>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14227829"/>
                  </a:ext>
                </a:extLst>
              </a:tr>
            </a:tbl>
          </a:graphicData>
        </a:graphic>
      </p:graphicFrame>
    </p:spTree>
    <p:extLst>
      <p:ext uri="{BB962C8B-B14F-4D97-AF65-F5344CB8AC3E}">
        <p14:creationId xmlns:p14="http://schemas.microsoft.com/office/powerpoint/2010/main" val="1105354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Estimación de costos</a:t>
            </a:r>
            <a:endParaRPr dirty="0"/>
          </a:p>
        </p:txBody>
      </p:sp>
      <p:sp>
        <p:nvSpPr>
          <p:cNvPr id="91" name="Google Shape;91;p14"/>
          <p:cNvSpPr txBox="1"/>
          <p:nvPr/>
        </p:nvSpPr>
        <p:spPr>
          <a:xfrm>
            <a:off x="458354" y="2019003"/>
            <a:ext cx="923804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dirty="0">
                <a:solidFill>
                  <a:srgbClr val="787775"/>
                </a:solidFill>
                <a:latin typeface="Arial"/>
                <a:ea typeface="Arial"/>
                <a:cs typeface="Arial"/>
                <a:sym typeface="Arial"/>
              </a:rPr>
              <a:t>Costos del tratamiento por ruta de atención – Sistema de Salud</a:t>
            </a:r>
          </a:p>
        </p:txBody>
      </p:sp>
      <p:graphicFrame>
        <p:nvGraphicFramePr>
          <p:cNvPr id="5" name="Tabla 4">
            <a:extLst>
              <a:ext uri="{FF2B5EF4-FFF2-40B4-BE49-F238E27FC236}">
                <a16:creationId xmlns:a16="http://schemas.microsoft.com/office/drawing/2014/main" id="{8E5E94A8-E5D4-4384-BC11-32CBB291430E}"/>
              </a:ext>
            </a:extLst>
          </p:cNvPr>
          <p:cNvGraphicFramePr>
            <a:graphicFrameLocks noGrp="1"/>
          </p:cNvGraphicFramePr>
          <p:nvPr>
            <p:extLst>
              <p:ext uri="{D42A27DB-BD31-4B8C-83A1-F6EECF244321}">
                <p14:modId xmlns:p14="http://schemas.microsoft.com/office/powerpoint/2010/main" val="3967703845"/>
              </p:ext>
            </p:extLst>
          </p:nvPr>
        </p:nvGraphicFramePr>
        <p:xfrm>
          <a:off x="515379" y="2612560"/>
          <a:ext cx="11161242" cy="1767840"/>
        </p:xfrm>
        <a:graphic>
          <a:graphicData uri="http://schemas.openxmlformats.org/drawingml/2006/table">
            <a:tbl>
              <a:tblPr/>
              <a:tblGrid>
                <a:gridCol w="3974890">
                  <a:extLst>
                    <a:ext uri="{9D8B030D-6E8A-4147-A177-3AD203B41FA5}">
                      <a16:colId xmlns:a16="http://schemas.microsoft.com/office/drawing/2014/main" val="3635988086"/>
                    </a:ext>
                  </a:extLst>
                </a:gridCol>
                <a:gridCol w="1796588">
                  <a:extLst>
                    <a:ext uri="{9D8B030D-6E8A-4147-A177-3AD203B41FA5}">
                      <a16:colId xmlns:a16="http://schemas.microsoft.com/office/drawing/2014/main" val="1168506242"/>
                    </a:ext>
                  </a:extLst>
                </a:gridCol>
                <a:gridCol w="1796588">
                  <a:extLst>
                    <a:ext uri="{9D8B030D-6E8A-4147-A177-3AD203B41FA5}">
                      <a16:colId xmlns:a16="http://schemas.microsoft.com/office/drawing/2014/main" val="1583050913"/>
                    </a:ext>
                  </a:extLst>
                </a:gridCol>
                <a:gridCol w="1796588">
                  <a:extLst>
                    <a:ext uri="{9D8B030D-6E8A-4147-A177-3AD203B41FA5}">
                      <a16:colId xmlns:a16="http://schemas.microsoft.com/office/drawing/2014/main" val="3087092114"/>
                    </a:ext>
                  </a:extLst>
                </a:gridCol>
                <a:gridCol w="1796588">
                  <a:extLst>
                    <a:ext uri="{9D8B030D-6E8A-4147-A177-3AD203B41FA5}">
                      <a16:colId xmlns:a16="http://schemas.microsoft.com/office/drawing/2014/main" val="938259974"/>
                    </a:ext>
                  </a:extLst>
                </a:gridCol>
              </a:tblGrid>
              <a:tr h="414379">
                <a:tc rowSpan="2">
                  <a:txBody>
                    <a:bodyPr/>
                    <a:lstStyle/>
                    <a:p>
                      <a:pPr marL="0" marR="0" lvl="0" indent="0" algn="l" rtl="0" fontAlgn="ctr">
                        <a:lnSpc>
                          <a:spcPct val="100000"/>
                        </a:lnSpc>
                        <a:spcBef>
                          <a:spcPts val="0"/>
                        </a:spcBef>
                        <a:spcAft>
                          <a:spcPts val="0"/>
                        </a:spcAft>
                        <a:buClr>
                          <a:srgbClr val="000000"/>
                        </a:buClr>
                        <a:buFont typeface="Arial"/>
                        <a:buNone/>
                      </a:pPr>
                      <a:r>
                        <a:rPr lang="es-MX" sz="1800" b="1" i="0" u="none" strike="noStrike" cap="none" dirty="0">
                          <a:solidFill>
                            <a:schemeClr val="lt1"/>
                          </a:solidFill>
                          <a:latin typeface="+mn-lt"/>
                          <a:cs typeface="League Spartan"/>
                          <a:sym typeface="Arial"/>
                        </a:rPr>
                        <a:t>Costos</a:t>
                      </a:r>
                      <a:endParaRPr lang="es-CO" sz="1800" b="1" i="0" u="none" strike="noStrike" cap="none" dirty="0">
                        <a:solidFill>
                          <a:schemeClr val="lt1"/>
                        </a:solidFill>
                        <a:latin typeface="+mn-lt"/>
                        <a:cs typeface="League Spartan"/>
                        <a:sym typeface="Arial"/>
                      </a:endParaRP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CO" sz="1400" b="1" i="0" u="none" strike="noStrike" dirty="0">
                          <a:solidFill>
                            <a:schemeClr val="bg1"/>
                          </a:solidFill>
                          <a:effectLst/>
                          <a:latin typeface="+mn-lt"/>
                        </a:rPr>
                        <a:t>Castro et al (2016)</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it-IT" sz="1400" b="1" i="0" u="none" strike="noStrike" dirty="0">
                          <a:solidFill>
                            <a:schemeClr val="bg1"/>
                          </a:solidFill>
                          <a:effectLst/>
                          <a:latin typeface="+mn-lt"/>
                        </a:rPr>
                        <a:t>Bello et al (2010)</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CO" sz="1400" b="1" i="0" u="none" strike="noStrike" dirty="0">
                          <a:solidFill>
                            <a:schemeClr val="bg1"/>
                          </a:solidFill>
                          <a:effectLst/>
                          <a:latin typeface="+mn-lt"/>
                        </a:rPr>
                        <a:t>Castañeda-Orejuela (2012)</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ES" sz="1800" b="1" i="0" u="none" strike="noStrike" dirty="0">
                          <a:solidFill>
                            <a:schemeClr val="bg1"/>
                          </a:solidFill>
                          <a:effectLst/>
                          <a:latin typeface="+mn-lt"/>
                        </a:rPr>
                        <a:t>Rango Costos</a:t>
                      </a:r>
                      <a:endParaRPr lang="es-CO" sz="1800" b="1" i="0" u="none" strike="noStrike" dirty="0">
                        <a:solidFill>
                          <a:schemeClr val="bg1"/>
                        </a:solidFill>
                        <a:effectLst/>
                        <a:latin typeface="+mn-lt"/>
                      </a:endParaRPr>
                    </a:p>
                  </a:txBody>
                  <a:tcPr marL="0" marR="0" marT="0" marB="0" anchor="ctr">
                    <a:lnL>
                      <a:noFill/>
                    </a:lnL>
                    <a:lnR>
                      <a:noFill/>
                    </a:lnR>
                    <a:lnT>
                      <a:noFill/>
                    </a:lnT>
                    <a:lnB>
                      <a:noFill/>
                    </a:lnB>
                    <a:solidFill>
                      <a:srgbClr val="00B09B"/>
                    </a:solidFill>
                  </a:tcPr>
                </a:tc>
                <a:extLst>
                  <a:ext uri="{0D108BD9-81ED-4DB2-BD59-A6C34878D82A}">
                    <a16:rowId xmlns:a16="http://schemas.microsoft.com/office/drawing/2014/main" val="2938592020"/>
                  </a:ext>
                </a:extLst>
              </a:tr>
              <a:tr h="161147">
                <a:tc vMerge="1">
                  <a:txBody>
                    <a:bodyPr/>
                    <a:lstStyle/>
                    <a:p>
                      <a:pPr marL="0" marR="0" lvl="0" indent="0" algn="l" rtl="0" fontAlgn="ctr">
                        <a:lnSpc>
                          <a:spcPct val="100000"/>
                        </a:lnSpc>
                        <a:spcBef>
                          <a:spcPts val="0"/>
                        </a:spcBef>
                        <a:spcAft>
                          <a:spcPts val="0"/>
                        </a:spcAft>
                        <a:buClr>
                          <a:srgbClr val="000000"/>
                        </a:buClr>
                        <a:buFont typeface="Arial"/>
                        <a:buNone/>
                      </a:pPr>
                      <a:endParaRPr lang="es-CO" sz="2000" b="1" i="0" u="none" strike="noStrike" cap="none" dirty="0">
                        <a:solidFill>
                          <a:schemeClr val="lt1"/>
                        </a:solidFill>
                        <a:latin typeface="+mn-lt"/>
                        <a:cs typeface="League Spartan"/>
                        <a:sym typeface="Arial"/>
                      </a:endParaRPr>
                    </a:p>
                  </a:txBody>
                  <a:tcPr marL="0" marR="0" marT="0" marB="0" anchor="ctr">
                    <a:lnL>
                      <a:noFill/>
                    </a:lnL>
                    <a:lnR>
                      <a:noFill/>
                    </a:lnR>
                    <a:lnT>
                      <a:noFill/>
                    </a:lnT>
                    <a:lnB>
                      <a:noFill/>
                    </a:lnB>
                    <a:solidFill>
                      <a:srgbClr val="00B09B"/>
                    </a:solidFill>
                  </a:tcPr>
                </a:tc>
                <a:tc>
                  <a:txBody>
                    <a:bodyPr/>
                    <a:lstStyle/>
                    <a:p>
                      <a:pPr algn="ctr" fontAlgn="ctr"/>
                      <a:r>
                        <a:rPr lang="es-CO" sz="1400" b="1" i="0" u="none" strike="noStrike" dirty="0">
                          <a:solidFill>
                            <a:schemeClr val="bg1"/>
                          </a:solidFill>
                          <a:effectLst/>
                          <a:latin typeface="+mn-lt"/>
                        </a:rPr>
                        <a:t>USD*</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CO" sz="1400" b="1" i="0" u="none" strike="noStrike" dirty="0">
                          <a:solidFill>
                            <a:schemeClr val="bg1"/>
                          </a:solidFill>
                          <a:effectLst/>
                          <a:latin typeface="+mn-lt"/>
                        </a:rPr>
                        <a:t>USD*</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CO" sz="1400" b="1" i="0" u="none" strike="noStrike" dirty="0">
                          <a:solidFill>
                            <a:schemeClr val="bg1"/>
                          </a:solidFill>
                          <a:effectLst/>
                          <a:latin typeface="+mn-lt"/>
                        </a:rPr>
                        <a:t>USD*</a:t>
                      </a:r>
                    </a:p>
                  </a:txBody>
                  <a:tcPr marL="0" marR="0" marT="0" marB="0" anchor="ctr">
                    <a:lnL>
                      <a:noFill/>
                    </a:lnL>
                    <a:lnR>
                      <a:noFill/>
                    </a:lnR>
                    <a:lnT>
                      <a:noFill/>
                    </a:lnT>
                    <a:lnB>
                      <a:noFill/>
                    </a:lnB>
                    <a:solidFill>
                      <a:srgbClr val="00B09B"/>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ES" sz="1400" b="1" i="0" u="none" strike="noStrike" dirty="0">
                          <a:solidFill>
                            <a:schemeClr val="bg1"/>
                          </a:solidFill>
                          <a:effectLst/>
                          <a:latin typeface="+mn-lt"/>
                        </a:rPr>
                        <a:t>USD*</a:t>
                      </a:r>
                      <a:endParaRPr lang="es-CO" sz="1400" b="1" i="0" u="none" strike="noStrike" dirty="0">
                        <a:solidFill>
                          <a:schemeClr val="bg1"/>
                        </a:solidFill>
                        <a:effectLst/>
                        <a:latin typeface="+mn-lt"/>
                      </a:endParaRPr>
                    </a:p>
                  </a:txBody>
                  <a:tcPr marL="0" marR="0" marT="0" marB="0" anchor="ctr">
                    <a:lnL>
                      <a:noFill/>
                    </a:lnL>
                    <a:lnR>
                      <a:noFill/>
                    </a:lnR>
                    <a:lnT>
                      <a:noFill/>
                    </a:lnT>
                    <a:lnB>
                      <a:noFill/>
                    </a:lnB>
                    <a:solidFill>
                      <a:srgbClr val="00B09B"/>
                    </a:solidFill>
                  </a:tcPr>
                </a:tc>
                <a:extLst>
                  <a:ext uri="{0D108BD9-81ED-4DB2-BD59-A6C34878D82A}">
                    <a16:rowId xmlns:a16="http://schemas.microsoft.com/office/drawing/2014/main" val="2413788855"/>
                  </a:ext>
                </a:extLst>
              </a:tr>
              <a:tr h="207189">
                <a:tc>
                  <a:txBody>
                    <a:bodyPr/>
                    <a:lstStyle/>
                    <a:p>
                      <a:pPr marL="0" marR="0" lvl="0" indent="0" algn="l" rtl="0" fontAlgn="ctr">
                        <a:lnSpc>
                          <a:spcPct val="100000"/>
                        </a:lnSpc>
                        <a:spcBef>
                          <a:spcPts val="0"/>
                        </a:spcBef>
                        <a:spcAft>
                          <a:spcPts val="0"/>
                        </a:spcAft>
                        <a:buClr>
                          <a:srgbClr val="000000"/>
                        </a:buClr>
                        <a:buFont typeface="Arial"/>
                        <a:buNone/>
                      </a:pPr>
                      <a:r>
                        <a:rPr lang="es-CO" sz="1800" b="0" i="0" u="none" strike="noStrike" cap="none" dirty="0">
                          <a:solidFill>
                            <a:srgbClr val="787775"/>
                          </a:solidFill>
                          <a:latin typeface="Arial"/>
                          <a:cs typeface="Arial"/>
                          <a:sym typeface="Arial"/>
                        </a:rPr>
                        <a:t>Caso Ambulatorio   </a:t>
                      </a:r>
                    </a:p>
                  </a:txBody>
                  <a:tcPr marL="0" marR="0" marT="0"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p>
                      <a:pPr algn="ctr" fontAlgn="ctr"/>
                      <a:r>
                        <a:rPr lang="es-ES" sz="1600" b="0" i="0" u="none" strike="noStrike" cap="none" dirty="0">
                          <a:solidFill>
                            <a:srgbClr val="787775"/>
                          </a:solidFill>
                          <a:latin typeface="Arial"/>
                          <a:cs typeface="Arial"/>
                          <a:sym typeface="Arial"/>
                        </a:rPr>
                        <a:t>109</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144</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279</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(109-279)</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97605443"/>
                  </a:ext>
                </a:extLst>
              </a:tr>
              <a:tr h="207189">
                <a:tc>
                  <a:txBody>
                    <a:bodyPr/>
                    <a:lstStyle/>
                    <a:p>
                      <a:pPr marL="0" marR="0" lvl="0" indent="0" algn="l" rtl="0" fontAlgn="ctr">
                        <a:lnSpc>
                          <a:spcPct val="100000"/>
                        </a:lnSpc>
                        <a:spcBef>
                          <a:spcPts val="0"/>
                        </a:spcBef>
                        <a:spcAft>
                          <a:spcPts val="0"/>
                        </a:spcAft>
                        <a:buClr>
                          <a:srgbClr val="000000"/>
                        </a:buClr>
                        <a:buFont typeface="Arial"/>
                        <a:buNone/>
                      </a:pPr>
                      <a:r>
                        <a:rPr lang="es-MX" sz="1800" b="0" i="0" u="none" strike="noStrike" cap="none" dirty="0">
                          <a:solidFill>
                            <a:srgbClr val="787775"/>
                          </a:solidFill>
                          <a:latin typeface="Arial"/>
                          <a:cs typeface="Arial"/>
                          <a:sym typeface="Arial"/>
                        </a:rPr>
                        <a:t>Caso Hospitalización Dengue </a:t>
                      </a:r>
                    </a:p>
                  </a:txBody>
                  <a:tcPr marL="0" marR="0" marT="0"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p>
                      <a:pPr algn="ctr" fontAlgn="ctr"/>
                      <a:r>
                        <a:rPr lang="es-ES" sz="1600" b="0" i="0" u="none" strike="noStrike" cap="none" dirty="0">
                          <a:solidFill>
                            <a:srgbClr val="787775"/>
                          </a:solidFill>
                          <a:latin typeface="Arial"/>
                          <a:cs typeface="Arial"/>
                          <a:sym typeface="Arial"/>
                        </a:rPr>
                        <a:t>486</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1,098</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2,583</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(486-2,583)</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86448112"/>
                  </a:ext>
                </a:extLst>
              </a:tr>
              <a:tr h="184168">
                <a:tc rowSpan="2">
                  <a:txBody>
                    <a:bodyPr/>
                    <a:lstStyle/>
                    <a:p>
                      <a:pPr marL="0" marR="0" lvl="0" indent="0" algn="l" rtl="0" fontAlgn="ctr">
                        <a:lnSpc>
                          <a:spcPct val="100000"/>
                        </a:lnSpc>
                        <a:spcBef>
                          <a:spcPts val="0"/>
                        </a:spcBef>
                        <a:spcAft>
                          <a:spcPts val="0"/>
                        </a:spcAft>
                        <a:buClr>
                          <a:srgbClr val="000000"/>
                        </a:buClr>
                        <a:buFont typeface="Arial"/>
                        <a:buNone/>
                      </a:pPr>
                      <a:r>
                        <a:rPr lang="es-MX" sz="1800" b="0" i="0" u="none" strike="noStrike" cap="none" dirty="0">
                          <a:solidFill>
                            <a:srgbClr val="787775"/>
                          </a:solidFill>
                          <a:latin typeface="Arial"/>
                          <a:cs typeface="Arial"/>
                          <a:sym typeface="Arial"/>
                        </a:rPr>
                        <a:t>Caso Hospitalización Dengue grave     </a:t>
                      </a:r>
                    </a:p>
                  </a:txBody>
                  <a:tcPr marL="0" marR="0" marT="0"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p>
                      <a:pPr algn="ctr" fontAlgn="ct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(3,409-10,698)</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fontAlgn="ct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9384163"/>
                  </a:ext>
                </a:extLst>
              </a:tr>
              <a:tr h="253231">
                <a:tc vMerge="1">
                  <a:txBody>
                    <a:bodyPr/>
                    <a:lstStyle/>
                    <a:p>
                      <a:endParaRPr lang="es-C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600" b="0" i="0" u="none" strike="noStrike" cap="none" dirty="0">
                          <a:solidFill>
                            <a:srgbClr val="787775"/>
                          </a:solidFill>
                          <a:latin typeface="+mn-lt"/>
                          <a:cs typeface="Arial"/>
                          <a:sym typeface="Arial"/>
                        </a:rPr>
                        <a:t>3,113</a:t>
                      </a:r>
                      <a:endParaRPr lang="es-CO" sz="1600" b="0" i="0" u="none" strike="noStrike" cap="none" dirty="0">
                        <a:solidFill>
                          <a:srgbClr val="787775"/>
                        </a:solidFill>
                        <a:latin typeface="+mn-lt"/>
                        <a:cs typeface="Arial"/>
                        <a:sym typeface="Arial"/>
                      </a:endParaRPr>
                    </a:p>
                  </a:txBody>
                  <a:tcPr>
                    <a:lnL w="12700" cmpd="sng">
                      <a:noFill/>
                      <a:prstDash val="solid"/>
                    </a:lnL>
                    <a:lnR w="12700" cmpd="sng">
                      <a:noFill/>
                      <a:prstDash val="solid"/>
                    </a:lnR>
                    <a:lnT>
                      <a:noFill/>
                    </a:lnT>
                    <a:lnB w="12700" cmpd="sng">
                      <a:noFill/>
                      <a:prstDash val="solid"/>
                    </a:lnB>
                    <a:lnTlToBr w="12700" cmpd="sng">
                      <a:noFill/>
                      <a:prstDash val="solid"/>
                    </a:lnTlToBr>
                    <a:lnBlToTr w="12700" cmpd="sng">
                      <a:noFill/>
                      <a:prstDash val="solid"/>
                    </a:lnBlToTr>
                  </a:tcPr>
                </a:tc>
                <a:tc>
                  <a:txBody>
                    <a:bodyPr/>
                    <a:lstStyle/>
                    <a:p>
                      <a:pPr algn="ctr" fontAlgn="ctr"/>
                      <a:r>
                        <a:rPr lang="es-ES" sz="1600" b="0" i="0" u="none" strike="noStrike" cap="none" dirty="0">
                          <a:solidFill>
                            <a:srgbClr val="787775"/>
                          </a:solidFill>
                          <a:latin typeface="Arial"/>
                          <a:cs typeface="Arial"/>
                          <a:sym typeface="Arial"/>
                        </a:rPr>
                        <a:t>6,442</a:t>
                      </a:r>
                      <a:endParaRPr lang="es-CO" sz="1600" b="0" i="0" u="none" strike="noStrike" cap="none" dirty="0">
                        <a:solidFill>
                          <a:srgbClr val="787775"/>
                        </a:solidFill>
                        <a:latin typeface="Arial"/>
                        <a:cs typeface="Arial"/>
                        <a:sym typeface="Aria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600" b="0" i="0" u="none" strike="noStrike" cap="none" dirty="0">
                          <a:solidFill>
                            <a:srgbClr val="787775"/>
                          </a:solidFill>
                          <a:latin typeface="+mn-lt"/>
                          <a:cs typeface="Arial"/>
                          <a:sym typeface="Arial"/>
                        </a:rPr>
                        <a:t>4,088</a:t>
                      </a:r>
                      <a:endParaRPr lang="es-CO" sz="1600" b="0" i="0" u="none" strike="noStrike" cap="none" dirty="0">
                        <a:solidFill>
                          <a:srgbClr val="787775"/>
                        </a:solidFill>
                        <a:latin typeface="+mn-lt"/>
                        <a:cs typeface="Arial"/>
                        <a:sym typeface="Arial"/>
                      </a:endParaRPr>
                    </a:p>
                  </a:txBody>
                  <a:tcPr>
                    <a:lnL w="12700" cmpd="sng">
                      <a:noFill/>
                      <a:prstDash val="solid"/>
                    </a:lnL>
                    <a:lnR w="12700" cmpd="sng">
                      <a:noFill/>
                      <a:prstDash val="solid"/>
                    </a:lnR>
                    <a:lnT>
                      <a:noFill/>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600" b="0" i="0" u="none" strike="noStrike" cap="none" dirty="0">
                          <a:solidFill>
                            <a:srgbClr val="787775"/>
                          </a:solidFill>
                          <a:latin typeface="+mn-lt"/>
                          <a:cs typeface="Arial"/>
                          <a:sym typeface="Arial"/>
                        </a:rPr>
                        <a:t>(3,113-6,442)</a:t>
                      </a:r>
                      <a:endParaRPr lang="es-CO" sz="1600" b="0" i="0" u="none" strike="noStrike" cap="none" dirty="0">
                        <a:solidFill>
                          <a:srgbClr val="787775"/>
                        </a:solidFill>
                        <a:latin typeface="+mn-lt"/>
                        <a:cs typeface="Arial"/>
                        <a:sym typeface="Arial"/>
                      </a:endParaRPr>
                    </a:p>
                  </a:txBody>
                  <a:tcPr>
                    <a:lnL w="12700" cmpd="sng">
                      <a:noFill/>
                      <a:prstDash val="solid"/>
                    </a:lnL>
                    <a:lnR w="12700" cmpd="sng">
                      <a:noFill/>
                      <a:prstDash val="solid"/>
                    </a:lnR>
                    <a:lnT>
                      <a:noFill/>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654844044"/>
                  </a:ext>
                </a:extLst>
              </a:tr>
            </a:tbl>
          </a:graphicData>
        </a:graphic>
      </p:graphicFrame>
      <p:sp>
        <p:nvSpPr>
          <p:cNvPr id="6" name="13 Rectángulo">
            <a:extLst>
              <a:ext uri="{FF2B5EF4-FFF2-40B4-BE49-F238E27FC236}">
                <a16:creationId xmlns:a16="http://schemas.microsoft.com/office/drawing/2014/main" id="{7C3DED5F-4F1F-4C5D-8D17-63D63396EEAF}"/>
              </a:ext>
            </a:extLst>
          </p:cNvPr>
          <p:cNvSpPr/>
          <p:nvPr/>
        </p:nvSpPr>
        <p:spPr>
          <a:xfrm>
            <a:off x="515379" y="4676411"/>
            <a:ext cx="6213711" cy="646331"/>
          </a:xfrm>
          <a:prstGeom prst="rect">
            <a:avLst/>
          </a:prstGeom>
          <a:noFill/>
        </p:spPr>
        <p:txBody>
          <a:bodyPr wrap="square">
            <a:spAutoFit/>
          </a:bodyPr>
          <a:lstStyle/>
          <a:p>
            <a:r>
              <a:rPr lang="es-CO" b="1" dirty="0">
                <a:solidFill>
                  <a:srgbClr val="00B09B"/>
                </a:solidFill>
              </a:rPr>
              <a:t>* Valores USD indexados a octubre 2023</a:t>
            </a:r>
            <a:br>
              <a:rPr lang="es-CO" sz="1100" b="1" dirty="0">
                <a:solidFill>
                  <a:srgbClr val="787775"/>
                </a:solidFill>
                <a:highlight>
                  <a:srgbClr val="FFFFFF"/>
                </a:highlight>
              </a:rPr>
            </a:br>
            <a:r>
              <a:rPr lang="es-CO" sz="1100" b="1" dirty="0">
                <a:solidFill>
                  <a:srgbClr val="787775"/>
                </a:solidFill>
                <a:highlight>
                  <a:srgbClr val="FFFFFF"/>
                </a:highlight>
              </a:rPr>
              <a:t>Fuente: </a:t>
            </a:r>
            <a:r>
              <a:rPr lang="es-CO" sz="1100" dirty="0">
                <a:solidFill>
                  <a:srgbClr val="787775"/>
                </a:solidFill>
                <a:highlight>
                  <a:srgbClr val="FFFFFF"/>
                </a:highlight>
              </a:rPr>
              <a:t>Elaboración propia</a:t>
            </a:r>
          </a:p>
          <a:p>
            <a:r>
              <a:rPr lang="es-CO" sz="1100" b="1" dirty="0">
                <a:solidFill>
                  <a:srgbClr val="787775"/>
                </a:solidFill>
                <a:highlight>
                  <a:srgbClr val="FFFFFF"/>
                </a:highlight>
              </a:rPr>
              <a:t>Fuente Datos: </a:t>
            </a:r>
            <a:r>
              <a:rPr lang="es-CO" sz="1100" dirty="0">
                <a:solidFill>
                  <a:srgbClr val="787775"/>
                </a:solidFill>
                <a:highlight>
                  <a:srgbClr val="FFFFFF"/>
                </a:highlight>
              </a:rPr>
              <a:t>Bello et al (2000), Castañeda-Orejuela et al (2012), Castro Rodríguez et al (2016)</a:t>
            </a:r>
          </a:p>
        </p:txBody>
      </p:sp>
    </p:spTree>
    <p:extLst>
      <p:ext uri="{BB962C8B-B14F-4D97-AF65-F5344CB8AC3E}">
        <p14:creationId xmlns:p14="http://schemas.microsoft.com/office/powerpoint/2010/main" val="2384245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493395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Estimación de costos</a:t>
            </a:r>
            <a:endParaRPr dirty="0"/>
          </a:p>
        </p:txBody>
      </p:sp>
      <p:sp>
        <p:nvSpPr>
          <p:cNvPr id="91" name="Google Shape;91;p14"/>
          <p:cNvSpPr txBox="1"/>
          <p:nvPr/>
        </p:nvSpPr>
        <p:spPr>
          <a:xfrm>
            <a:off x="458354" y="2019003"/>
            <a:ext cx="923804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dirty="0">
                <a:solidFill>
                  <a:srgbClr val="787775"/>
                </a:solidFill>
                <a:latin typeface="Arial"/>
                <a:ea typeface="Arial"/>
                <a:cs typeface="Arial"/>
                <a:sym typeface="Arial"/>
              </a:rPr>
              <a:t>Pérdida de bienestar – Costo de los AVAD</a:t>
            </a:r>
          </a:p>
        </p:txBody>
      </p:sp>
      <p:sp>
        <p:nvSpPr>
          <p:cNvPr id="7" name="CuadroTexto 6">
            <a:extLst>
              <a:ext uri="{FF2B5EF4-FFF2-40B4-BE49-F238E27FC236}">
                <a16:creationId xmlns:a16="http://schemas.microsoft.com/office/drawing/2014/main" id="{A9D0EBFB-4A0C-4E7B-8086-7166DFB9382F}"/>
              </a:ext>
            </a:extLst>
          </p:cNvPr>
          <p:cNvSpPr txBox="1"/>
          <p:nvPr/>
        </p:nvSpPr>
        <p:spPr>
          <a:xfrm>
            <a:off x="458352" y="2414253"/>
            <a:ext cx="11275294" cy="2893100"/>
          </a:xfrm>
          <a:prstGeom prst="rect">
            <a:avLst/>
          </a:prstGeom>
          <a:noFill/>
        </p:spPr>
        <p:txBody>
          <a:bodyPr wrap="square">
            <a:spAutoFit/>
          </a:bodyPr>
          <a:lstStyle/>
          <a:p>
            <a:pPr algn="just"/>
            <a:r>
              <a:rPr lang="en-US" sz="1800" dirty="0">
                <a:solidFill>
                  <a:srgbClr val="787775"/>
                </a:solidFill>
                <a:highlight>
                  <a:srgbClr val="FFFFFF"/>
                </a:highlight>
              </a:rPr>
              <a:t>Valor de una </a:t>
            </a:r>
            <a:r>
              <a:rPr lang="en-US" sz="1800" dirty="0" err="1">
                <a:solidFill>
                  <a:srgbClr val="787775"/>
                </a:solidFill>
                <a:highlight>
                  <a:srgbClr val="FFFFFF"/>
                </a:highlight>
              </a:rPr>
              <a:t>vida</a:t>
            </a:r>
            <a:r>
              <a:rPr lang="en-US" sz="1800" dirty="0">
                <a:solidFill>
                  <a:srgbClr val="787775"/>
                </a:solidFill>
                <a:highlight>
                  <a:srgbClr val="FFFFFF"/>
                </a:highlight>
              </a:rPr>
              <a:t> </a:t>
            </a:r>
            <a:r>
              <a:rPr lang="en-US" sz="1800" dirty="0" err="1">
                <a:solidFill>
                  <a:srgbClr val="787775"/>
                </a:solidFill>
                <a:highlight>
                  <a:srgbClr val="FFFFFF"/>
                </a:highlight>
              </a:rPr>
              <a:t>estadistica</a:t>
            </a:r>
            <a:r>
              <a:rPr lang="en-US" sz="1800" dirty="0">
                <a:solidFill>
                  <a:srgbClr val="787775"/>
                </a:solidFill>
                <a:highlight>
                  <a:srgbClr val="FFFFFF"/>
                </a:highlight>
              </a:rPr>
              <a:t> (VSL): </a:t>
            </a:r>
            <a:r>
              <a:rPr lang="es-ES" sz="1800" dirty="0">
                <a:solidFill>
                  <a:srgbClr val="787775"/>
                </a:solidFill>
                <a:highlight>
                  <a:srgbClr val="FFFFFF"/>
                </a:highlight>
              </a:rPr>
              <a:t>El VSL es el valor monetario asignado a una reducción marginal en el riesgo de muerte. No se trata del valor de una vida individual específica, sino de un valor promedio que representa la disposición a pagar de una población para reducir el riesgo de muerte. </a:t>
            </a:r>
          </a:p>
          <a:p>
            <a:pPr algn="just"/>
            <a:r>
              <a:rPr lang="en-US" sz="1800" dirty="0">
                <a:solidFill>
                  <a:srgbClr val="787775"/>
                </a:solidFill>
                <a:highlight>
                  <a:srgbClr val="FFFFFF"/>
                </a:highlight>
              </a:rPr>
              <a:t>E</a:t>
            </a:r>
            <a:r>
              <a:rPr lang="es-ES" sz="1800" dirty="0">
                <a:solidFill>
                  <a:srgbClr val="787775"/>
                </a:solidFill>
                <a:highlight>
                  <a:srgbClr val="FFFFFF"/>
                </a:highlight>
              </a:rPr>
              <a:t>s una medida ex ante (es decir, antes de que ocurra un evento). </a:t>
            </a:r>
          </a:p>
          <a:p>
            <a:pPr algn="just"/>
            <a:endParaRPr lang="es-ES" sz="2000" dirty="0">
              <a:solidFill>
                <a:srgbClr val="787775"/>
              </a:solidFill>
              <a:highlight>
                <a:srgbClr val="FFFFFF"/>
              </a:highlight>
            </a:endParaRPr>
          </a:p>
          <a:p>
            <a:pPr algn="just"/>
            <a:r>
              <a:rPr lang="en-US" sz="1800" dirty="0">
                <a:solidFill>
                  <a:srgbClr val="787775"/>
                </a:solidFill>
                <a:highlight>
                  <a:srgbClr val="FFFFFF"/>
                </a:highlight>
              </a:rPr>
              <a:t>Cropper y </a:t>
            </a:r>
            <a:r>
              <a:rPr lang="en-US" sz="1800" dirty="0" err="1">
                <a:solidFill>
                  <a:srgbClr val="787775"/>
                </a:solidFill>
                <a:highlight>
                  <a:srgbClr val="FFFFFF"/>
                </a:highlight>
              </a:rPr>
              <a:t>Sahin</a:t>
            </a:r>
            <a:r>
              <a:rPr lang="en-US" sz="1800" dirty="0">
                <a:solidFill>
                  <a:srgbClr val="787775"/>
                </a:solidFill>
                <a:highlight>
                  <a:srgbClr val="FFFFFF"/>
                </a:highlight>
              </a:rPr>
              <a:t> (2009)</a:t>
            </a:r>
          </a:p>
          <a:p>
            <a:pPr algn="just"/>
            <a:r>
              <a:rPr lang="en-US" sz="1800" dirty="0">
                <a:solidFill>
                  <a:srgbClr val="787775"/>
                </a:solidFill>
                <a:highlight>
                  <a:srgbClr val="FFFFFF"/>
                </a:highlight>
              </a:rPr>
              <a:t>	- </a:t>
            </a:r>
            <a:r>
              <a:rPr lang="en-US" sz="1800" b="1" dirty="0">
                <a:solidFill>
                  <a:srgbClr val="00B09B"/>
                </a:solidFill>
                <a:highlight>
                  <a:srgbClr val="FFFFFF"/>
                </a:highlight>
              </a:rPr>
              <a:t>0.773 </a:t>
            </a:r>
            <a:r>
              <a:rPr lang="en-US" sz="1800" b="1" dirty="0" err="1">
                <a:solidFill>
                  <a:srgbClr val="00B09B"/>
                </a:solidFill>
                <a:highlight>
                  <a:srgbClr val="FFFFFF"/>
                </a:highlight>
              </a:rPr>
              <a:t>millones</a:t>
            </a:r>
            <a:r>
              <a:rPr lang="en-US" sz="1800" b="1" dirty="0">
                <a:solidFill>
                  <a:srgbClr val="00B09B"/>
                </a:solidFill>
                <a:highlight>
                  <a:srgbClr val="FFFFFF"/>
                </a:highlight>
              </a:rPr>
              <a:t> USD </a:t>
            </a:r>
            <a:r>
              <a:rPr lang="en-US" sz="1800" dirty="0" err="1">
                <a:solidFill>
                  <a:srgbClr val="787775"/>
                </a:solidFill>
                <a:highlight>
                  <a:srgbClr val="FFFFFF"/>
                </a:highlight>
              </a:rPr>
              <a:t>paises</a:t>
            </a:r>
            <a:r>
              <a:rPr lang="en-US" sz="1800" dirty="0">
                <a:solidFill>
                  <a:srgbClr val="787775"/>
                </a:solidFill>
                <a:highlight>
                  <a:srgbClr val="FFFFFF"/>
                </a:highlight>
              </a:rPr>
              <a:t> </a:t>
            </a:r>
            <a:r>
              <a:rPr lang="en-US" sz="1800" dirty="0" err="1">
                <a:solidFill>
                  <a:srgbClr val="787775"/>
                </a:solidFill>
                <a:highlight>
                  <a:srgbClr val="FFFFFF"/>
                </a:highlight>
              </a:rPr>
              <a:t>en</a:t>
            </a:r>
            <a:r>
              <a:rPr lang="en-US" sz="1800" dirty="0">
                <a:solidFill>
                  <a:srgbClr val="787775"/>
                </a:solidFill>
                <a:highlight>
                  <a:srgbClr val="FFFFFF"/>
                </a:highlight>
              </a:rPr>
              <a:t> </a:t>
            </a:r>
            <a:r>
              <a:rPr lang="en-US" sz="1800" dirty="0" err="1">
                <a:solidFill>
                  <a:srgbClr val="787775"/>
                </a:solidFill>
                <a:highlight>
                  <a:srgbClr val="FFFFFF"/>
                </a:highlight>
              </a:rPr>
              <a:t>vía</a:t>
            </a:r>
            <a:r>
              <a:rPr lang="en-US" sz="1800" dirty="0">
                <a:solidFill>
                  <a:srgbClr val="787775"/>
                </a:solidFill>
                <a:highlight>
                  <a:srgbClr val="FFFFFF"/>
                </a:highlight>
              </a:rPr>
              <a:t> Desarrollo</a:t>
            </a:r>
          </a:p>
          <a:p>
            <a:pPr algn="just"/>
            <a:r>
              <a:rPr lang="en-US" sz="1800" dirty="0">
                <a:solidFill>
                  <a:srgbClr val="787775"/>
                </a:solidFill>
                <a:highlight>
                  <a:srgbClr val="FFFFFF"/>
                </a:highlight>
              </a:rPr>
              <a:t>	- </a:t>
            </a:r>
            <a:r>
              <a:rPr lang="en-US" sz="1800" b="1" dirty="0">
                <a:solidFill>
                  <a:srgbClr val="00B09B"/>
                </a:solidFill>
                <a:highlight>
                  <a:srgbClr val="FFFFFF"/>
                </a:highlight>
              </a:rPr>
              <a:t>3.3881 </a:t>
            </a:r>
            <a:r>
              <a:rPr lang="en-US" sz="1800" b="1" dirty="0" err="1">
                <a:solidFill>
                  <a:srgbClr val="00B09B"/>
                </a:solidFill>
                <a:highlight>
                  <a:srgbClr val="FFFFFF"/>
                </a:highlight>
              </a:rPr>
              <a:t>millones</a:t>
            </a:r>
            <a:r>
              <a:rPr lang="en-US" sz="1800" b="1" dirty="0">
                <a:solidFill>
                  <a:srgbClr val="00B09B"/>
                </a:solidFill>
                <a:highlight>
                  <a:srgbClr val="FFFFFF"/>
                </a:highlight>
              </a:rPr>
              <a:t> USD </a:t>
            </a:r>
            <a:r>
              <a:rPr lang="en-US" sz="1800" dirty="0" err="1">
                <a:solidFill>
                  <a:srgbClr val="787775"/>
                </a:solidFill>
                <a:highlight>
                  <a:srgbClr val="FFFFFF"/>
                </a:highlight>
              </a:rPr>
              <a:t>paises</a:t>
            </a:r>
            <a:r>
              <a:rPr lang="en-US" sz="1800" dirty="0">
                <a:solidFill>
                  <a:srgbClr val="787775"/>
                </a:solidFill>
                <a:highlight>
                  <a:srgbClr val="FFFFFF"/>
                </a:highlight>
              </a:rPr>
              <a:t> OCDE</a:t>
            </a:r>
            <a:endParaRPr lang="es-CO" sz="1800" dirty="0"/>
          </a:p>
          <a:p>
            <a:pPr algn="just"/>
            <a:r>
              <a:rPr lang="en-US" sz="1800" dirty="0" err="1">
                <a:solidFill>
                  <a:srgbClr val="787775"/>
                </a:solidFill>
                <a:highlight>
                  <a:srgbClr val="FFFFFF"/>
                </a:highlight>
              </a:rPr>
              <a:t>Mardones</a:t>
            </a:r>
            <a:r>
              <a:rPr lang="en-US" sz="1800" dirty="0">
                <a:solidFill>
                  <a:srgbClr val="787775"/>
                </a:solidFill>
                <a:highlight>
                  <a:srgbClr val="FFFFFF"/>
                </a:highlight>
              </a:rPr>
              <a:t>, y </a:t>
            </a:r>
            <a:r>
              <a:rPr lang="en-US" sz="1800" dirty="0" err="1">
                <a:solidFill>
                  <a:srgbClr val="787775"/>
                </a:solidFill>
                <a:highlight>
                  <a:srgbClr val="FFFFFF"/>
                </a:highlight>
              </a:rPr>
              <a:t>Riquelme</a:t>
            </a:r>
            <a:r>
              <a:rPr lang="en-US" sz="1800" dirty="0">
                <a:solidFill>
                  <a:srgbClr val="787775"/>
                </a:solidFill>
                <a:highlight>
                  <a:srgbClr val="FFFFFF"/>
                </a:highlight>
              </a:rPr>
              <a:t>. (2018)</a:t>
            </a:r>
          </a:p>
          <a:p>
            <a:pPr algn="just"/>
            <a:r>
              <a:rPr lang="en-US" sz="1800" dirty="0">
                <a:solidFill>
                  <a:srgbClr val="787775"/>
                </a:solidFill>
                <a:highlight>
                  <a:srgbClr val="FFFFFF"/>
                </a:highlight>
              </a:rPr>
              <a:t>	-  </a:t>
            </a:r>
            <a:r>
              <a:rPr lang="en-US" sz="1800" b="1" dirty="0">
                <a:solidFill>
                  <a:srgbClr val="00B09B"/>
                </a:solidFill>
                <a:highlight>
                  <a:srgbClr val="FFFFFF"/>
                </a:highlight>
              </a:rPr>
              <a:t>0.64 </a:t>
            </a:r>
            <a:r>
              <a:rPr lang="en-US" sz="1800" b="1" dirty="0" err="1">
                <a:solidFill>
                  <a:srgbClr val="00B09B"/>
                </a:solidFill>
                <a:highlight>
                  <a:srgbClr val="FFFFFF"/>
                </a:highlight>
              </a:rPr>
              <a:t>millones</a:t>
            </a:r>
            <a:r>
              <a:rPr lang="en-US" sz="1800" b="1" dirty="0">
                <a:solidFill>
                  <a:srgbClr val="00B09B"/>
                </a:solidFill>
                <a:highlight>
                  <a:srgbClr val="FFFFFF"/>
                </a:highlight>
              </a:rPr>
              <a:t> </a:t>
            </a:r>
            <a:r>
              <a:rPr lang="en-US" sz="1800" dirty="0">
                <a:solidFill>
                  <a:srgbClr val="787775"/>
                </a:solidFill>
                <a:highlight>
                  <a:srgbClr val="FFFFFF"/>
                </a:highlight>
              </a:rPr>
              <a:t>USD</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C83E2AC-0ACF-463E-AB47-79A8ABCEB6CB}"/>
                  </a:ext>
                </a:extLst>
              </p:cNvPr>
              <p:cNvSpPr txBox="1"/>
              <p:nvPr/>
            </p:nvSpPr>
            <p:spPr>
              <a:xfrm>
                <a:off x="6672064" y="4438929"/>
                <a:ext cx="4694234" cy="477054"/>
              </a:xfrm>
              <a:prstGeom prst="rect">
                <a:avLst/>
              </a:prstGeom>
              <a:noFill/>
            </p:spPr>
            <p:txBody>
              <a:bodyPr wrap="none" lIns="0" tIns="0" rIns="0" bIns="0" rtlCol="0">
                <a:spAutoFit/>
              </a:bodyPr>
              <a:lstStyle/>
              <a:p>
                <a:r>
                  <a:rPr lang="es-ES" sz="2000" b="0" dirty="0">
                    <a:solidFill>
                      <a:srgbClr val="787775"/>
                    </a:solidFill>
                  </a:rPr>
                  <a:t> </a:t>
                </a:r>
                <a14:m>
                  <m:oMath xmlns:m="http://schemas.openxmlformats.org/officeDocument/2006/math">
                    <m:r>
                      <a:rPr lang="es-ES" sz="2000" b="0" i="0" smtClean="0">
                        <a:solidFill>
                          <a:srgbClr val="787775"/>
                        </a:solidFill>
                        <a:latin typeface="Cambria Math" panose="02040503050406030204" pitchFamily="18" charset="0"/>
                      </a:rPr>
                      <m:t>$ </m:t>
                    </m:r>
                    <m:r>
                      <a:rPr lang="es-ES" sz="2000" b="0" i="1" smtClean="0">
                        <a:solidFill>
                          <a:srgbClr val="787775"/>
                        </a:solidFill>
                        <a:latin typeface="Cambria Math" panose="02040503050406030204" pitchFamily="18" charset="0"/>
                      </a:rPr>
                      <m:t>𝐴𝑉𝐴𝐷</m:t>
                    </m:r>
                    <m:r>
                      <a:rPr lang="es-ES" sz="2000" b="0" i="1" smtClean="0">
                        <a:solidFill>
                          <a:srgbClr val="787775"/>
                        </a:solidFill>
                        <a:latin typeface="Cambria Math" panose="02040503050406030204" pitchFamily="18" charset="0"/>
                      </a:rPr>
                      <m:t> </m:t>
                    </m:r>
                    <m:d>
                      <m:dPr>
                        <m:ctrlPr>
                          <a:rPr lang="es-ES" sz="2000" b="0" i="1" smtClean="0">
                            <a:solidFill>
                              <a:srgbClr val="787775"/>
                            </a:solidFill>
                            <a:latin typeface="Cambria Math" panose="02040503050406030204" pitchFamily="18" charset="0"/>
                          </a:rPr>
                        </m:ctrlPr>
                      </m:dPr>
                      <m:e>
                        <m:r>
                          <a:rPr lang="es-ES" sz="2000" b="0" i="1" smtClean="0">
                            <a:solidFill>
                              <a:srgbClr val="787775"/>
                            </a:solidFill>
                            <a:latin typeface="Cambria Math" panose="02040503050406030204" pitchFamily="18" charset="0"/>
                          </a:rPr>
                          <m:t>𝑚𝑖𝑙𝑙𝑜𝑛𝑒𝑠</m:t>
                        </m:r>
                        <m:r>
                          <a:rPr lang="es-ES" sz="2000" b="0" i="1" smtClean="0">
                            <a:solidFill>
                              <a:srgbClr val="787775"/>
                            </a:solidFill>
                            <a:latin typeface="Cambria Math" panose="02040503050406030204" pitchFamily="18" charset="0"/>
                          </a:rPr>
                          <m:t> </m:t>
                        </m:r>
                        <m:r>
                          <a:rPr lang="es-ES" sz="2000" b="0" i="1" smtClean="0">
                            <a:solidFill>
                              <a:srgbClr val="787775"/>
                            </a:solidFill>
                            <a:latin typeface="Cambria Math" panose="02040503050406030204" pitchFamily="18" charset="0"/>
                          </a:rPr>
                          <m:t>𝑈𝑆𝐷</m:t>
                        </m:r>
                      </m:e>
                    </m:d>
                    <m:r>
                      <a:rPr lang="es-ES" sz="2000" b="0" i="1" smtClean="0">
                        <a:solidFill>
                          <a:srgbClr val="787775"/>
                        </a:solidFill>
                        <a:latin typeface="Cambria Math" panose="02040503050406030204" pitchFamily="18" charset="0"/>
                      </a:rPr>
                      <m:t>=</m:t>
                    </m:r>
                    <m:r>
                      <a:rPr lang="es-ES" sz="2000" b="0" i="1" smtClean="0">
                        <a:solidFill>
                          <a:srgbClr val="787775"/>
                        </a:solidFill>
                        <a:latin typeface="Cambria Math" panose="02040503050406030204" pitchFamily="18" charset="0"/>
                      </a:rPr>
                      <m:t>𝐴𝑉𝐴𝐷</m:t>
                    </m:r>
                    <m:r>
                      <a:rPr lang="es-ES" sz="2000" b="0" i="1" smtClean="0">
                        <a:solidFill>
                          <a:srgbClr val="787775"/>
                        </a:solidFill>
                        <a:latin typeface="Cambria Math" panose="02040503050406030204" pitchFamily="18" charset="0"/>
                      </a:rPr>
                      <m:t> × </m:t>
                    </m:r>
                    <m:r>
                      <a:rPr lang="es-ES" sz="2000" b="0" i="1" smtClean="0">
                        <a:solidFill>
                          <a:srgbClr val="787775"/>
                        </a:solidFill>
                        <a:latin typeface="Cambria Math" panose="02040503050406030204" pitchFamily="18" charset="0"/>
                      </a:rPr>
                      <m:t>𝑉𝑆𝐿</m:t>
                    </m:r>
                  </m:oMath>
                </a14:m>
                <a:r>
                  <a:rPr lang="es-CO" sz="2000" dirty="0">
                    <a:solidFill>
                      <a:srgbClr val="787775"/>
                    </a:solidFill>
                  </a:rPr>
                  <a:t>*</a:t>
                </a:r>
              </a:p>
              <a:p>
                <a:pPr/>
                <a14:m>
                  <m:oMathPara xmlns:m="http://schemas.openxmlformats.org/officeDocument/2006/math">
                    <m:oMathParaPr>
                      <m:jc m:val="left"/>
                    </m:oMathParaPr>
                    <m:oMath xmlns:m="http://schemas.openxmlformats.org/officeDocument/2006/math">
                      <m:r>
                        <a:rPr lang="es-ES" sz="1100" b="0" i="1" smtClean="0">
                          <a:solidFill>
                            <a:srgbClr val="787775"/>
                          </a:solidFill>
                          <a:latin typeface="Cambria Math" panose="02040503050406030204" pitchFamily="18" charset="0"/>
                        </a:rPr>
                        <m:t>(∗</m:t>
                      </m:r>
                      <m:r>
                        <a:rPr lang="es-ES" sz="1100" b="0" i="1" smtClean="0">
                          <a:solidFill>
                            <a:srgbClr val="787775"/>
                          </a:solidFill>
                          <a:latin typeface="Cambria Math" panose="02040503050406030204" pitchFamily="18" charset="0"/>
                        </a:rPr>
                        <m:t>𝑠𝑒</m:t>
                      </m:r>
                      <m:r>
                        <a:rPr lang="es-ES" sz="1100" b="0" i="1" smtClean="0">
                          <a:solidFill>
                            <a:srgbClr val="787775"/>
                          </a:solidFill>
                          <a:latin typeface="Cambria Math" panose="02040503050406030204" pitchFamily="18" charset="0"/>
                        </a:rPr>
                        <m:t> </m:t>
                      </m:r>
                      <m:r>
                        <a:rPr lang="es-ES" sz="1100" b="0" i="1" smtClean="0">
                          <a:solidFill>
                            <a:srgbClr val="787775"/>
                          </a:solidFill>
                          <a:latin typeface="Cambria Math" panose="02040503050406030204" pitchFamily="18" charset="0"/>
                        </a:rPr>
                        <m:t>𝑎𝑠𝑢𝑚𝑒</m:t>
                      </m:r>
                      <m:r>
                        <a:rPr lang="es-ES" sz="1100" b="0" i="1" smtClean="0">
                          <a:solidFill>
                            <a:srgbClr val="787775"/>
                          </a:solidFill>
                          <a:latin typeface="Cambria Math" panose="02040503050406030204" pitchFamily="18" charset="0"/>
                        </a:rPr>
                        <m:t> </m:t>
                      </m:r>
                      <m:r>
                        <a:rPr lang="es-ES" sz="1100" b="0" i="1" smtClean="0">
                          <a:solidFill>
                            <a:srgbClr val="787775"/>
                          </a:solidFill>
                          <a:latin typeface="Cambria Math" panose="02040503050406030204" pitchFamily="18" charset="0"/>
                        </a:rPr>
                        <m:t>𝑐𝑡𝑒</m:t>
                      </m:r>
                      <m:r>
                        <a:rPr lang="es-ES" sz="1100" b="0" i="1" smtClean="0">
                          <a:solidFill>
                            <a:srgbClr val="787775"/>
                          </a:solidFill>
                          <a:latin typeface="Cambria Math" panose="02040503050406030204" pitchFamily="18" charset="0"/>
                        </a:rPr>
                        <m:t>)</m:t>
                      </m:r>
                    </m:oMath>
                  </m:oMathPara>
                </a14:m>
                <a:endParaRPr lang="es-CO" sz="1100" dirty="0">
                  <a:solidFill>
                    <a:srgbClr val="787775"/>
                  </a:solidFill>
                </a:endParaRPr>
              </a:p>
            </p:txBody>
          </p:sp>
        </mc:Choice>
        <mc:Fallback xmlns="">
          <p:sp>
            <p:nvSpPr>
              <p:cNvPr id="4" name="CuadroTexto 3">
                <a:extLst>
                  <a:ext uri="{FF2B5EF4-FFF2-40B4-BE49-F238E27FC236}">
                    <a16:creationId xmlns:a16="http://schemas.microsoft.com/office/drawing/2014/main" id="{4C83E2AC-0ACF-463E-AB47-79A8ABCEB6CB}"/>
                  </a:ext>
                </a:extLst>
              </p:cNvPr>
              <p:cNvSpPr txBox="1">
                <a:spLocks noRot="1" noChangeAspect="1" noMove="1" noResize="1" noEditPoints="1" noAdjustHandles="1" noChangeArrowheads="1" noChangeShapeType="1" noTextEdit="1"/>
              </p:cNvSpPr>
              <p:nvPr/>
            </p:nvSpPr>
            <p:spPr>
              <a:xfrm>
                <a:off x="6672064" y="4438929"/>
                <a:ext cx="4694234" cy="477054"/>
              </a:xfrm>
              <a:prstGeom prst="rect">
                <a:avLst/>
              </a:prstGeom>
              <a:blipFill>
                <a:blip r:embed="rId3"/>
                <a:stretch>
                  <a:fillRect l="-1427" t="-15385" r="-2205" b="-12821"/>
                </a:stretch>
              </a:blipFill>
            </p:spPr>
            <p:txBody>
              <a:bodyPr/>
              <a:lstStyle/>
              <a:p>
                <a:r>
                  <a:rPr lang="es-CO">
                    <a:noFill/>
                  </a:rPr>
                  <a:t> </a:t>
                </a:r>
              </a:p>
            </p:txBody>
          </p:sp>
        </mc:Fallback>
      </mc:AlternateContent>
    </p:spTree>
    <p:extLst>
      <p:ext uri="{BB962C8B-B14F-4D97-AF65-F5344CB8AC3E}">
        <p14:creationId xmlns:p14="http://schemas.microsoft.com/office/powerpoint/2010/main" val="241949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Resultados Estimación de costos</a:t>
            </a:r>
            <a:endParaRPr lang="es-CO" dirty="0"/>
          </a:p>
        </p:txBody>
      </p:sp>
      <p:sp>
        <p:nvSpPr>
          <p:cNvPr id="91" name="Google Shape;91;p14"/>
          <p:cNvSpPr txBox="1"/>
          <p:nvPr/>
        </p:nvSpPr>
        <p:spPr>
          <a:xfrm>
            <a:off x="458354" y="2019003"/>
            <a:ext cx="923804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dirty="0">
                <a:solidFill>
                  <a:srgbClr val="787775"/>
                </a:solidFill>
                <a:latin typeface="Arial"/>
                <a:ea typeface="Arial"/>
                <a:cs typeface="Arial"/>
                <a:sym typeface="Arial"/>
              </a:rPr>
              <a:t>Costos del tratamiento por ruta de atención – Sistema de Salud</a:t>
            </a:r>
          </a:p>
        </p:txBody>
      </p:sp>
      <p:sp>
        <p:nvSpPr>
          <p:cNvPr id="6" name="13 Rectángulo">
            <a:extLst>
              <a:ext uri="{FF2B5EF4-FFF2-40B4-BE49-F238E27FC236}">
                <a16:creationId xmlns:a16="http://schemas.microsoft.com/office/drawing/2014/main" id="{7C3DED5F-4F1F-4C5D-8D17-63D63396EEAF}"/>
              </a:ext>
            </a:extLst>
          </p:cNvPr>
          <p:cNvSpPr/>
          <p:nvPr/>
        </p:nvSpPr>
        <p:spPr>
          <a:xfrm>
            <a:off x="263352" y="5092749"/>
            <a:ext cx="6213711" cy="646331"/>
          </a:xfrm>
          <a:prstGeom prst="rect">
            <a:avLst/>
          </a:prstGeom>
          <a:noFill/>
        </p:spPr>
        <p:txBody>
          <a:bodyPr wrap="square">
            <a:spAutoFit/>
          </a:bodyPr>
          <a:lstStyle/>
          <a:p>
            <a:r>
              <a:rPr lang="es-CO" b="1" dirty="0">
                <a:solidFill>
                  <a:srgbClr val="00B09B"/>
                </a:solidFill>
              </a:rPr>
              <a:t>Valores USD indexados a octubre 2023</a:t>
            </a:r>
            <a:br>
              <a:rPr lang="es-CO" sz="1100" b="1" dirty="0">
                <a:solidFill>
                  <a:srgbClr val="787775"/>
                </a:solidFill>
              </a:rPr>
            </a:br>
            <a:r>
              <a:rPr lang="es-CO" sz="1100" b="1" dirty="0">
                <a:solidFill>
                  <a:srgbClr val="787775"/>
                </a:solidFill>
              </a:rPr>
              <a:t>Fuente: </a:t>
            </a:r>
            <a:r>
              <a:rPr lang="es-CO" sz="1100" dirty="0">
                <a:solidFill>
                  <a:srgbClr val="787775"/>
                </a:solidFill>
              </a:rPr>
              <a:t>Elaboración propia</a:t>
            </a:r>
          </a:p>
          <a:p>
            <a:r>
              <a:rPr lang="es-CO" sz="1100" b="1" dirty="0">
                <a:solidFill>
                  <a:srgbClr val="787775"/>
                </a:solidFill>
              </a:rPr>
              <a:t>Fuente Datos: </a:t>
            </a:r>
            <a:r>
              <a:rPr lang="es-CO" sz="1100" dirty="0">
                <a:solidFill>
                  <a:srgbClr val="787775"/>
                </a:solidFill>
              </a:rPr>
              <a:t>Bello et al (2000), Castañeda-Orejuela et al (2012), Castro Rodríguez et al (2016)</a:t>
            </a:r>
          </a:p>
        </p:txBody>
      </p:sp>
      <p:graphicFrame>
        <p:nvGraphicFramePr>
          <p:cNvPr id="4" name="Tabla 3">
            <a:extLst>
              <a:ext uri="{FF2B5EF4-FFF2-40B4-BE49-F238E27FC236}">
                <a16:creationId xmlns:a16="http://schemas.microsoft.com/office/drawing/2014/main" id="{9A3476B6-F724-4EC1-89E1-C32FF09BED67}"/>
              </a:ext>
            </a:extLst>
          </p:cNvPr>
          <p:cNvGraphicFramePr>
            <a:graphicFrameLocks noGrp="1"/>
          </p:cNvGraphicFramePr>
          <p:nvPr>
            <p:extLst>
              <p:ext uri="{D42A27DB-BD31-4B8C-83A1-F6EECF244321}">
                <p14:modId xmlns:p14="http://schemas.microsoft.com/office/powerpoint/2010/main" val="333648185"/>
              </p:ext>
            </p:extLst>
          </p:nvPr>
        </p:nvGraphicFramePr>
        <p:xfrm>
          <a:off x="263352" y="2727960"/>
          <a:ext cx="11233249" cy="1402080"/>
        </p:xfrm>
        <a:graphic>
          <a:graphicData uri="http://schemas.openxmlformats.org/drawingml/2006/table">
            <a:tbl>
              <a:tblPr/>
              <a:tblGrid>
                <a:gridCol w="2639642">
                  <a:extLst>
                    <a:ext uri="{9D8B030D-6E8A-4147-A177-3AD203B41FA5}">
                      <a16:colId xmlns:a16="http://schemas.microsoft.com/office/drawing/2014/main" val="1249624162"/>
                    </a:ext>
                  </a:extLst>
                </a:gridCol>
                <a:gridCol w="1430196">
                  <a:extLst>
                    <a:ext uri="{9D8B030D-6E8A-4147-A177-3AD203B41FA5}">
                      <a16:colId xmlns:a16="http://schemas.microsoft.com/office/drawing/2014/main" val="657336061"/>
                    </a:ext>
                  </a:extLst>
                </a:gridCol>
                <a:gridCol w="1492377">
                  <a:extLst>
                    <a:ext uri="{9D8B030D-6E8A-4147-A177-3AD203B41FA5}">
                      <a16:colId xmlns:a16="http://schemas.microsoft.com/office/drawing/2014/main" val="2454272278"/>
                    </a:ext>
                  </a:extLst>
                </a:gridCol>
                <a:gridCol w="1492377">
                  <a:extLst>
                    <a:ext uri="{9D8B030D-6E8A-4147-A177-3AD203B41FA5}">
                      <a16:colId xmlns:a16="http://schemas.microsoft.com/office/drawing/2014/main" val="415103655"/>
                    </a:ext>
                  </a:extLst>
                </a:gridCol>
                <a:gridCol w="1355577">
                  <a:extLst>
                    <a:ext uri="{9D8B030D-6E8A-4147-A177-3AD203B41FA5}">
                      <a16:colId xmlns:a16="http://schemas.microsoft.com/office/drawing/2014/main" val="3474681059"/>
                    </a:ext>
                  </a:extLst>
                </a:gridCol>
                <a:gridCol w="1430196">
                  <a:extLst>
                    <a:ext uri="{9D8B030D-6E8A-4147-A177-3AD203B41FA5}">
                      <a16:colId xmlns:a16="http://schemas.microsoft.com/office/drawing/2014/main" val="1430645610"/>
                    </a:ext>
                  </a:extLst>
                </a:gridCol>
                <a:gridCol w="1392884">
                  <a:extLst>
                    <a:ext uri="{9D8B030D-6E8A-4147-A177-3AD203B41FA5}">
                      <a16:colId xmlns:a16="http://schemas.microsoft.com/office/drawing/2014/main" val="4183678551"/>
                    </a:ext>
                  </a:extLst>
                </a:gridCol>
              </a:tblGrid>
              <a:tr h="195639">
                <a:tc>
                  <a:txBody>
                    <a:bodyPr/>
                    <a:lstStyle/>
                    <a:p>
                      <a:pPr algn="ctr" rtl="0" fontAlgn="ctr"/>
                      <a:r>
                        <a:rPr lang="es-CO" sz="1800" b="1" i="0" u="none" strike="noStrike" dirty="0">
                          <a:solidFill>
                            <a:srgbClr val="FFFFFF"/>
                          </a:solidFill>
                          <a:effectLst/>
                          <a:latin typeface="Arial" panose="020B0604020202020204" pitchFamily="34" charset="0"/>
                        </a:rPr>
                        <a:t>TIPOLOGIA</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dirty="0">
                          <a:solidFill>
                            <a:srgbClr val="FFFFFF"/>
                          </a:solidFill>
                          <a:effectLst/>
                          <a:latin typeface="Arial" panose="020B0604020202020204" pitchFamily="34" charset="0"/>
                        </a:rPr>
                        <a:t>2019</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dirty="0">
                          <a:solidFill>
                            <a:srgbClr val="FFFFFF"/>
                          </a:solidFill>
                          <a:effectLst/>
                          <a:latin typeface="Arial" panose="020B0604020202020204" pitchFamily="34" charset="0"/>
                        </a:rPr>
                        <a:t>2020</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a:solidFill>
                            <a:srgbClr val="FFFFFF"/>
                          </a:solidFill>
                          <a:effectLst/>
                          <a:latin typeface="Arial" panose="020B0604020202020204" pitchFamily="34" charset="0"/>
                        </a:rPr>
                        <a:t>2021</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a:solidFill>
                            <a:srgbClr val="FFFFFF"/>
                          </a:solidFill>
                          <a:effectLst/>
                          <a:latin typeface="Arial" panose="020B0604020202020204" pitchFamily="34" charset="0"/>
                        </a:rPr>
                        <a:t>2022</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dirty="0">
                          <a:solidFill>
                            <a:srgbClr val="FFFFFF"/>
                          </a:solidFill>
                          <a:effectLst/>
                          <a:latin typeface="Arial" panose="020B0604020202020204" pitchFamily="34" charset="0"/>
                        </a:rPr>
                        <a:t>2023-10</a:t>
                      </a:r>
                    </a:p>
                  </a:txBody>
                  <a:tcPr marL="0" marR="0" marT="0" marB="0" anchor="ctr">
                    <a:lnL>
                      <a:noFill/>
                    </a:lnL>
                    <a:lnR>
                      <a:noFill/>
                    </a:lnR>
                    <a:lnT>
                      <a:noFill/>
                    </a:lnT>
                    <a:lnB>
                      <a:noFill/>
                    </a:lnB>
                    <a:solidFill>
                      <a:srgbClr val="00B09B"/>
                    </a:solidFill>
                  </a:tcPr>
                </a:tc>
                <a:tc>
                  <a:txBody>
                    <a:bodyPr/>
                    <a:lstStyle/>
                    <a:p>
                      <a:pPr algn="ctr" rtl="0" fontAlgn="ctr"/>
                      <a:r>
                        <a:rPr lang="es-CO" sz="1800" b="1" i="0" u="none" strike="noStrike" dirty="0">
                          <a:solidFill>
                            <a:srgbClr val="FFFFFF"/>
                          </a:solidFill>
                          <a:effectLst/>
                          <a:latin typeface="Arial" panose="020B0604020202020204" pitchFamily="34" charset="0"/>
                        </a:rPr>
                        <a:t>2019-2023</a:t>
                      </a:r>
                    </a:p>
                  </a:txBody>
                  <a:tcPr marL="0" marR="0" marT="0" marB="0" anchor="ctr">
                    <a:lnL>
                      <a:noFill/>
                    </a:lnL>
                    <a:lnR>
                      <a:noFill/>
                    </a:lnR>
                    <a:lnT>
                      <a:noFill/>
                    </a:lnT>
                    <a:lnB>
                      <a:noFill/>
                    </a:lnB>
                    <a:solidFill>
                      <a:srgbClr val="00B09B"/>
                    </a:solidFill>
                  </a:tcPr>
                </a:tc>
                <a:extLst>
                  <a:ext uri="{0D108BD9-81ED-4DB2-BD59-A6C34878D82A}">
                    <a16:rowId xmlns:a16="http://schemas.microsoft.com/office/drawing/2014/main" val="1433503400"/>
                  </a:ext>
                </a:extLst>
              </a:tr>
              <a:tr h="183412">
                <a:tc>
                  <a:txBody>
                    <a:bodyPr/>
                    <a:lstStyle/>
                    <a:p>
                      <a:pPr algn="l" fontAlgn="ctr"/>
                      <a:r>
                        <a:rPr lang="es-CO" sz="1400" b="0" i="0" u="none" strike="noStrike" cap="none" dirty="0">
                          <a:solidFill>
                            <a:srgbClr val="787775"/>
                          </a:solidFill>
                          <a:latin typeface="Arial"/>
                          <a:ea typeface="+mn-ea"/>
                          <a:cs typeface="Arial"/>
                          <a:sym typeface="Arial"/>
                        </a:rPr>
                        <a:t>Casos Ambulatorio   </a:t>
                      </a:r>
                    </a:p>
                  </a:txBody>
                  <a:tcPr marL="0" marR="0" marT="0" marB="0" anchor="ctr">
                    <a:lnL>
                      <a:noFill/>
                    </a:lnL>
                    <a:lnR>
                      <a:noFill/>
                    </a:lnR>
                    <a:lnT>
                      <a:noFill/>
                    </a:lnT>
                    <a:lnB>
                      <a:noFill/>
                    </a:lnB>
                    <a:solidFill>
                      <a:srgbClr val="FFFFFF"/>
                    </a:solidFill>
                  </a:tcPr>
                </a:tc>
                <a:tc>
                  <a:txBody>
                    <a:bodyPr/>
                    <a:lstStyle/>
                    <a:p>
                      <a:pPr algn="ctr" fontAlgn="b"/>
                      <a:r>
                        <a:rPr lang="es-CO" sz="1400" b="0" i="0" u="none" strike="noStrike" cap="none" dirty="0">
                          <a:solidFill>
                            <a:srgbClr val="787775"/>
                          </a:solidFill>
                          <a:latin typeface="Arial"/>
                          <a:ea typeface="+mn-ea"/>
                          <a:cs typeface="Arial"/>
                          <a:sym typeface="Arial"/>
                        </a:rPr>
                        <a:t>367,874</a:t>
                      </a:r>
                    </a:p>
                  </a:txBody>
                  <a:tcPr marL="0" marR="0" marT="0" marB="0" anchor="ctr">
                    <a:lnL>
                      <a:noFill/>
                    </a:lnL>
                    <a:lnR>
                      <a:noFill/>
                    </a:lnR>
                    <a:lnT>
                      <a:noFill/>
                    </a:lnT>
                    <a:lnB>
                      <a:noFill/>
                    </a:lnB>
                  </a:tcPr>
                </a:tc>
                <a:tc>
                  <a:txBody>
                    <a:bodyPr/>
                    <a:lstStyle/>
                    <a:p>
                      <a:pPr algn="ctr" fontAlgn="b"/>
                      <a:r>
                        <a:rPr lang="es-CO" sz="1400" b="0" i="0" u="none" strike="noStrike" cap="none">
                          <a:solidFill>
                            <a:srgbClr val="787775"/>
                          </a:solidFill>
                          <a:latin typeface="Arial"/>
                          <a:ea typeface="+mn-ea"/>
                          <a:cs typeface="Arial"/>
                          <a:sym typeface="Arial"/>
                        </a:rPr>
                        <a:t>1,284,193</a:t>
                      </a:r>
                    </a:p>
                  </a:txBody>
                  <a:tcPr marL="0" marR="0" marT="0" marB="0" anchor="ctr">
                    <a:lnL>
                      <a:noFill/>
                    </a:lnL>
                    <a:lnR>
                      <a:noFill/>
                    </a:lnR>
                    <a:lnT>
                      <a:noFill/>
                    </a:lnT>
                    <a:lnB>
                      <a:noFill/>
                    </a:lnB>
                  </a:tcPr>
                </a:tc>
                <a:tc>
                  <a:txBody>
                    <a:bodyPr/>
                    <a:lstStyle/>
                    <a:p>
                      <a:pPr algn="ctr" fontAlgn="b"/>
                      <a:r>
                        <a:rPr lang="es-CO" sz="1400" b="0" i="0" u="none" strike="noStrike" cap="none">
                          <a:solidFill>
                            <a:srgbClr val="787775"/>
                          </a:solidFill>
                          <a:latin typeface="Arial"/>
                          <a:ea typeface="+mn-ea"/>
                          <a:cs typeface="Arial"/>
                          <a:sym typeface="Arial"/>
                        </a:rPr>
                        <a:t>596,998</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324,991</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971,606</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3,545,661</a:t>
                      </a:r>
                    </a:p>
                  </a:txBody>
                  <a:tcPr marL="0" marR="0" marT="0" marB="0" anchor="ctr">
                    <a:lnL>
                      <a:noFill/>
                    </a:lnL>
                    <a:lnR>
                      <a:noFill/>
                    </a:lnR>
                    <a:lnT>
                      <a:noFill/>
                    </a:lnT>
                    <a:lnB>
                      <a:noFill/>
                    </a:lnB>
                  </a:tcPr>
                </a:tc>
                <a:extLst>
                  <a:ext uri="{0D108BD9-81ED-4DB2-BD59-A6C34878D82A}">
                    <a16:rowId xmlns:a16="http://schemas.microsoft.com/office/drawing/2014/main" val="3185156380"/>
                  </a:ext>
                </a:extLst>
              </a:tr>
              <a:tr h="183412">
                <a:tc>
                  <a:txBody>
                    <a:bodyPr/>
                    <a:lstStyle/>
                    <a:p>
                      <a:pPr algn="l" fontAlgn="ctr"/>
                      <a:r>
                        <a:rPr lang="es-CO" sz="1400" b="0" i="0" u="none" strike="noStrike" cap="none" dirty="0">
                          <a:solidFill>
                            <a:srgbClr val="787775"/>
                          </a:solidFill>
                          <a:latin typeface="Arial"/>
                          <a:ea typeface="+mn-ea"/>
                          <a:cs typeface="Arial"/>
                          <a:sym typeface="Arial"/>
                        </a:rPr>
                        <a:t>Casos Hospitalización Dengue </a:t>
                      </a:r>
                    </a:p>
                  </a:txBody>
                  <a:tcPr marL="0" marR="0" marT="0" marB="0" anchor="ctr">
                    <a:lnL>
                      <a:noFill/>
                    </a:lnL>
                    <a:lnR>
                      <a:noFill/>
                    </a:lnR>
                    <a:lnT>
                      <a:noFill/>
                    </a:lnT>
                    <a:lnB>
                      <a:noFill/>
                    </a:lnB>
                    <a:solidFill>
                      <a:srgbClr val="FFFFFF"/>
                    </a:solidFill>
                  </a:tcPr>
                </a:tc>
                <a:tc>
                  <a:txBody>
                    <a:bodyPr/>
                    <a:lstStyle/>
                    <a:p>
                      <a:pPr algn="ctr" fontAlgn="b"/>
                      <a:r>
                        <a:rPr lang="es-CO" sz="1400" b="0" i="0" u="none" strike="noStrike" cap="none" dirty="0">
                          <a:solidFill>
                            <a:srgbClr val="787775"/>
                          </a:solidFill>
                          <a:latin typeface="Arial"/>
                          <a:ea typeface="+mn-ea"/>
                          <a:cs typeface="Arial"/>
                          <a:sym typeface="Arial"/>
                        </a:rPr>
                        <a:t>2,840,335</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9,316,853</a:t>
                      </a:r>
                    </a:p>
                  </a:txBody>
                  <a:tcPr marL="0" marR="0" marT="0" marB="0" anchor="ctr">
                    <a:lnL>
                      <a:noFill/>
                    </a:lnL>
                    <a:lnR>
                      <a:noFill/>
                    </a:lnR>
                    <a:lnT>
                      <a:noFill/>
                    </a:lnT>
                    <a:lnB>
                      <a:noFill/>
                    </a:lnB>
                  </a:tcPr>
                </a:tc>
                <a:tc>
                  <a:txBody>
                    <a:bodyPr/>
                    <a:lstStyle/>
                    <a:p>
                      <a:pPr algn="ctr" fontAlgn="b"/>
                      <a:r>
                        <a:rPr lang="es-CO" sz="1400" b="0" i="0" u="none" strike="noStrike" cap="none">
                          <a:solidFill>
                            <a:srgbClr val="787775"/>
                          </a:solidFill>
                          <a:latin typeface="Arial"/>
                          <a:ea typeface="+mn-ea"/>
                          <a:cs typeface="Arial"/>
                          <a:sym typeface="Arial"/>
                        </a:rPr>
                        <a:t>3,337,567</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1,327,804</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4,983,433</a:t>
                      </a:r>
                    </a:p>
                  </a:txBody>
                  <a:tcPr marL="0" marR="0" marT="0" marB="0" anchor="ctr">
                    <a:lnL>
                      <a:noFill/>
                    </a:lnL>
                    <a:lnR>
                      <a:noFill/>
                    </a:lnR>
                    <a:lnT>
                      <a:noFill/>
                    </a:lnT>
                    <a:lnB>
                      <a:noFill/>
                    </a:lnB>
                  </a:tcPr>
                </a:tc>
                <a:tc>
                  <a:txBody>
                    <a:bodyPr/>
                    <a:lstStyle/>
                    <a:p>
                      <a:pPr algn="ctr" fontAlgn="b"/>
                      <a:r>
                        <a:rPr lang="es-CO" sz="1400" b="0" i="0" u="none" strike="noStrike" cap="none">
                          <a:solidFill>
                            <a:srgbClr val="787775"/>
                          </a:solidFill>
                          <a:latin typeface="Arial"/>
                          <a:ea typeface="+mn-ea"/>
                          <a:cs typeface="Arial"/>
                          <a:sym typeface="Arial"/>
                        </a:rPr>
                        <a:t>21,805,992</a:t>
                      </a:r>
                    </a:p>
                  </a:txBody>
                  <a:tcPr marL="0" marR="0" marT="0" marB="0" anchor="ctr">
                    <a:lnL>
                      <a:noFill/>
                    </a:lnL>
                    <a:lnR>
                      <a:noFill/>
                    </a:lnR>
                    <a:lnT>
                      <a:noFill/>
                    </a:lnT>
                    <a:lnB>
                      <a:noFill/>
                    </a:lnB>
                  </a:tcPr>
                </a:tc>
                <a:extLst>
                  <a:ext uri="{0D108BD9-81ED-4DB2-BD59-A6C34878D82A}">
                    <a16:rowId xmlns:a16="http://schemas.microsoft.com/office/drawing/2014/main" val="1230553075"/>
                  </a:ext>
                </a:extLst>
              </a:tr>
              <a:tr h="183412">
                <a:tc>
                  <a:txBody>
                    <a:bodyPr/>
                    <a:lstStyle/>
                    <a:p>
                      <a:pPr algn="l" fontAlgn="ctr"/>
                      <a:r>
                        <a:rPr lang="es-ES" sz="1400" b="0" i="0" u="none" strike="noStrike" cap="none" dirty="0">
                          <a:solidFill>
                            <a:srgbClr val="787775"/>
                          </a:solidFill>
                          <a:latin typeface="Arial"/>
                          <a:ea typeface="+mn-ea"/>
                          <a:cs typeface="Arial"/>
                          <a:sym typeface="Arial"/>
                        </a:rPr>
                        <a:t>Casos Hospitalización Dengue grave     </a:t>
                      </a:r>
                    </a:p>
                  </a:txBody>
                  <a:tcPr marL="0" marR="0" marT="0" marB="0" anchor="ctr">
                    <a:lnL>
                      <a:noFill/>
                    </a:lnL>
                    <a:lnR>
                      <a:noFill/>
                    </a:lnR>
                    <a:lnT>
                      <a:noFill/>
                    </a:lnT>
                    <a:lnB>
                      <a:noFill/>
                    </a:lnB>
                    <a:solidFill>
                      <a:srgbClr val="FFFFFF"/>
                    </a:solidFill>
                  </a:tcPr>
                </a:tc>
                <a:tc>
                  <a:txBody>
                    <a:bodyPr/>
                    <a:lstStyle/>
                    <a:p>
                      <a:pPr algn="ctr" fontAlgn="b"/>
                      <a:r>
                        <a:rPr lang="es-CO" sz="1400" b="0" i="0" u="none" strike="noStrike" cap="none" dirty="0">
                          <a:solidFill>
                            <a:srgbClr val="787775"/>
                          </a:solidFill>
                          <a:latin typeface="Arial"/>
                          <a:ea typeface="+mn-ea"/>
                          <a:cs typeface="Arial"/>
                          <a:sym typeface="Arial"/>
                        </a:rPr>
                        <a:t>219,281</a:t>
                      </a:r>
                    </a:p>
                  </a:txBody>
                  <a:tcPr marL="0" marR="0" marT="0" marB="0" anchor="ctr">
                    <a:lnL>
                      <a:noFill/>
                    </a:lnL>
                    <a:lnR>
                      <a:noFill/>
                    </a:lnR>
                    <a:lnT>
                      <a:noFill/>
                    </a:lnT>
                    <a:lnB>
                      <a:noFill/>
                    </a:lnB>
                  </a:tcPr>
                </a:tc>
                <a:tc>
                  <a:txBody>
                    <a:bodyPr/>
                    <a:lstStyle/>
                    <a:p>
                      <a:pPr algn="ctr" fontAlgn="b"/>
                      <a:r>
                        <a:rPr lang="es-CO" sz="1400" b="0" i="0" u="none" strike="noStrike" cap="none">
                          <a:solidFill>
                            <a:srgbClr val="787775"/>
                          </a:solidFill>
                          <a:latin typeface="Arial"/>
                          <a:ea typeface="+mn-ea"/>
                          <a:cs typeface="Arial"/>
                          <a:sym typeface="Arial"/>
                        </a:rPr>
                        <a:t>650,768</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219,281</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130,861</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304,163</a:t>
                      </a:r>
                    </a:p>
                  </a:txBody>
                  <a:tcPr marL="0" marR="0" marT="0" marB="0" anchor="ctr">
                    <a:lnL>
                      <a:noFill/>
                    </a:lnL>
                    <a:lnR>
                      <a:noFill/>
                    </a:lnR>
                    <a:lnT>
                      <a:noFill/>
                    </a:lnT>
                    <a:lnB>
                      <a:noFill/>
                    </a:lnB>
                  </a:tcPr>
                </a:tc>
                <a:tc>
                  <a:txBody>
                    <a:bodyPr/>
                    <a:lstStyle/>
                    <a:p>
                      <a:pPr algn="ctr" fontAlgn="b"/>
                      <a:r>
                        <a:rPr lang="es-CO" sz="1400" b="0" i="0" u="none" strike="noStrike" cap="none" dirty="0">
                          <a:solidFill>
                            <a:srgbClr val="787775"/>
                          </a:solidFill>
                          <a:latin typeface="Arial"/>
                          <a:ea typeface="+mn-ea"/>
                          <a:cs typeface="Arial"/>
                          <a:sym typeface="Arial"/>
                        </a:rPr>
                        <a:t>1,524,354</a:t>
                      </a:r>
                    </a:p>
                  </a:txBody>
                  <a:tcPr marL="0" marR="0" marT="0" marB="0" anchor="ctr">
                    <a:lnL>
                      <a:noFill/>
                    </a:lnL>
                    <a:lnR>
                      <a:noFill/>
                    </a:lnR>
                    <a:lnT>
                      <a:noFill/>
                    </a:lnT>
                    <a:lnB>
                      <a:noFill/>
                    </a:lnB>
                  </a:tcPr>
                </a:tc>
                <a:extLst>
                  <a:ext uri="{0D108BD9-81ED-4DB2-BD59-A6C34878D82A}">
                    <a16:rowId xmlns:a16="http://schemas.microsoft.com/office/drawing/2014/main" val="986453106"/>
                  </a:ext>
                </a:extLst>
              </a:tr>
              <a:tr h="183412">
                <a:tc>
                  <a:txBody>
                    <a:bodyPr/>
                    <a:lstStyle/>
                    <a:p>
                      <a:pPr algn="l" fontAlgn="b"/>
                      <a:r>
                        <a:rPr lang="es-CO" sz="1800" b="1" i="0" u="none" strike="noStrike" cap="none" dirty="0">
                          <a:solidFill>
                            <a:srgbClr val="787775"/>
                          </a:solidFill>
                          <a:latin typeface="Arial"/>
                          <a:ea typeface="+mn-ea"/>
                          <a:cs typeface="Arial"/>
                          <a:sym typeface="Arial"/>
                        </a:rPr>
                        <a:t>TOTAL</a:t>
                      </a:r>
                    </a:p>
                  </a:txBody>
                  <a:tcPr marL="0" marR="0" marT="0" marB="0" anchor="b">
                    <a:lnL>
                      <a:noFill/>
                    </a:lnL>
                    <a:lnR>
                      <a:noFill/>
                    </a:lnR>
                    <a:lnT>
                      <a:noFill/>
                    </a:lnT>
                    <a:lnB>
                      <a:noFill/>
                    </a:lnB>
                  </a:tcPr>
                </a:tc>
                <a:tc>
                  <a:txBody>
                    <a:bodyPr/>
                    <a:lstStyle/>
                    <a:p>
                      <a:pPr algn="ctr" fontAlgn="b"/>
                      <a:r>
                        <a:rPr lang="es-CO" sz="1600" b="0" i="0" u="none" strike="noStrike" cap="none" dirty="0">
                          <a:solidFill>
                            <a:srgbClr val="787775"/>
                          </a:solidFill>
                          <a:latin typeface="Arial"/>
                          <a:ea typeface="+mn-ea"/>
                          <a:cs typeface="Arial"/>
                          <a:sym typeface="Arial"/>
                        </a:rPr>
                        <a:t>3,427,489</a:t>
                      </a:r>
                    </a:p>
                  </a:txBody>
                  <a:tcPr marL="0" marR="0" marT="0" marB="0" anchor="ctr">
                    <a:lnL>
                      <a:noFill/>
                    </a:lnL>
                    <a:lnR>
                      <a:noFill/>
                    </a:lnR>
                    <a:lnT>
                      <a:noFill/>
                    </a:lnT>
                    <a:lnB>
                      <a:noFill/>
                    </a:lnB>
                  </a:tcPr>
                </a:tc>
                <a:tc>
                  <a:txBody>
                    <a:bodyPr/>
                    <a:lstStyle/>
                    <a:p>
                      <a:pPr algn="ctr" fontAlgn="b"/>
                      <a:r>
                        <a:rPr lang="es-CO" sz="1600" b="1" i="0" u="none" strike="noStrike" cap="none" dirty="0">
                          <a:solidFill>
                            <a:srgbClr val="787775"/>
                          </a:solidFill>
                          <a:latin typeface="Arial"/>
                          <a:ea typeface="+mn-ea"/>
                          <a:cs typeface="Arial"/>
                          <a:sym typeface="Arial"/>
                        </a:rPr>
                        <a:t>11,251,814</a:t>
                      </a:r>
                    </a:p>
                  </a:txBody>
                  <a:tcPr marL="0" marR="0" marT="0" marB="0" anchor="ctr">
                    <a:lnL>
                      <a:noFill/>
                    </a:lnL>
                    <a:lnR>
                      <a:noFill/>
                    </a:lnR>
                    <a:lnT>
                      <a:noFill/>
                    </a:lnT>
                    <a:lnB>
                      <a:noFill/>
                    </a:lnB>
                  </a:tcPr>
                </a:tc>
                <a:tc>
                  <a:txBody>
                    <a:bodyPr/>
                    <a:lstStyle/>
                    <a:p>
                      <a:pPr algn="ctr" fontAlgn="b"/>
                      <a:r>
                        <a:rPr lang="es-CO" sz="1600" b="0" i="0" u="none" strike="noStrike" cap="none" dirty="0">
                          <a:solidFill>
                            <a:srgbClr val="787775"/>
                          </a:solidFill>
                          <a:latin typeface="Arial"/>
                          <a:ea typeface="+mn-ea"/>
                          <a:cs typeface="Arial"/>
                          <a:sym typeface="Arial"/>
                        </a:rPr>
                        <a:t>4,153,845</a:t>
                      </a:r>
                    </a:p>
                  </a:txBody>
                  <a:tcPr marL="0" marR="0" marT="0" marB="0" anchor="ctr">
                    <a:lnL>
                      <a:noFill/>
                    </a:lnL>
                    <a:lnR>
                      <a:noFill/>
                    </a:lnR>
                    <a:lnT>
                      <a:noFill/>
                    </a:lnT>
                    <a:lnB>
                      <a:noFill/>
                    </a:lnB>
                  </a:tcPr>
                </a:tc>
                <a:tc>
                  <a:txBody>
                    <a:bodyPr/>
                    <a:lstStyle/>
                    <a:p>
                      <a:pPr algn="ctr" fontAlgn="b"/>
                      <a:r>
                        <a:rPr lang="es-CO" sz="1600" b="0" i="0" u="none" strike="noStrike" cap="none" dirty="0">
                          <a:solidFill>
                            <a:srgbClr val="787775"/>
                          </a:solidFill>
                          <a:latin typeface="Arial"/>
                          <a:ea typeface="+mn-ea"/>
                          <a:cs typeface="Arial"/>
                          <a:sym typeface="Arial"/>
                        </a:rPr>
                        <a:t>1,783,656</a:t>
                      </a:r>
                    </a:p>
                  </a:txBody>
                  <a:tcPr marL="0" marR="0" marT="0" marB="0" anchor="ctr">
                    <a:lnL>
                      <a:noFill/>
                    </a:lnL>
                    <a:lnR>
                      <a:noFill/>
                    </a:lnR>
                    <a:lnT>
                      <a:noFill/>
                    </a:lnT>
                    <a:lnB>
                      <a:noFill/>
                    </a:lnB>
                  </a:tcPr>
                </a:tc>
                <a:tc>
                  <a:txBody>
                    <a:bodyPr/>
                    <a:lstStyle/>
                    <a:p>
                      <a:pPr algn="ctr" fontAlgn="b"/>
                      <a:r>
                        <a:rPr lang="es-CO" sz="1600" b="1" i="0" u="none" strike="noStrike" cap="none" dirty="0">
                          <a:solidFill>
                            <a:srgbClr val="787775"/>
                          </a:solidFill>
                          <a:latin typeface="Arial"/>
                          <a:ea typeface="+mn-ea"/>
                          <a:cs typeface="Arial"/>
                          <a:sym typeface="Arial"/>
                        </a:rPr>
                        <a:t>6,259,202</a:t>
                      </a:r>
                    </a:p>
                  </a:txBody>
                  <a:tcPr marL="0" marR="0" marT="0" marB="0" anchor="ctr">
                    <a:lnL>
                      <a:noFill/>
                    </a:lnL>
                    <a:lnR>
                      <a:noFill/>
                    </a:lnR>
                    <a:lnT>
                      <a:noFill/>
                    </a:lnT>
                    <a:lnB>
                      <a:noFill/>
                    </a:lnB>
                  </a:tcPr>
                </a:tc>
                <a:tc>
                  <a:txBody>
                    <a:bodyPr/>
                    <a:lstStyle/>
                    <a:p>
                      <a:pPr algn="ctr" fontAlgn="b"/>
                      <a:r>
                        <a:rPr lang="es-CO" sz="1800" b="1" i="0" u="none" strike="noStrike" cap="none" dirty="0">
                          <a:solidFill>
                            <a:srgbClr val="00B09B"/>
                          </a:solidFill>
                          <a:latin typeface="Arial"/>
                          <a:ea typeface="+mn-ea"/>
                          <a:cs typeface="Arial"/>
                          <a:sym typeface="Arial"/>
                        </a:rPr>
                        <a:t>26,876,007</a:t>
                      </a:r>
                    </a:p>
                  </a:txBody>
                  <a:tcPr marL="0" marR="0" marT="0" marB="0" anchor="ctr">
                    <a:lnL>
                      <a:noFill/>
                    </a:lnL>
                    <a:lnR>
                      <a:noFill/>
                    </a:lnR>
                    <a:lnT>
                      <a:noFill/>
                    </a:lnT>
                    <a:lnB>
                      <a:noFill/>
                    </a:lnB>
                  </a:tcPr>
                </a:tc>
                <a:extLst>
                  <a:ext uri="{0D108BD9-81ED-4DB2-BD59-A6C34878D82A}">
                    <a16:rowId xmlns:a16="http://schemas.microsoft.com/office/drawing/2014/main" val="4254785455"/>
                  </a:ext>
                </a:extLst>
              </a:tr>
            </a:tbl>
          </a:graphicData>
        </a:graphic>
      </p:graphicFrame>
      <p:pic>
        <p:nvPicPr>
          <p:cNvPr id="13" name="Imagen 12">
            <a:extLst>
              <a:ext uri="{FF2B5EF4-FFF2-40B4-BE49-F238E27FC236}">
                <a16:creationId xmlns:a16="http://schemas.microsoft.com/office/drawing/2014/main" id="{140A9025-F61C-452E-BC40-FD6EFC059359}"/>
              </a:ext>
            </a:extLst>
          </p:cNvPr>
          <p:cNvPicPr>
            <a:picLocks noChangeAspect="1"/>
          </p:cNvPicPr>
          <p:nvPr/>
        </p:nvPicPr>
        <p:blipFill>
          <a:blip r:embed="rId3"/>
          <a:stretch>
            <a:fillRect/>
          </a:stretch>
        </p:blipFill>
        <p:spPr>
          <a:xfrm>
            <a:off x="5661297" y="261362"/>
            <a:ext cx="6053981" cy="1138706"/>
          </a:xfrm>
          <a:prstGeom prst="rect">
            <a:avLst/>
          </a:prstGeom>
        </p:spPr>
      </p:pic>
      <p:sp>
        <p:nvSpPr>
          <p:cNvPr id="18" name="13 Rectángulo">
            <a:extLst>
              <a:ext uri="{FF2B5EF4-FFF2-40B4-BE49-F238E27FC236}">
                <a16:creationId xmlns:a16="http://schemas.microsoft.com/office/drawing/2014/main" id="{8AAE193E-7D62-4A2F-80EF-792CC3B40CDD}"/>
              </a:ext>
            </a:extLst>
          </p:cNvPr>
          <p:cNvSpPr/>
          <p:nvPr/>
        </p:nvSpPr>
        <p:spPr>
          <a:xfrm>
            <a:off x="257300" y="4326904"/>
            <a:ext cx="8430988" cy="615553"/>
          </a:xfrm>
          <a:prstGeom prst="rect">
            <a:avLst/>
          </a:prstGeom>
          <a:noFill/>
        </p:spPr>
        <p:txBody>
          <a:bodyPr wrap="square">
            <a:spAutoFit/>
          </a:bodyPr>
          <a:lstStyle/>
          <a:p>
            <a:r>
              <a:rPr lang="es-ES" b="1" dirty="0">
                <a:solidFill>
                  <a:srgbClr val="787775"/>
                </a:solidFill>
              </a:rPr>
              <a:t>COSTO</a:t>
            </a:r>
            <a:r>
              <a:rPr lang="es-ES" dirty="0">
                <a:solidFill>
                  <a:srgbClr val="787775"/>
                </a:solidFill>
              </a:rPr>
              <a:t> total promedio año sin brote </a:t>
            </a:r>
            <a:r>
              <a:rPr lang="es-ES" sz="1100" dirty="0">
                <a:solidFill>
                  <a:srgbClr val="787775"/>
                </a:solidFill>
              </a:rPr>
              <a:t>(2019,2021,2022)</a:t>
            </a:r>
            <a:r>
              <a:rPr lang="es-ES" b="1" dirty="0">
                <a:solidFill>
                  <a:srgbClr val="787775"/>
                </a:solidFill>
              </a:rPr>
              <a:t>		3,121,664</a:t>
            </a:r>
          </a:p>
          <a:p>
            <a:r>
              <a:rPr lang="es-ES" b="1" dirty="0">
                <a:solidFill>
                  <a:srgbClr val="787775"/>
                </a:solidFill>
              </a:rPr>
              <a:t>COSTO </a:t>
            </a:r>
            <a:r>
              <a:rPr lang="es-ES" dirty="0">
                <a:solidFill>
                  <a:srgbClr val="787775"/>
                </a:solidFill>
              </a:rPr>
              <a:t>total</a:t>
            </a:r>
            <a:r>
              <a:rPr lang="es-ES" b="1" dirty="0">
                <a:solidFill>
                  <a:srgbClr val="787775"/>
                </a:solidFill>
              </a:rPr>
              <a:t> </a:t>
            </a:r>
            <a:r>
              <a:rPr lang="es-ES" dirty="0">
                <a:solidFill>
                  <a:srgbClr val="787775"/>
                </a:solidFill>
              </a:rPr>
              <a:t>promedio año brote </a:t>
            </a:r>
            <a:r>
              <a:rPr lang="es-ES" sz="1100" dirty="0">
                <a:solidFill>
                  <a:srgbClr val="787775"/>
                </a:solidFill>
              </a:rPr>
              <a:t>(2020-2023)</a:t>
            </a:r>
            <a:r>
              <a:rPr lang="es-ES" dirty="0">
                <a:solidFill>
                  <a:srgbClr val="787775"/>
                </a:solidFill>
              </a:rPr>
              <a:t>	</a:t>
            </a:r>
            <a:r>
              <a:rPr lang="es-ES" b="1" dirty="0">
                <a:solidFill>
                  <a:srgbClr val="787775"/>
                </a:solidFill>
              </a:rPr>
              <a:t>		</a:t>
            </a:r>
            <a:r>
              <a:rPr lang="es-ES" sz="2000" b="1" dirty="0">
                <a:solidFill>
                  <a:srgbClr val="00B09B"/>
                </a:solidFill>
              </a:rPr>
              <a:t>8,755,508</a:t>
            </a:r>
            <a:endParaRPr lang="es-ES" b="1" dirty="0">
              <a:solidFill>
                <a:srgbClr val="00B09B"/>
              </a:solidFill>
            </a:endParaRPr>
          </a:p>
        </p:txBody>
      </p:sp>
    </p:spTree>
    <p:extLst>
      <p:ext uri="{BB962C8B-B14F-4D97-AF65-F5344CB8AC3E}">
        <p14:creationId xmlns:p14="http://schemas.microsoft.com/office/powerpoint/2010/main" val="3297529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Resultados Estimación de costos</a:t>
            </a:r>
            <a:endParaRPr lang="es-CO" dirty="0"/>
          </a:p>
        </p:txBody>
      </p:sp>
      <p:sp>
        <p:nvSpPr>
          <p:cNvPr id="91" name="Google Shape;91;p14"/>
          <p:cNvSpPr txBox="1"/>
          <p:nvPr/>
        </p:nvSpPr>
        <p:spPr>
          <a:xfrm>
            <a:off x="458354" y="2019003"/>
            <a:ext cx="923804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dirty="0">
                <a:solidFill>
                  <a:srgbClr val="787775"/>
                </a:solidFill>
                <a:latin typeface="Arial"/>
                <a:ea typeface="Arial"/>
                <a:cs typeface="Arial"/>
                <a:sym typeface="Arial"/>
              </a:rPr>
              <a:t>Pérdida de bienestar</a:t>
            </a:r>
          </a:p>
        </p:txBody>
      </p:sp>
      <p:sp>
        <p:nvSpPr>
          <p:cNvPr id="6" name="13 Rectángulo">
            <a:extLst>
              <a:ext uri="{FF2B5EF4-FFF2-40B4-BE49-F238E27FC236}">
                <a16:creationId xmlns:a16="http://schemas.microsoft.com/office/drawing/2014/main" id="{7C3DED5F-4F1F-4C5D-8D17-63D63396EEAF}"/>
              </a:ext>
            </a:extLst>
          </p:cNvPr>
          <p:cNvSpPr/>
          <p:nvPr/>
        </p:nvSpPr>
        <p:spPr>
          <a:xfrm>
            <a:off x="282884" y="5158933"/>
            <a:ext cx="6213711" cy="646331"/>
          </a:xfrm>
          <a:prstGeom prst="rect">
            <a:avLst/>
          </a:prstGeom>
          <a:noFill/>
        </p:spPr>
        <p:txBody>
          <a:bodyPr wrap="square">
            <a:spAutoFit/>
          </a:bodyPr>
          <a:lstStyle/>
          <a:p>
            <a:r>
              <a:rPr lang="es-CO" b="1" dirty="0">
                <a:solidFill>
                  <a:srgbClr val="00B09B"/>
                </a:solidFill>
              </a:rPr>
              <a:t>Valores USD indexados a octubre 2023</a:t>
            </a:r>
            <a:br>
              <a:rPr lang="es-CO" sz="1100" b="1" dirty="0">
                <a:solidFill>
                  <a:srgbClr val="787775"/>
                </a:solidFill>
              </a:rPr>
            </a:br>
            <a:r>
              <a:rPr lang="es-CO" sz="1100" b="1" dirty="0">
                <a:solidFill>
                  <a:srgbClr val="787775"/>
                </a:solidFill>
              </a:rPr>
              <a:t>Fuente: </a:t>
            </a:r>
            <a:r>
              <a:rPr lang="es-CO" sz="1100" dirty="0">
                <a:solidFill>
                  <a:srgbClr val="787775"/>
                </a:solidFill>
              </a:rPr>
              <a:t>Elaboración propia</a:t>
            </a:r>
          </a:p>
          <a:p>
            <a:r>
              <a:rPr lang="es-CO" sz="1100" b="1" dirty="0">
                <a:solidFill>
                  <a:srgbClr val="787775"/>
                </a:solidFill>
              </a:rPr>
              <a:t>Fuente Datos: </a:t>
            </a:r>
            <a:r>
              <a:rPr lang="es-CO" sz="1100" dirty="0">
                <a:solidFill>
                  <a:srgbClr val="787775"/>
                </a:solidFill>
              </a:rPr>
              <a:t>Mardones y Riquelme (2018), </a:t>
            </a:r>
            <a:r>
              <a:rPr lang="es-CO" sz="1100" dirty="0" err="1">
                <a:solidFill>
                  <a:srgbClr val="787775"/>
                </a:solidFill>
              </a:rPr>
              <a:t>Cropper</a:t>
            </a:r>
            <a:r>
              <a:rPr lang="es-CO" sz="1100" dirty="0">
                <a:solidFill>
                  <a:srgbClr val="787775"/>
                </a:solidFill>
              </a:rPr>
              <a:t> y </a:t>
            </a:r>
            <a:r>
              <a:rPr lang="es-CO" sz="1100" dirty="0" err="1">
                <a:solidFill>
                  <a:srgbClr val="787775"/>
                </a:solidFill>
              </a:rPr>
              <a:t>Sahin</a:t>
            </a:r>
            <a:r>
              <a:rPr lang="es-CO" sz="1100" dirty="0">
                <a:solidFill>
                  <a:srgbClr val="787775"/>
                </a:solidFill>
              </a:rPr>
              <a:t> (2009)</a:t>
            </a:r>
          </a:p>
        </p:txBody>
      </p:sp>
      <p:grpSp>
        <p:nvGrpSpPr>
          <p:cNvPr id="2" name="Grupo 1">
            <a:extLst>
              <a:ext uri="{FF2B5EF4-FFF2-40B4-BE49-F238E27FC236}">
                <a16:creationId xmlns:a16="http://schemas.microsoft.com/office/drawing/2014/main" id="{A365EC93-EAC3-472A-8B91-9AB358D48171}"/>
              </a:ext>
            </a:extLst>
          </p:cNvPr>
          <p:cNvGrpSpPr/>
          <p:nvPr/>
        </p:nvGrpSpPr>
        <p:grpSpPr>
          <a:xfrm>
            <a:off x="5661297" y="270661"/>
            <a:ext cx="6062013" cy="678629"/>
            <a:chOff x="5583912" y="620688"/>
            <a:chExt cx="6062013" cy="678629"/>
          </a:xfrm>
        </p:grpSpPr>
        <p:pic>
          <p:nvPicPr>
            <p:cNvPr id="13" name="Imagen 12">
              <a:extLst>
                <a:ext uri="{FF2B5EF4-FFF2-40B4-BE49-F238E27FC236}">
                  <a16:creationId xmlns:a16="http://schemas.microsoft.com/office/drawing/2014/main" id="{140A9025-F61C-452E-BC40-FD6EFC059359}"/>
                </a:ext>
              </a:extLst>
            </p:cNvPr>
            <p:cNvPicPr>
              <a:picLocks noChangeAspect="1"/>
            </p:cNvPicPr>
            <p:nvPr/>
          </p:nvPicPr>
          <p:blipFill rotWithShape="1">
            <a:blip r:embed="rId3"/>
            <a:srcRect b="81092"/>
            <a:stretch/>
          </p:blipFill>
          <p:spPr>
            <a:xfrm>
              <a:off x="5591944" y="620688"/>
              <a:ext cx="6053981" cy="215310"/>
            </a:xfrm>
            <a:prstGeom prst="rect">
              <a:avLst/>
            </a:prstGeom>
          </p:spPr>
        </p:pic>
        <p:pic>
          <p:nvPicPr>
            <p:cNvPr id="9" name="Imagen 8">
              <a:extLst>
                <a:ext uri="{FF2B5EF4-FFF2-40B4-BE49-F238E27FC236}">
                  <a16:creationId xmlns:a16="http://schemas.microsoft.com/office/drawing/2014/main" id="{2B6EE82A-0A72-48BE-85EA-BA260C685AC6}"/>
                </a:ext>
              </a:extLst>
            </p:cNvPr>
            <p:cNvPicPr>
              <a:picLocks noChangeAspect="1"/>
            </p:cNvPicPr>
            <p:nvPr/>
          </p:nvPicPr>
          <p:blipFill rotWithShape="1">
            <a:blip r:embed="rId3"/>
            <a:srcRect t="60254"/>
            <a:stretch/>
          </p:blipFill>
          <p:spPr>
            <a:xfrm>
              <a:off x="5583912" y="846727"/>
              <a:ext cx="6053981" cy="452590"/>
            </a:xfrm>
            <a:prstGeom prst="rect">
              <a:avLst/>
            </a:prstGeom>
          </p:spPr>
        </p:pic>
      </p:grpSp>
      <p:graphicFrame>
        <p:nvGraphicFramePr>
          <p:cNvPr id="14" name="Tabla 13">
            <a:extLst>
              <a:ext uri="{FF2B5EF4-FFF2-40B4-BE49-F238E27FC236}">
                <a16:creationId xmlns:a16="http://schemas.microsoft.com/office/drawing/2014/main" id="{1D5DE9C6-D040-4E36-831F-C4755FA16DBC}"/>
              </a:ext>
            </a:extLst>
          </p:cNvPr>
          <p:cNvGraphicFramePr>
            <a:graphicFrameLocks noGrp="1"/>
          </p:cNvGraphicFramePr>
          <p:nvPr>
            <p:extLst>
              <p:ext uri="{D42A27DB-BD31-4B8C-83A1-F6EECF244321}">
                <p14:modId xmlns:p14="http://schemas.microsoft.com/office/powerpoint/2010/main" val="785442129"/>
              </p:ext>
            </p:extLst>
          </p:nvPr>
        </p:nvGraphicFramePr>
        <p:xfrm>
          <a:off x="371365" y="2404929"/>
          <a:ext cx="11449270" cy="2230781"/>
        </p:xfrm>
        <a:graphic>
          <a:graphicData uri="http://schemas.openxmlformats.org/drawingml/2006/table">
            <a:tbl>
              <a:tblPr/>
              <a:tblGrid>
                <a:gridCol w="1008112">
                  <a:extLst>
                    <a:ext uri="{9D8B030D-6E8A-4147-A177-3AD203B41FA5}">
                      <a16:colId xmlns:a16="http://schemas.microsoft.com/office/drawing/2014/main" val="746841560"/>
                    </a:ext>
                  </a:extLst>
                </a:gridCol>
                <a:gridCol w="1008112">
                  <a:extLst>
                    <a:ext uri="{9D8B030D-6E8A-4147-A177-3AD203B41FA5}">
                      <a16:colId xmlns:a16="http://schemas.microsoft.com/office/drawing/2014/main" val="1566441789"/>
                    </a:ext>
                  </a:extLst>
                </a:gridCol>
                <a:gridCol w="1008112">
                  <a:extLst>
                    <a:ext uri="{9D8B030D-6E8A-4147-A177-3AD203B41FA5}">
                      <a16:colId xmlns:a16="http://schemas.microsoft.com/office/drawing/2014/main" val="734524103"/>
                    </a:ext>
                  </a:extLst>
                </a:gridCol>
                <a:gridCol w="1008112">
                  <a:extLst>
                    <a:ext uri="{9D8B030D-6E8A-4147-A177-3AD203B41FA5}">
                      <a16:colId xmlns:a16="http://schemas.microsoft.com/office/drawing/2014/main" val="3187298218"/>
                    </a:ext>
                  </a:extLst>
                </a:gridCol>
                <a:gridCol w="2472274">
                  <a:extLst>
                    <a:ext uri="{9D8B030D-6E8A-4147-A177-3AD203B41FA5}">
                      <a16:colId xmlns:a16="http://schemas.microsoft.com/office/drawing/2014/main" val="3349767439"/>
                    </a:ext>
                  </a:extLst>
                </a:gridCol>
                <a:gridCol w="2472274">
                  <a:extLst>
                    <a:ext uri="{9D8B030D-6E8A-4147-A177-3AD203B41FA5}">
                      <a16:colId xmlns:a16="http://schemas.microsoft.com/office/drawing/2014/main" val="4233442603"/>
                    </a:ext>
                  </a:extLst>
                </a:gridCol>
                <a:gridCol w="2472274">
                  <a:extLst>
                    <a:ext uri="{9D8B030D-6E8A-4147-A177-3AD203B41FA5}">
                      <a16:colId xmlns:a16="http://schemas.microsoft.com/office/drawing/2014/main" val="1294235972"/>
                    </a:ext>
                  </a:extLst>
                </a:gridCol>
              </a:tblGrid>
              <a:tr h="431641">
                <a:tc rowSpan="2">
                  <a:txBody>
                    <a:bodyPr/>
                    <a:lstStyle/>
                    <a:p>
                      <a:pPr algn="ctr" rtl="0" fontAlgn="ctr"/>
                      <a:r>
                        <a:rPr lang="es-CO" sz="1300" b="1" i="0" u="none" strike="noStrike" dirty="0">
                          <a:solidFill>
                            <a:schemeClr val="bg1"/>
                          </a:solidFill>
                          <a:effectLst/>
                          <a:latin typeface="+mn-lt"/>
                        </a:rPr>
                        <a:t>Año</a:t>
                      </a:r>
                    </a:p>
                  </a:txBody>
                  <a:tcPr marL="5203" marR="5203" marT="5203" marB="0" anchor="ctr">
                    <a:lnL>
                      <a:noFill/>
                    </a:lnL>
                    <a:lnR>
                      <a:noFill/>
                    </a:lnR>
                    <a:lnT>
                      <a:noFill/>
                    </a:lnT>
                    <a:lnB>
                      <a:noFill/>
                    </a:lnB>
                    <a:solidFill>
                      <a:srgbClr val="00B09B"/>
                    </a:solidFill>
                  </a:tcPr>
                </a:tc>
                <a:tc rowSpan="2">
                  <a:txBody>
                    <a:bodyPr/>
                    <a:lstStyle/>
                    <a:p>
                      <a:pPr algn="ctr" rtl="0" fontAlgn="ctr"/>
                      <a:r>
                        <a:rPr lang="es-CO" sz="1300" b="1" i="0" u="none" strike="noStrike" dirty="0">
                          <a:solidFill>
                            <a:schemeClr val="bg1"/>
                          </a:solidFill>
                          <a:effectLst/>
                          <a:latin typeface="+mn-lt"/>
                        </a:rPr>
                        <a:t>Población</a:t>
                      </a:r>
                    </a:p>
                  </a:txBody>
                  <a:tcPr marL="5203" marR="5203" marT="5203" marB="0" anchor="ctr">
                    <a:lnL>
                      <a:noFill/>
                    </a:lnL>
                    <a:lnR>
                      <a:noFill/>
                    </a:lnR>
                    <a:lnT>
                      <a:noFill/>
                    </a:lnT>
                    <a:lnB>
                      <a:noFill/>
                    </a:lnB>
                    <a:solidFill>
                      <a:srgbClr val="00B09B"/>
                    </a:solidFill>
                  </a:tcPr>
                </a:tc>
                <a:tc rowSpan="2">
                  <a:txBody>
                    <a:bodyPr/>
                    <a:lstStyle/>
                    <a:p>
                      <a:pPr algn="ctr" rtl="0" fontAlgn="ctr"/>
                      <a:r>
                        <a:rPr lang="es-CO" sz="1300" b="1" i="0" u="none" strike="noStrike" dirty="0">
                          <a:solidFill>
                            <a:schemeClr val="bg1"/>
                          </a:solidFill>
                          <a:effectLst/>
                          <a:latin typeface="+mn-lt"/>
                        </a:rPr>
                        <a:t>AVAD</a:t>
                      </a:r>
                    </a:p>
                  </a:txBody>
                  <a:tcPr marL="5203" marR="5203" marT="5203" marB="0" anchor="ctr">
                    <a:lnL>
                      <a:noFill/>
                    </a:lnL>
                    <a:lnR>
                      <a:noFill/>
                    </a:lnR>
                    <a:lnT>
                      <a:noFill/>
                    </a:lnT>
                    <a:lnB>
                      <a:noFill/>
                    </a:lnB>
                    <a:solidFill>
                      <a:srgbClr val="00B09B"/>
                    </a:solidFill>
                  </a:tcPr>
                </a:tc>
                <a:tc rowSpan="2">
                  <a:txBody>
                    <a:bodyPr/>
                    <a:lstStyle/>
                    <a:p>
                      <a:pPr algn="ctr" rtl="0" fontAlgn="ctr"/>
                      <a:r>
                        <a:rPr lang="es-CO" sz="1300" b="1" i="0" u="none" strike="noStrike" dirty="0">
                          <a:solidFill>
                            <a:schemeClr val="bg1"/>
                          </a:solidFill>
                          <a:effectLst/>
                          <a:latin typeface="+mn-lt"/>
                        </a:rPr>
                        <a:t>AVAD x 1000</a:t>
                      </a:r>
                    </a:p>
                  </a:txBody>
                  <a:tcPr marL="5203" marR="5203" marT="5203" marB="0" anchor="ctr">
                    <a:lnL>
                      <a:noFill/>
                    </a:lnL>
                    <a:lnR>
                      <a:noFill/>
                    </a:lnR>
                    <a:lnT>
                      <a:noFill/>
                    </a:lnT>
                    <a:lnB>
                      <a:noFill/>
                    </a:lnB>
                    <a:solidFill>
                      <a:srgbClr val="00B09B"/>
                    </a:solidFill>
                  </a:tcPr>
                </a:tc>
                <a:tc>
                  <a:txBody>
                    <a:bodyPr/>
                    <a:lstStyle/>
                    <a:p>
                      <a:pPr algn="ctr" fontAlgn="b"/>
                      <a:r>
                        <a:rPr lang="es-MX" sz="1100" b="1" i="0" u="none" strike="noStrike" dirty="0">
                          <a:solidFill>
                            <a:schemeClr val="bg1"/>
                          </a:solidFill>
                          <a:effectLst/>
                          <a:latin typeface="+mn-lt"/>
                        </a:rPr>
                        <a:t>Mardones y Riquelme (2018)</a:t>
                      </a:r>
                      <a:br>
                        <a:rPr lang="es-MX" sz="1100" b="1" i="0" u="none" strike="noStrike" dirty="0">
                          <a:solidFill>
                            <a:schemeClr val="bg1"/>
                          </a:solidFill>
                          <a:effectLst/>
                          <a:latin typeface="+mn-lt"/>
                        </a:rPr>
                      </a:br>
                      <a:r>
                        <a:rPr lang="es-MX" sz="1100" b="1" i="0" u="none" strike="noStrike" dirty="0">
                          <a:solidFill>
                            <a:schemeClr val="bg1"/>
                          </a:solidFill>
                          <a:effectLst/>
                          <a:latin typeface="+mn-lt"/>
                        </a:rPr>
                        <a:t>VSL</a:t>
                      </a:r>
                    </a:p>
                  </a:txBody>
                  <a:tcPr marL="5203" marR="5203" marT="5203" marB="0" anchor="ctr">
                    <a:lnL>
                      <a:noFill/>
                    </a:lnL>
                    <a:lnR>
                      <a:noFill/>
                    </a:lnR>
                    <a:lnT>
                      <a:noFill/>
                    </a:lnT>
                    <a:lnB>
                      <a:noFill/>
                    </a:lnB>
                    <a:solidFill>
                      <a:srgbClr val="00B09B"/>
                    </a:solidFill>
                  </a:tcPr>
                </a:tc>
                <a:tc>
                  <a:txBody>
                    <a:bodyPr/>
                    <a:lstStyle/>
                    <a:p>
                      <a:pPr algn="ctr" fontAlgn="b"/>
                      <a:r>
                        <a:rPr lang="es-CO" sz="1100" b="1" i="0" u="none" strike="noStrike" dirty="0" err="1">
                          <a:solidFill>
                            <a:schemeClr val="bg1"/>
                          </a:solidFill>
                          <a:effectLst/>
                          <a:latin typeface="+mn-lt"/>
                        </a:rPr>
                        <a:t>Cropper</a:t>
                      </a:r>
                      <a:r>
                        <a:rPr lang="es-CO" sz="1100" b="1" i="0" u="none" strike="noStrike" dirty="0">
                          <a:solidFill>
                            <a:schemeClr val="bg1"/>
                          </a:solidFill>
                          <a:effectLst/>
                          <a:latin typeface="+mn-lt"/>
                        </a:rPr>
                        <a:t> y </a:t>
                      </a:r>
                      <a:r>
                        <a:rPr lang="es-CO" sz="1100" b="1" i="0" u="none" strike="noStrike" dirty="0" err="1">
                          <a:solidFill>
                            <a:schemeClr val="bg1"/>
                          </a:solidFill>
                          <a:effectLst/>
                          <a:latin typeface="+mn-lt"/>
                        </a:rPr>
                        <a:t>Sahin</a:t>
                      </a:r>
                      <a:r>
                        <a:rPr lang="es-CO" sz="1100" b="1" i="0" u="none" strike="noStrike" dirty="0">
                          <a:solidFill>
                            <a:schemeClr val="bg1"/>
                          </a:solidFill>
                          <a:effectLst/>
                          <a:latin typeface="+mn-lt"/>
                        </a:rPr>
                        <a:t> (2009): </a:t>
                      </a:r>
                      <a:br>
                        <a:rPr lang="es-CO" sz="1100" b="1" i="0" u="none" strike="noStrike" dirty="0">
                          <a:solidFill>
                            <a:schemeClr val="bg1"/>
                          </a:solidFill>
                          <a:effectLst/>
                          <a:latin typeface="+mn-lt"/>
                        </a:rPr>
                      </a:br>
                      <a:r>
                        <a:rPr lang="es-CO" sz="1100" b="1" i="0" u="none" strike="noStrike" dirty="0">
                          <a:solidFill>
                            <a:schemeClr val="bg1"/>
                          </a:solidFill>
                          <a:effectLst/>
                          <a:latin typeface="+mn-lt"/>
                        </a:rPr>
                        <a:t>VSL OCDE</a:t>
                      </a:r>
                    </a:p>
                  </a:txBody>
                  <a:tcPr marL="5203" marR="5203" marT="5203" marB="0" anchor="ctr">
                    <a:lnL>
                      <a:noFill/>
                    </a:lnL>
                    <a:lnR>
                      <a:noFill/>
                    </a:lnR>
                    <a:lnT>
                      <a:noFill/>
                    </a:lnT>
                    <a:lnB>
                      <a:noFill/>
                    </a:lnB>
                    <a:solidFill>
                      <a:srgbClr val="00B09B"/>
                    </a:solidFill>
                  </a:tcPr>
                </a:tc>
                <a:tc>
                  <a:txBody>
                    <a:bodyPr/>
                    <a:lstStyle/>
                    <a:p>
                      <a:pPr algn="ctr" fontAlgn="b"/>
                      <a:r>
                        <a:rPr lang="es-CO" sz="1100" b="1" i="0" u="none" strike="noStrike" dirty="0" err="1">
                          <a:solidFill>
                            <a:schemeClr val="bg1"/>
                          </a:solidFill>
                          <a:effectLst/>
                          <a:latin typeface="+mn-lt"/>
                        </a:rPr>
                        <a:t>Cropper</a:t>
                      </a:r>
                      <a:r>
                        <a:rPr lang="es-CO" sz="1100" b="1" i="0" u="none" strike="noStrike" dirty="0">
                          <a:solidFill>
                            <a:schemeClr val="bg1"/>
                          </a:solidFill>
                          <a:effectLst/>
                          <a:latin typeface="+mn-lt"/>
                        </a:rPr>
                        <a:t> y </a:t>
                      </a:r>
                      <a:r>
                        <a:rPr lang="es-CO" sz="1100" b="1" i="0" u="none" strike="noStrike" dirty="0" err="1">
                          <a:solidFill>
                            <a:schemeClr val="bg1"/>
                          </a:solidFill>
                          <a:effectLst/>
                          <a:latin typeface="+mn-lt"/>
                        </a:rPr>
                        <a:t>Sahin</a:t>
                      </a:r>
                      <a:r>
                        <a:rPr lang="es-CO" sz="1100" b="1" i="0" u="none" strike="noStrike" dirty="0">
                          <a:solidFill>
                            <a:schemeClr val="bg1"/>
                          </a:solidFill>
                          <a:effectLst/>
                          <a:latin typeface="+mn-lt"/>
                        </a:rPr>
                        <a:t> (2009): </a:t>
                      </a:r>
                      <a:br>
                        <a:rPr lang="es-MX" sz="1100" b="1" i="0" u="none" strike="noStrike" dirty="0">
                          <a:solidFill>
                            <a:schemeClr val="bg1"/>
                          </a:solidFill>
                          <a:effectLst/>
                          <a:latin typeface="+mn-lt"/>
                        </a:rPr>
                      </a:br>
                      <a:r>
                        <a:rPr lang="es-MX" sz="1100" b="1" i="0" u="none" strike="noStrike" dirty="0">
                          <a:solidFill>
                            <a:schemeClr val="bg1"/>
                          </a:solidFill>
                          <a:effectLst/>
                          <a:latin typeface="+mn-lt"/>
                        </a:rPr>
                        <a:t>VSL en </a:t>
                      </a:r>
                      <a:r>
                        <a:rPr lang="es-MX" sz="1100" b="1" i="0" u="none" strike="noStrike" dirty="0" err="1">
                          <a:solidFill>
                            <a:schemeClr val="bg1"/>
                          </a:solidFill>
                          <a:effectLst/>
                          <a:latin typeface="+mn-lt"/>
                        </a:rPr>
                        <a:t>via</a:t>
                      </a:r>
                      <a:r>
                        <a:rPr lang="es-MX" sz="1100" b="1" i="0" u="none" strike="noStrike" dirty="0">
                          <a:solidFill>
                            <a:schemeClr val="bg1"/>
                          </a:solidFill>
                          <a:effectLst/>
                          <a:latin typeface="+mn-lt"/>
                        </a:rPr>
                        <a:t> </a:t>
                      </a:r>
                      <a:r>
                        <a:rPr lang="es-MX" sz="1100" b="1" i="0" u="none" strike="noStrike" dirty="0" err="1">
                          <a:solidFill>
                            <a:schemeClr val="bg1"/>
                          </a:solidFill>
                          <a:effectLst/>
                          <a:latin typeface="+mn-lt"/>
                        </a:rPr>
                        <a:t>dsllo</a:t>
                      </a:r>
                      <a:endParaRPr lang="es-MX" sz="1100" b="1" i="0" u="none" strike="noStrike" dirty="0">
                        <a:solidFill>
                          <a:schemeClr val="bg1"/>
                        </a:solidFill>
                        <a:effectLst/>
                        <a:latin typeface="+mn-lt"/>
                      </a:endParaRPr>
                    </a:p>
                  </a:txBody>
                  <a:tcPr marL="5203" marR="5203" marT="5203" marB="0" anchor="ctr">
                    <a:lnL>
                      <a:noFill/>
                    </a:lnL>
                    <a:lnR>
                      <a:noFill/>
                    </a:lnR>
                    <a:lnT>
                      <a:noFill/>
                    </a:lnT>
                    <a:lnB>
                      <a:noFill/>
                    </a:lnB>
                    <a:solidFill>
                      <a:srgbClr val="00B09B"/>
                    </a:solidFill>
                  </a:tcPr>
                </a:tc>
                <a:extLst>
                  <a:ext uri="{0D108BD9-81ED-4DB2-BD59-A6C34878D82A}">
                    <a16:rowId xmlns:a16="http://schemas.microsoft.com/office/drawing/2014/main" val="2319109683"/>
                  </a:ext>
                </a:extLst>
              </a:tr>
              <a:tr h="259900">
                <a:tc vMerge="1">
                  <a:txBody>
                    <a:bodyPr/>
                    <a:lstStyle/>
                    <a:p>
                      <a:pPr algn="ctr" rtl="0" fontAlgn="ctr"/>
                      <a:r>
                        <a:rPr lang="es-CO" sz="1300" b="1" i="0" u="none" strike="noStrike" dirty="0">
                          <a:solidFill>
                            <a:schemeClr val="bg1"/>
                          </a:solidFill>
                          <a:effectLst/>
                          <a:latin typeface="+mn-lt"/>
                        </a:rPr>
                        <a:t>Año</a:t>
                      </a:r>
                    </a:p>
                  </a:txBody>
                  <a:tcPr marL="5203" marR="5203" marT="5203" marB="0" anchor="ctr">
                    <a:lnL>
                      <a:noFill/>
                    </a:lnL>
                    <a:lnR>
                      <a:noFill/>
                    </a:lnR>
                    <a:lnT>
                      <a:noFill/>
                    </a:lnT>
                    <a:lnB>
                      <a:noFill/>
                    </a:lnB>
                    <a:solidFill>
                      <a:schemeClr val="tx1">
                        <a:lumMod val="75000"/>
                        <a:lumOff val="25000"/>
                      </a:schemeClr>
                    </a:solidFill>
                  </a:tcPr>
                </a:tc>
                <a:tc vMerge="1">
                  <a:txBody>
                    <a:bodyPr/>
                    <a:lstStyle/>
                    <a:p>
                      <a:pPr algn="ctr" rtl="0" fontAlgn="ctr"/>
                      <a:r>
                        <a:rPr lang="es-CO" sz="1300" b="1" i="0" u="none" strike="noStrike" dirty="0">
                          <a:solidFill>
                            <a:schemeClr val="bg1"/>
                          </a:solidFill>
                          <a:effectLst/>
                          <a:latin typeface="+mn-lt"/>
                        </a:rPr>
                        <a:t>Población</a:t>
                      </a:r>
                    </a:p>
                  </a:txBody>
                  <a:tcPr marL="5203" marR="5203" marT="5203" marB="0" anchor="ctr">
                    <a:lnL>
                      <a:noFill/>
                    </a:lnL>
                    <a:lnR>
                      <a:noFill/>
                    </a:lnR>
                    <a:lnT>
                      <a:noFill/>
                    </a:lnT>
                    <a:lnB>
                      <a:noFill/>
                    </a:lnB>
                    <a:solidFill>
                      <a:schemeClr val="tx1">
                        <a:lumMod val="75000"/>
                        <a:lumOff val="25000"/>
                      </a:schemeClr>
                    </a:solidFill>
                  </a:tcPr>
                </a:tc>
                <a:tc vMerge="1">
                  <a:txBody>
                    <a:bodyPr/>
                    <a:lstStyle/>
                    <a:p>
                      <a:pPr algn="ctr" rtl="0" fontAlgn="ctr"/>
                      <a:r>
                        <a:rPr lang="es-CO" sz="1300" b="1" i="0" u="none" strike="noStrike" dirty="0">
                          <a:solidFill>
                            <a:schemeClr val="bg1"/>
                          </a:solidFill>
                          <a:effectLst/>
                          <a:latin typeface="+mn-lt"/>
                        </a:rPr>
                        <a:t>AVAD</a:t>
                      </a:r>
                    </a:p>
                  </a:txBody>
                  <a:tcPr marL="5203" marR="5203" marT="5203" marB="0" anchor="ctr">
                    <a:lnL>
                      <a:noFill/>
                    </a:lnL>
                    <a:lnR>
                      <a:noFill/>
                    </a:lnR>
                    <a:lnT>
                      <a:noFill/>
                    </a:lnT>
                    <a:lnB>
                      <a:noFill/>
                    </a:lnB>
                    <a:solidFill>
                      <a:schemeClr val="tx1">
                        <a:lumMod val="75000"/>
                        <a:lumOff val="25000"/>
                      </a:schemeClr>
                    </a:solidFill>
                  </a:tcPr>
                </a:tc>
                <a:tc vMerge="1">
                  <a:txBody>
                    <a:bodyPr/>
                    <a:lstStyle/>
                    <a:p>
                      <a:pPr algn="ctr" rtl="0" fontAlgn="ctr"/>
                      <a:r>
                        <a:rPr lang="es-CO" sz="1300" b="1" i="0" u="none" strike="noStrike" dirty="0">
                          <a:solidFill>
                            <a:schemeClr val="bg1"/>
                          </a:solidFill>
                          <a:effectLst/>
                          <a:latin typeface="+mn-lt"/>
                        </a:rPr>
                        <a:t>AVAD x 1000</a:t>
                      </a:r>
                    </a:p>
                  </a:txBody>
                  <a:tcPr marL="5203" marR="5203" marT="5203" marB="0" anchor="ctr">
                    <a:lnL>
                      <a:noFill/>
                    </a:lnL>
                    <a:lnR>
                      <a:noFill/>
                    </a:lnR>
                    <a:lnT>
                      <a:noFill/>
                    </a:lnT>
                    <a:lnB>
                      <a:noFill/>
                    </a:lnB>
                    <a:solidFill>
                      <a:schemeClr val="tx1">
                        <a:lumMod val="75000"/>
                        <a:lumOff val="25000"/>
                      </a:schemeClr>
                    </a:solidFill>
                  </a:tcPr>
                </a:tc>
                <a:tc>
                  <a:txBody>
                    <a:bodyPr/>
                    <a:lstStyle/>
                    <a:p>
                      <a:pPr algn="ctr" fontAlgn="b"/>
                      <a:r>
                        <a:rPr lang="es-CO" sz="1300" b="1" i="0" u="none" strike="noStrike" dirty="0">
                          <a:solidFill>
                            <a:schemeClr val="bg1"/>
                          </a:solidFill>
                          <a:effectLst/>
                          <a:latin typeface="+mn-lt"/>
                        </a:rPr>
                        <a:t>0.64 Mill USD</a:t>
                      </a:r>
                    </a:p>
                  </a:txBody>
                  <a:tcPr marL="5203" marR="5203" marT="5203" marB="0" anchor="ctr">
                    <a:lnL>
                      <a:noFill/>
                    </a:lnL>
                    <a:lnR>
                      <a:noFill/>
                    </a:lnR>
                    <a:lnT>
                      <a:noFill/>
                    </a:lnT>
                    <a:lnB>
                      <a:noFill/>
                    </a:lnB>
                    <a:solidFill>
                      <a:srgbClr val="00B09B"/>
                    </a:solidFill>
                  </a:tcPr>
                </a:tc>
                <a:tc>
                  <a:txBody>
                    <a:bodyPr/>
                    <a:lstStyle/>
                    <a:p>
                      <a:pPr algn="ctr" fontAlgn="b"/>
                      <a:r>
                        <a:rPr lang="es-CO" sz="1300" b="1" i="0" u="none" strike="noStrike" dirty="0">
                          <a:solidFill>
                            <a:schemeClr val="bg1"/>
                          </a:solidFill>
                          <a:effectLst/>
                          <a:latin typeface="+mn-lt"/>
                        </a:rPr>
                        <a:t>3.3881 Mill USD</a:t>
                      </a:r>
                    </a:p>
                  </a:txBody>
                  <a:tcPr marL="5203" marR="5203" marT="5203" marB="0" anchor="ctr">
                    <a:lnL>
                      <a:noFill/>
                    </a:lnL>
                    <a:lnR>
                      <a:noFill/>
                    </a:lnR>
                    <a:lnT>
                      <a:noFill/>
                    </a:lnT>
                    <a:lnB>
                      <a:noFill/>
                    </a:lnB>
                    <a:solidFill>
                      <a:srgbClr val="00B09B"/>
                    </a:solidFill>
                  </a:tcPr>
                </a:tc>
                <a:tc>
                  <a:txBody>
                    <a:bodyPr/>
                    <a:lstStyle/>
                    <a:p>
                      <a:pPr algn="ctr" fontAlgn="b"/>
                      <a:r>
                        <a:rPr lang="es-CO" sz="1300" b="1" i="0" u="none" strike="noStrike" dirty="0">
                          <a:solidFill>
                            <a:schemeClr val="bg1"/>
                          </a:solidFill>
                          <a:effectLst/>
                          <a:latin typeface="+mn-lt"/>
                        </a:rPr>
                        <a:t>0.773 Mill USD</a:t>
                      </a:r>
                    </a:p>
                  </a:txBody>
                  <a:tcPr marL="5203" marR="5203" marT="5203" marB="0" anchor="ctr">
                    <a:lnL>
                      <a:noFill/>
                    </a:lnL>
                    <a:lnR>
                      <a:noFill/>
                    </a:lnR>
                    <a:lnT>
                      <a:noFill/>
                    </a:lnT>
                    <a:lnB>
                      <a:noFill/>
                    </a:lnB>
                    <a:solidFill>
                      <a:srgbClr val="00B09B"/>
                    </a:solidFill>
                  </a:tcPr>
                </a:tc>
                <a:extLst>
                  <a:ext uri="{0D108BD9-81ED-4DB2-BD59-A6C34878D82A}">
                    <a16:rowId xmlns:a16="http://schemas.microsoft.com/office/drawing/2014/main" val="775087198"/>
                  </a:ext>
                </a:extLst>
              </a:tr>
              <a:tr h="244704">
                <a:tc>
                  <a:txBody>
                    <a:bodyPr/>
                    <a:lstStyle/>
                    <a:p>
                      <a:pPr algn="ctr" rtl="0" fontAlgn="ctr"/>
                      <a:r>
                        <a:rPr lang="es-CO" sz="1200" b="0" i="0" u="none" strike="noStrike" dirty="0">
                          <a:solidFill>
                            <a:srgbClr val="787775"/>
                          </a:solidFill>
                          <a:effectLst/>
                          <a:latin typeface="+mn-lt"/>
                        </a:rPr>
                        <a:t>2019</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2,241,491</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64.29</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0.03</a:t>
                      </a:r>
                    </a:p>
                  </a:txBody>
                  <a:tcPr marL="5203" marR="5203" marT="5203" marB="0" anchor="ctr">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41.146</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217.821</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49.696</a:t>
                      </a:r>
                    </a:p>
                  </a:txBody>
                  <a:tcPr marL="5203" marR="5203" marT="5203" marB="0" anchor="b">
                    <a:lnL>
                      <a:noFill/>
                    </a:lnL>
                    <a:lnR>
                      <a:noFill/>
                    </a:lnR>
                    <a:lnT>
                      <a:noFill/>
                    </a:lnT>
                    <a:lnB>
                      <a:noFill/>
                    </a:lnB>
                    <a:solidFill>
                      <a:schemeClr val="bg1"/>
                    </a:solidFill>
                  </a:tcPr>
                </a:tc>
                <a:extLst>
                  <a:ext uri="{0D108BD9-81ED-4DB2-BD59-A6C34878D82A}">
                    <a16:rowId xmlns:a16="http://schemas.microsoft.com/office/drawing/2014/main" val="1699530026"/>
                  </a:ext>
                </a:extLst>
              </a:tr>
              <a:tr h="244704">
                <a:tc>
                  <a:txBody>
                    <a:bodyPr/>
                    <a:lstStyle/>
                    <a:p>
                      <a:pPr algn="ctr" rtl="0" fontAlgn="ctr"/>
                      <a:r>
                        <a:rPr lang="es-CO" sz="1200" b="0" i="0" u="none" strike="noStrike">
                          <a:solidFill>
                            <a:srgbClr val="787775"/>
                          </a:solidFill>
                          <a:effectLst/>
                          <a:latin typeface="+mn-lt"/>
                        </a:rPr>
                        <a:t>2020</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2,252,618</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107.17</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0.05</a:t>
                      </a:r>
                    </a:p>
                  </a:txBody>
                  <a:tcPr marL="5203" marR="5203" marT="5203" marB="0" anchor="ctr">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68.589</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363.103</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a:solidFill>
                            <a:srgbClr val="787775"/>
                          </a:solidFill>
                          <a:effectLst/>
                          <a:latin typeface="+mn-lt"/>
                        </a:rPr>
                        <a:t>82.842</a:t>
                      </a:r>
                    </a:p>
                  </a:txBody>
                  <a:tcPr marL="5203" marR="5203" marT="5203" marB="0" anchor="b">
                    <a:lnL>
                      <a:noFill/>
                    </a:lnL>
                    <a:lnR>
                      <a:noFill/>
                    </a:lnR>
                    <a:lnT>
                      <a:noFill/>
                    </a:lnT>
                    <a:lnB>
                      <a:noFill/>
                    </a:lnB>
                    <a:solidFill>
                      <a:schemeClr val="bg1"/>
                    </a:solidFill>
                  </a:tcPr>
                </a:tc>
                <a:extLst>
                  <a:ext uri="{0D108BD9-81ED-4DB2-BD59-A6C34878D82A}">
                    <a16:rowId xmlns:a16="http://schemas.microsoft.com/office/drawing/2014/main" val="1675827500"/>
                  </a:ext>
                </a:extLst>
              </a:tr>
              <a:tr h="244704">
                <a:tc>
                  <a:txBody>
                    <a:bodyPr/>
                    <a:lstStyle/>
                    <a:p>
                      <a:pPr algn="ctr" rtl="0" fontAlgn="ctr"/>
                      <a:r>
                        <a:rPr lang="es-CO" sz="1200" b="1" i="0" u="none" strike="noStrike" dirty="0">
                          <a:solidFill>
                            <a:srgbClr val="787775"/>
                          </a:solidFill>
                          <a:effectLst/>
                          <a:latin typeface="+mn-lt"/>
                        </a:rPr>
                        <a:t>2021</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2,264,748</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185.46</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0.08</a:t>
                      </a:r>
                    </a:p>
                  </a:txBody>
                  <a:tcPr marL="5203" marR="5203" marT="5203" marB="0" anchor="ctr">
                    <a:lnL>
                      <a:noFill/>
                    </a:lnL>
                    <a:lnR>
                      <a:noFill/>
                    </a:lnR>
                    <a:lnT>
                      <a:noFill/>
                    </a:lnT>
                    <a:lnB>
                      <a:noFill/>
                    </a:lnB>
                    <a:solidFill>
                      <a:schemeClr val="bg1"/>
                    </a:solidFill>
                  </a:tcPr>
                </a:tc>
                <a:tc>
                  <a:txBody>
                    <a:bodyPr/>
                    <a:lstStyle/>
                    <a:p>
                      <a:pPr algn="ctr" fontAlgn="b"/>
                      <a:r>
                        <a:rPr lang="es-CO" sz="1200" b="1" i="0" u="none" strike="noStrike" dirty="0">
                          <a:solidFill>
                            <a:srgbClr val="787775"/>
                          </a:solidFill>
                          <a:effectLst/>
                          <a:latin typeface="+mn-lt"/>
                        </a:rPr>
                        <a:t>118.694</a:t>
                      </a:r>
                    </a:p>
                  </a:txBody>
                  <a:tcPr marL="5203" marR="5203" marT="5203" marB="0" anchor="b">
                    <a:lnL>
                      <a:noFill/>
                    </a:lnL>
                    <a:lnR>
                      <a:noFill/>
                    </a:lnR>
                    <a:lnT>
                      <a:noFill/>
                    </a:lnT>
                    <a:lnB>
                      <a:noFill/>
                    </a:lnB>
                    <a:solidFill>
                      <a:schemeClr val="bg1"/>
                    </a:solidFill>
                  </a:tcPr>
                </a:tc>
                <a:tc>
                  <a:txBody>
                    <a:bodyPr/>
                    <a:lstStyle/>
                    <a:p>
                      <a:pPr marR="0" algn="ctr" rtl="0" fontAlgn="b">
                        <a:lnSpc>
                          <a:spcPct val="100000"/>
                        </a:lnSpc>
                        <a:spcBef>
                          <a:spcPts val="0"/>
                        </a:spcBef>
                        <a:spcAft>
                          <a:spcPts val="0"/>
                        </a:spcAft>
                        <a:buClr>
                          <a:srgbClr val="000000"/>
                        </a:buClr>
                        <a:buFont typeface="Arial"/>
                      </a:pPr>
                      <a:r>
                        <a:rPr lang="es-CO" sz="1200" b="1" i="0" u="none" strike="noStrike" cap="none" dirty="0">
                          <a:solidFill>
                            <a:srgbClr val="787775"/>
                          </a:solidFill>
                          <a:effectLst/>
                          <a:latin typeface="+mn-lt"/>
                          <a:ea typeface="+mn-ea"/>
                          <a:cs typeface="+mn-cs"/>
                          <a:sym typeface="Arial"/>
                        </a:rPr>
                        <a:t>628.357</a:t>
                      </a:r>
                    </a:p>
                  </a:txBody>
                  <a:tcPr marL="5203" marR="5203" marT="5203" marB="0" anchor="b">
                    <a:lnL>
                      <a:noFill/>
                    </a:lnL>
                    <a:lnR>
                      <a:noFill/>
                    </a:lnR>
                    <a:lnT>
                      <a:noFill/>
                    </a:lnT>
                    <a:lnB>
                      <a:noFill/>
                    </a:lnB>
                    <a:solidFill>
                      <a:schemeClr val="bg1"/>
                    </a:solidFill>
                  </a:tcPr>
                </a:tc>
                <a:tc>
                  <a:txBody>
                    <a:bodyPr/>
                    <a:lstStyle/>
                    <a:p>
                      <a:pPr marR="0" algn="ctr" rtl="0" fontAlgn="b">
                        <a:lnSpc>
                          <a:spcPct val="100000"/>
                        </a:lnSpc>
                        <a:spcBef>
                          <a:spcPts val="0"/>
                        </a:spcBef>
                        <a:spcAft>
                          <a:spcPts val="0"/>
                        </a:spcAft>
                        <a:buClr>
                          <a:srgbClr val="000000"/>
                        </a:buClr>
                        <a:buFont typeface="Arial"/>
                      </a:pPr>
                      <a:r>
                        <a:rPr lang="es-CO" sz="1200" b="1" i="0" u="none" strike="noStrike" cap="none" dirty="0">
                          <a:solidFill>
                            <a:srgbClr val="787775"/>
                          </a:solidFill>
                          <a:effectLst/>
                          <a:latin typeface="+mn-lt"/>
                          <a:ea typeface="+mn-ea"/>
                          <a:cs typeface="+mn-cs"/>
                          <a:sym typeface="Arial"/>
                        </a:rPr>
                        <a:t>143.361</a:t>
                      </a:r>
                    </a:p>
                  </a:txBody>
                  <a:tcPr marL="5203" marR="5203" marT="5203" marB="0" anchor="b">
                    <a:lnL>
                      <a:noFill/>
                    </a:lnL>
                    <a:lnR>
                      <a:noFill/>
                    </a:lnR>
                    <a:lnT>
                      <a:noFill/>
                    </a:lnT>
                    <a:lnB>
                      <a:noFill/>
                    </a:lnB>
                    <a:solidFill>
                      <a:schemeClr val="bg1"/>
                    </a:solidFill>
                  </a:tcPr>
                </a:tc>
                <a:extLst>
                  <a:ext uri="{0D108BD9-81ED-4DB2-BD59-A6C34878D82A}">
                    <a16:rowId xmlns:a16="http://schemas.microsoft.com/office/drawing/2014/main" val="1837938105"/>
                  </a:ext>
                </a:extLst>
              </a:tr>
              <a:tr h="244704">
                <a:tc>
                  <a:txBody>
                    <a:bodyPr/>
                    <a:lstStyle/>
                    <a:p>
                      <a:pPr algn="ctr" rtl="0" fontAlgn="ctr"/>
                      <a:r>
                        <a:rPr lang="es-CO" sz="1200" b="0" i="0" u="none" strike="noStrike">
                          <a:solidFill>
                            <a:srgbClr val="787775"/>
                          </a:solidFill>
                          <a:effectLst/>
                          <a:latin typeface="+mn-lt"/>
                        </a:rPr>
                        <a:t>2022</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2,280,907</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77.18</a:t>
                      </a:r>
                    </a:p>
                  </a:txBody>
                  <a:tcPr marL="5203" marR="5203" marT="5203" marB="0" anchor="ctr">
                    <a:lnL>
                      <a:noFill/>
                    </a:lnL>
                    <a:lnR>
                      <a:noFill/>
                    </a:lnR>
                    <a:lnT>
                      <a:noFill/>
                    </a:lnT>
                    <a:lnB>
                      <a:noFill/>
                    </a:lnB>
                    <a:solidFill>
                      <a:schemeClr val="bg1"/>
                    </a:solidFill>
                  </a:tcPr>
                </a:tc>
                <a:tc>
                  <a:txBody>
                    <a:bodyPr/>
                    <a:lstStyle/>
                    <a:p>
                      <a:pPr algn="ctr" rtl="0" fontAlgn="ctr"/>
                      <a:r>
                        <a:rPr lang="es-CO" sz="1200" b="0" i="0" u="none" strike="noStrike" dirty="0">
                          <a:solidFill>
                            <a:srgbClr val="787775"/>
                          </a:solidFill>
                          <a:effectLst/>
                          <a:latin typeface="+mn-lt"/>
                        </a:rPr>
                        <a:t>0.03</a:t>
                      </a:r>
                    </a:p>
                  </a:txBody>
                  <a:tcPr marL="5203" marR="5203" marT="5203" marB="0" anchor="ctr">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49.395</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261.494</a:t>
                      </a:r>
                    </a:p>
                  </a:txBody>
                  <a:tcPr marL="5203" marR="5203" marT="5203" marB="0" anchor="b">
                    <a:lnL>
                      <a:noFill/>
                    </a:lnL>
                    <a:lnR>
                      <a:noFill/>
                    </a:lnR>
                    <a:lnT>
                      <a:noFill/>
                    </a:lnT>
                    <a:lnB>
                      <a:noFill/>
                    </a:lnB>
                    <a:solidFill>
                      <a:schemeClr val="bg1"/>
                    </a:solidFill>
                  </a:tcPr>
                </a:tc>
                <a:tc>
                  <a:txBody>
                    <a:bodyPr/>
                    <a:lstStyle/>
                    <a:p>
                      <a:pPr algn="ctr" fontAlgn="b"/>
                      <a:r>
                        <a:rPr lang="es-CO" sz="1200" b="0" i="0" u="none" strike="noStrike" dirty="0">
                          <a:solidFill>
                            <a:srgbClr val="787775"/>
                          </a:solidFill>
                          <a:effectLst/>
                          <a:latin typeface="+mn-lt"/>
                        </a:rPr>
                        <a:t>59.660</a:t>
                      </a:r>
                    </a:p>
                  </a:txBody>
                  <a:tcPr marL="5203" marR="5203" marT="5203" marB="0" anchor="b">
                    <a:lnL>
                      <a:noFill/>
                    </a:lnL>
                    <a:lnR>
                      <a:noFill/>
                    </a:lnR>
                    <a:lnT>
                      <a:noFill/>
                    </a:lnT>
                    <a:lnB>
                      <a:noFill/>
                    </a:lnB>
                    <a:solidFill>
                      <a:schemeClr val="bg1"/>
                    </a:solidFill>
                  </a:tcPr>
                </a:tc>
                <a:extLst>
                  <a:ext uri="{0D108BD9-81ED-4DB2-BD59-A6C34878D82A}">
                    <a16:rowId xmlns:a16="http://schemas.microsoft.com/office/drawing/2014/main" val="918924218"/>
                  </a:ext>
                </a:extLst>
              </a:tr>
              <a:tr h="244704">
                <a:tc>
                  <a:txBody>
                    <a:bodyPr/>
                    <a:lstStyle/>
                    <a:p>
                      <a:pPr algn="ctr" rtl="0" fontAlgn="ctr"/>
                      <a:r>
                        <a:rPr lang="es-CO" sz="1200" b="1" i="0" u="none" strike="noStrike" dirty="0">
                          <a:solidFill>
                            <a:srgbClr val="787775"/>
                          </a:solidFill>
                          <a:effectLst/>
                          <a:latin typeface="+mn-lt"/>
                        </a:rPr>
                        <a:t>2023</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2,297,230</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200.83</a:t>
                      </a:r>
                    </a:p>
                  </a:txBody>
                  <a:tcPr marL="5203" marR="5203" marT="5203" marB="0" anchor="ctr">
                    <a:lnL>
                      <a:noFill/>
                    </a:lnL>
                    <a:lnR>
                      <a:noFill/>
                    </a:lnR>
                    <a:lnT>
                      <a:noFill/>
                    </a:lnT>
                    <a:lnB>
                      <a:noFill/>
                    </a:lnB>
                    <a:solidFill>
                      <a:schemeClr val="bg1"/>
                    </a:solidFill>
                  </a:tcPr>
                </a:tc>
                <a:tc>
                  <a:txBody>
                    <a:bodyPr/>
                    <a:lstStyle/>
                    <a:p>
                      <a:pPr algn="ctr" rtl="0" fontAlgn="ctr"/>
                      <a:r>
                        <a:rPr lang="es-CO" sz="1200" b="1" i="0" u="none" strike="noStrike" dirty="0">
                          <a:solidFill>
                            <a:srgbClr val="787775"/>
                          </a:solidFill>
                          <a:effectLst/>
                          <a:latin typeface="+mn-lt"/>
                        </a:rPr>
                        <a:t>0.09</a:t>
                      </a:r>
                    </a:p>
                  </a:txBody>
                  <a:tcPr marL="5203" marR="5203" marT="5203" marB="0" anchor="ctr">
                    <a:lnL>
                      <a:noFill/>
                    </a:lnL>
                    <a:lnR>
                      <a:noFill/>
                    </a:lnR>
                    <a:lnT>
                      <a:noFill/>
                    </a:lnT>
                    <a:lnB>
                      <a:noFill/>
                    </a:lnB>
                    <a:solidFill>
                      <a:schemeClr val="bg1"/>
                    </a:solidFill>
                  </a:tcPr>
                </a:tc>
                <a:tc>
                  <a:txBody>
                    <a:bodyPr/>
                    <a:lstStyle/>
                    <a:p>
                      <a:pPr marR="0" algn="ctr" rtl="0" fontAlgn="b">
                        <a:lnSpc>
                          <a:spcPct val="100000"/>
                        </a:lnSpc>
                        <a:spcBef>
                          <a:spcPts val="0"/>
                        </a:spcBef>
                        <a:spcAft>
                          <a:spcPts val="0"/>
                        </a:spcAft>
                        <a:buClr>
                          <a:srgbClr val="000000"/>
                        </a:buClr>
                        <a:buFont typeface="Arial"/>
                      </a:pPr>
                      <a:r>
                        <a:rPr lang="es-CO" sz="1200" b="1" i="0" u="none" strike="noStrike" cap="none" dirty="0">
                          <a:solidFill>
                            <a:srgbClr val="787775"/>
                          </a:solidFill>
                          <a:effectLst/>
                          <a:latin typeface="+mn-lt"/>
                          <a:ea typeface="+mn-ea"/>
                          <a:cs typeface="+mn-cs"/>
                          <a:sym typeface="Arial"/>
                        </a:rPr>
                        <a:t>128.531</a:t>
                      </a:r>
                    </a:p>
                  </a:txBody>
                  <a:tcPr marL="5203" marR="5203" marT="5203" marB="0" anchor="b">
                    <a:lnL>
                      <a:noFill/>
                    </a:lnL>
                    <a:lnR>
                      <a:noFill/>
                    </a:lnR>
                    <a:lnT>
                      <a:noFill/>
                    </a:lnT>
                    <a:lnB>
                      <a:noFill/>
                    </a:lnB>
                    <a:solidFill>
                      <a:schemeClr val="bg1"/>
                    </a:solidFill>
                  </a:tcPr>
                </a:tc>
                <a:tc>
                  <a:txBody>
                    <a:bodyPr/>
                    <a:lstStyle/>
                    <a:p>
                      <a:pPr marR="0" algn="ctr" rtl="0" fontAlgn="b">
                        <a:lnSpc>
                          <a:spcPct val="100000"/>
                        </a:lnSpc>
                        <a:spcBef>
                          <a:spcPts val="0"/>
                        </a:spcBef>
                        <a:spcAft>
                          <a:spcPts val="0"/>
                        </a:spcAft>
                        <a:buClr>
                          <a:srgbClr val="000000"/>
                        </a:buClr>
                        <a:buFont typeface="Arial"/>
                      </a:pPr>
                      <a:r>
                        <a:rPr lang="es-CO" sz="1200" b="1" i="0" u="none" strike="noStrike" cap="none" dirty="0">
                          <a:solidFill>
                            <a:srgbClr val="787775"/>
                          </a:solidFill>
                          <a:effectLst/>
                          <a:latin typeface="+mn-lt"/>
                          <a:ea typeface="+mn-ea"/>
                          <a:cs typeface="+mn-cs"/>
                          <a:sym typeface="Arial"/>
                        </a:rPr>
                        <a:t>680.432</a:t>
                      </a:r>
                    </a:p>
                  </a:txBody>
                  <a:tcPr marL="5203" marR="5203" marT="5203" marB="0" anchor="b">
                    <a:lnL>
                      <a:noFill/>
                    </a:lnL>
                    <a:lnR>
                      <a:noFill/>
                    </a:lnR>
                    <a:lnT>
                      <a:noFill/>
                    </a:lnT>
                    <a:lnB>
                      <a:noFill/>
                    </a:lnB>
                    <a:solidFill>
                      <a:schemeClr val="bg1"/>
                    </a:solidFill>
                  </a:tcPr>
                </a:tc>
                <a:tc>
                  <a:txBody>
                    <a:bodyPr/>
                    <a:lstStyle/>
                    <a:p>
                      <a:pPr marR="0" algn="ctr" rtl="0" fontAlgn="b">
                        <a:lnSpc>
                          <a:spcPct val="100000"/>
                        </a:lnSpc>
                        <a:spcBef>
                          <a:spcPts val="0"/>
                        </a:spcBef>
                        <a:spcAft>
                          <a:spcPts val="0"/>
                        </a:spcAft>
                        <a:buClr>
                          <a:srgbClr val="000000"/>
                        </a:buClr>
                        <a:buFont typeface="Arial"/>
                      </a:pPr>
                      <a:r>
                        <a:rPr lang="es-CO" sz="1200" b="1" i="0" u="none" strike="noStrike" cap="none" dirty="0">
                          <a:solidFill>
                            <a:srgbClr val="787775"/>
                          </a:solidFill>
                          <a:effectLst/>
                          <a:latin typeface="+mn-lt"/>
                          <a:ea typeface="+mn-ea"/>
                          <a:cs typeface="+mn-cs"/>
                          <a:sym typeface="Arial"/>
                        </a:rPr>
                        <a:t>155.242</a:t>
                      </a:r>
                    </a:p>
                  </a:txBody>
                  <a:tcPr marL="5203" marR="5203" marT="5203" marB="0" anchor="b">
                    <a:lnL>
                      <a:noFill/>
                    </a:lnL>
                    <a:lnR>
                      <a:noFill/>
                    </a:lnR>
                    <a:lnT>
                      <a:noFill/>
                    </a:lnT>
                    <a:lnB>
                      <a:noFill/>
                    </a:lnB>
                    <a:solidFill>
                      <a:schemeClr val="bg1"/>
                    </a:solidFill>
                  </a:tcPr>
                </a:tc>
                <a:extLst>
                  <a:ext uri="{0D108BD9-81ED-4DB2-BD59-A6C34878D82A}">
                    <a16:rowId xmlns:a16="http://schemas.microsoft.com/office/drawing/2014/main" val="664848992"/>
                  </a:ext>
                </a:extLst>
              </a:tr>
              <a:tr h="315720">
                <a:tc gridSpan="4">
                  <a:txBody>
                    <a:bodyPr/>
                    <a:lstStyle/>
                    <a:p>
                      <a:pPr algn="ctr" rtl="0" fontAlgn="ctr"/>
                      <a:r>
                        <a:rPr lang="es-CO" sz="1600" b="1" i="0" u="none" strike="noStrike" dirty="0">
                          <a:solidFill>
                            <a:srgbClr val="787775"/>
                          </a:solidFill>
                          <a:effectLst/>
                          <a:latin typeface="+mn-lt"/>
                        </a:rPr>
                        <a:t>Total 2019-2023</a:t>
                      </a:r>
                    </a:p>
                  </a:txBody>
                  <a:tcPr marL="5203" marR="5203" marT="5203" marB="0" anchor="ctr">
                    <a:lnL>
                      <a:noFill/>
                    </a:lnL>
                    <a:lnR>
                      <a:noFill/>
                    </a:lnR>
                    <a:lnT>
                      <a:noFill/>
                    </a:lnT>
                    <a:lnB>
                      <a:noFill/>
                    </a:lnB>
                    <a:noFill/>
                  </a:tcPr>
                </a:tc>
                <a:tc hMerge="1">
                  <a:txBody>
                    <a:bodyPr/>
                    <a:lstStyle/>
                    <a:p>
                      <a:endParaRPr lang="es-CO"/>
                    </a:p>
                  </a:txBody>
                  <a:tcPr/>
                </a:tc>
                <a:tc hMerge="1">
                  <a:txBody>
                    <a:bodyPr/>
                    <a:lstStyle/>
                    <a:p>
                      <a:endParaRPr lang="es-CO"/>
                    </a:p>
                  </a:txBody>
                  <a:tcPr/>
                </a:tc>
                <a:tc hMerge="1">
                  <a:txBody>
                    <a:bodyPr/>
                    <a:lstStyle/>
                    <a:p>
                      <a:endParaRPr lang="es-CO"/>
                    </a:p>
                  </a:txBody>
                  <a:tcPr/>
                </a:tc>
                <a:tc>
                  <a:txBody>
                    <a:bodyPr/>
                    <a:lstStyle/>
                    <a:p>
                      <a:pPr algn="ctr" fontAlgn="b"/>
                      <a:r>
                        <a:rPr lang="es-CO" sz="1600" b="1" i="0" u="none" strike="noStrike" dirty="0">
                          <a:solidFill>
                            <a:srgbClr val="00B09B"/>
                          </a:solidFill>
                          <a:effectLst/>
                          <a:latin typeface="+mn-lt"/>
                        </a:rPr>
                        <a:t>406.355</a:t>
                      </a:r>
                    </a:p>
                  </a:txBody>
                  <a:tcPr marL="5203" marR="5203" marT="5203" marB="0" anchor="b">
                    <a:lnL>
                      <a:noFill/>
                    </a:lnL>
                    <a:lnR>
                      <a:noFill/>
                    </a:lnR>
                    <a:lnT>
                      <a:noFill/>
                    </a:lnT>
                    <a:lnB>
                      <a:noFill/>
                    </a:lnB>
                    <a:noFill/>
                  </a:tcPr>
                </a:tc>
                <a:tc>
                  <a:txBody>
                    <a:bodyPr/>
                    <a:lstStyle/>
                    <a:p>
                      <a:pPr algn="ctr" fontAlgn="b"/>
                      <a:r>
                        <a:rPr lang="es-CO" sz="1600" b="1" i="0" u="none" strike="noStrike" dirty="0">
                          <a:solidFill>
                            <a:srgbClr val="00B09B"/>
                          </a:solidFill>
                          <a:effectLst/>
                          <a:latin typeface="+mn-lt"/>
                        </a:rPr>
                        <a:t>2,151.206</a:t>
                      </a:r>
                    </a:p>
                  </a:txBody>
                  <a:tcPr marL="5203" marR="5203" marT="5203" marB="0" anchor="b">
                    <a:lnL>
                      <a:noFill/>
                    </a:lnL>
                    <a:lnR>
                      <a:noFill/>
                    </a:lnR>
                    <a:lnT>
                      <a:noFill/>
                    </a:lnT>
                    <a:lnB>
                      <a:noFill/>
                    </a:lnB>
                    <a:noFill/>
                  </a:tcPr>
                </a:tc>
                <a:tc>
                  <a:txBody>
                    <a:bodyPr/>
                    <a:lstStyle/>
                    <a:p>
                      <a:pPr algn="ctr" fontAlgn="b"/>
                      <a:r>
                        <a:rPr lang="es-CO" sz="1600" b="1" i="0" u="none" strike="noStrike" dirty="0">
                          <a:solidFill>
                            <a:srgbClr val="00B09B"/>
                          </a:solidFill>
                          <a:effectLst/>
                          <a:latin typeface="+mn-lt"/>
                        </a:rPr>
                        <a:t>490.801</a:t>
                      </a:r>
                    </a:p>
                  </a:txBody>
                  <a:tcPr marL="5203" marR="5203" marT="5203" marB="0" anchor="b">
                    <a:lnL>
                      <a:noFill/>
                    </a:lnL>
                    <a:lnR>
                      <a:noFill/>
                    </a:lnR>
                    <a:lnT>
                      <a:noFill/>
                    </a:lnT>
                    <a:lnB>
                      <a:noFill/>
                    </a:lnB>
                    <a:noFill/>
                  </a:tcPr>
                </a:tc>
                <a:extLst>
                  <a:ext uri="{0D108BD9-81ED-4DB2-BD59-A6C34878D82A}">
                    <a16:rowId xmlns:a16="http://schemas.microsoft.com/office/drawing/2014/main" val="2509280043"/>
                  </a:ext>
                </a:extLst>
              </a:tr>
            </a:tbl>
          </a:graphicData>
        </a:graphic>
      </p:graphicFrame>
      <p:sp>
        <p:nvSpPr>
          <p:cNvPr id="15" name="13 Rectángulo">
            <a:extLst>
              <a:ext uri="{FF2B5EF4-FFF2-40B4-BE49-F238E27FC236}">
                <a16:creationId xmlns:a16="http://schemas.microsoft.com/office/drawing/2014/main" id="{3716CFEC-5CB9-4FB5-A842-1151A24ABB24}"/>
              </a:ext>
            </a:extLst>
          </p:cNvPr>
          <p:cNvSpPr/>
          <p:nvPr/>
        </p:nvSpPr>
        <p:spPr>
          <a:xfrm>
            <a:off x="371365" y="4659496"/>
            <a:ext cx="11384767" cy="523220"/>
          </a:xfrm>
          <a:prstGeom prst="rect">
            <a:avLst/>
          </a:prstGeom>
          <a:noFill/>
        </p:spPr>
        <p:txBody>
          <a:bodyPr wrap="square">
            <a:spAutoFit/>
          </a:bodyPr>
          <a:lstStyle/>
          <a:p>
            <a:pPr algn="ctr"/>
            <a:r>
              <a:rPr lang="es-ES" dirty="0">
                <a:solidFill>
                  <a:srgbClr val="787775"/>
                </a:solidFill>
              </a:rPr>
              <a:t>Entre 2019-2023, la </a:t>
            </a:r>
            <a:r>
              <a:rPr lang="es-ES" b="1" dirty="0">
                <a:solidFill>
                  <a:srgbClr val="787775"/>
                </a:solidFill>
              </a:rPr>
              <a:t>pérdida de bienestar </a:t>
            </a:r>
            <a:r>
              <a:rPr lang="es-ES" dirty="0">
                <a:solidFill>
                  <a:srgbClr val="787775"/>
                </a:solidFill>
              </a:rPr>
              <a:t>por Dengue en Santiago de Cali</a:t>
            </a:r>
            <a:r>
              <a:rPr lang="es-ES" b="1" dirty="0">
                <a:solidFill>
                  <a:srgbClr val="787775"/>
                </a:solidFill>
              </a:rPr>
              <a:t> </a:t>
            </a:r>
            <a:r>
              <a:rPr lang="es-ES" dirty="0">
                <a:solidFill>
                  <a:srgbClr val="787775"/>
                </a:solidFill>
              </a:rPr>
              <a:t>oscila entre </a:t>
            </a:r>
            <a:r>
              <a:rPr lang="es-ES" b="1" dirty="0">
                <a:solidFill>
                  <a:srgbClr val="787775"/>
                </a:solidFill>
              </a:rPr>
              <a:t>406.4 y 2151 millones de USD</a:t>
            </a:r>
          </a:p>
          <a:p>
            <a:pPr algn="ctr"/>
            <a:r>
              <a:rPr lang="es-ES" dirty="0">
                <a:solidFill>
                  <a:srgbClr val="787775"/>
                </a:solidFill>
              </a:rPr>
              <a:t>Se estima que durante los periodos </a:t>
            </a:r>
            <a:r>
              <a:rPr lang="es-ES" b="1" dirty="0">
                <a:solidFill>
                  <a:srgbClr val="787775"/>
                </a:solidFill>
              </a:rPr>
              <a:t>con brotes y defunciones, </a:t>
            </a:r>
            <a:r>
              <a:rPr lang="es-ES" dirty="0">
                <a:solidFill>
                  <a:srgbClr val="787775"/>
                </a:solidFill>
              </a:rPr>
              <a:t>los costos son </a:t>
            </a:r>
            <a:r>
              <a:rPr lang="es-ES" b="1" dirty="0">
                <a:solidFill>
                  <a:srgbClr val="787775"/>
                </a:solidFill>
              </a:rPr>
              <a:t>aproximadamente</a:t>
            </a:r>
            <a:r>
              <a:rPr lang="es-ES" dirty="0">
                <a:solidFill>
                  <a:srgbClr val="787775"/>
                </a:solidFill>
              </a:rPr>
              <a:t> el doble vs periodo sin brote</a:t>
            </a:r>
            <a:endParaRPr lang="es-ES" dirty="0">
              <a:solidFill>
                <a:srgbClr val="00B09B"/>
              </a:solidFill>
            </a:endParaRPr>
          </a:p>
        </p:txBody>
      </p:sp>
    </p:spTree>
    <p:extLst>
      <p:ext uri="{BB962C8B-B14F-4D97-AF65-F5344CB8AC3E}">
        <p14:creationId xmlns:p14="http://schemas.microsoft.com/office/powerpoint/2010/main" val="1493420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Resultados Estimación de costos</a:t>
            </a:r>
            <a:endParaRPr lang="es-CO" dirty="0"/>
          </a:p>
        </p:txBody>
      </p:sp>
      <p:sp>
        <p:nvSpPr>
          <p:cNvPr id="91" name="Google Shape;91;p14"/>
          <p:cNvSpPr txBox="1"/>
          <p:nvPr/>
        </p:nvSpPr>
        <p:spPr>
          <a:xfrm>
            <a:off x="1520157" y="2357642"/>
            <a:ext cx="9832427"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400" b="1" dirty="0">
                <a:solidFill>
                  <a:srgbClr val="787775"/>
                </a:solidFill>
                <a:latin typeface="Arial"/>
                <a:ea typeface="Arial"/>
                <a:cs typeface="Arial"/>
                <a:sym typeface="Arial"/>
              </a:rPr>
              <a:t>Costos salud vs Pérdida bienestar </a:t>
            </a:r>
          </a:p>
        </p:txBody>
      </p:sp>
      <p:grpSp>
        <p:nvGrpSpPr>
          <p:cNvPr id="2" name="Grupo 1">
            <a:extLst>
              <a:ext uri="{FF2B5EF4-FFF2-40B4-BE49-F238E27FC236}">
                <a16:creationId xmlns:a16="http://schemas.microsoft.com/office/drawing/2014/main" id="{A365EC93-EAC3-472A-8B91-9AB358D48171}"/>
              </a:ext>
            </a:extLst>
          </p:cNvPr>
          <p:cNvGrpSpPr/>
          <p:nvPr/>
        </p:nvGrpSpPr>
        <p:grpSpPr>
          <a:xfrm>
            <a:off x="5661297" y="270661"/>
            <a:ext cx="6062013" cy="678629"/>
            <a:chOff x="5583912" y="620688"/>
            <a:chExt cx="6062013" cy="678629"/>
          </a:xfrm>
        </p:grpSpPr>
        <p:pic>
          <p:nvPicPr>
            <p:cNvPr id="13" name="Imagen 12">
              <a:extLst>
                <a:ext uri="{FF2B5EF4-FFF2-40B4-BE49-F238E27FC236}">
                  <a16:creationId xmlns:a16="http://schemas.microsoft.com/office/drawing/2014/main" id="{140A9025-F61C-452E-BC40-FD6EFC059359}"/>
                </a:ext>
              </a:extLst>
            </p:cNvPr>
            <p:cNvPicPr>
              <a:picLocks noChangeAspect="1"/>
            </p:cNvPicPr>
            <p:nvPr/>
          </p:nvPicPr>
          <p:blipFill rotWithShape="1">
            <a:blip r:embed="rId3"/>
            <a:srcRect b="81092"/>
            <a:stretch/>
          </p:blipFill>
          <p:spPr>
            <a:xfrm>
              <a:off x="5591944" y="620688"/>
              <a:ext cx="6053981" cy="215310"/>
            </a:xfrm>
            <a:prstGeom prst="rect">
              <a:avLst/>
            </a:prstGeom>
          </p:spPr>
        </p:pic>
        <p:pic>
          <p:nvPicPr>
            <p:cNvPr id="9" name="Imagen 8">
              <a:extLst>
                <a:ext uri="{FF2B5EF4-FFF2-40B4-BE49-F238E27FC236}">
                  <a16:creationId xmlns:a16="http://schemas.microsoft.com/office/drawing/2014/main" id="{2B6EE82A-0A72-48BE-85EA-BA260C685AC6}"/>
                </a:ext>
              </a:extLst>
            </p:cNvPr>
            <p:cNvPicPr>
              <a:picLocks noChangeAspect="1"/>
            </p:cNvPicPr>
            <p:nvPr/>
          </p:nvPicPr>
          <p:blipFill rotWithShape="1">
            <a:blip r:embed="rId3"/>
            <a:srcRect t="60254"/>
            <a:stretch/>
          </p:blipFill>
          <p:spPr>
            <a:xfrm>
              <a:off x="5583912" y="846727"/>
              <a:ext cx="6053981" cy="452590"/>
            </a:xfrm>
            <a:prstGeom prst="rect">
              <a:avLst/>
            </a:prstGeom>
          </p:spPr>
        </p:pic>
      </p:grpSp>
      <p:sp>
        <p:nvSpPr>
          <p:cNvPr id="11" name="CuadroTexto 10">
            <a:extLst>
              <a:ext uri="{FF2B5EF4-FFF2-40B4-BE49-F238E27FC236}">
                <a16:creationId xmlns:a16="http://schemas.microsoft.com/office/drawing/2014/main" id="{39E8314F-F27B-498B-BBDD-4400F7798570}"/>
              </a:ext>
            </a:extLst>
          </p:cNvPr>
          <p:cNvSpPr txBox="1"/>
          <p:nvPr/>
        </p:nvSpPr>
        <p:spPr>
          <a:xfrm>
            <a:off x="1520157" y="3031720"/>
            <a:ext cx="3740076" cy="584775"/>
          </a:xfrm>
          <a:prstGeom prst="rect">
            <a:avLst/>
          </a:prstGeom>
          <a:noFill/>
        </p:spPr>
        <p:txBody>
          <a:bodyPr wrap="square">
            <a:spAutoFit/>
          </a:bodyPr>
          <a:lstStyle/>
          <a:p>
            <a:pPr algn="ctr" fontAlgn="b"/>
            <a:r>
              <a:rPr lang="es-CO" sz="3200" b="1" i="0" u="none" strike="noStrike" cap="none" dirty="0">
                <a:solidFill>
                  <a:srgbClr val="787775"/>
                </a:solidFill>
                <a:latin typeface="Arial"/>
                <a:ea typeface="+mn-ea"/>
                <a:cs typeface="Arial"/>
                <a:sym typeface="Arial"/>
              </a:rPr>
              <a:t>26.9 millone</a:t>
            </a:r>
            <a:r>
              <a:rPr lang="es-CO" sz="3200" b="1" dirty="0">
                <a:solidFill>
                  <a:srgbClr val="787775"/>
                </a:solidFill>
                <a:ea typeface="+mn-ea"/>
              </a:rPr>
              <a:t>s USD</a:t>
            </a:r>
            <a:endParaRPr lang="es-CO" sz="3200" b="1" i="0" u="none" strike="noStrike" cap="none" dirty="0">
              <a:solidFill>
                <a:srgbClr val="787775"/>
              </a:solidFill>
              <a:latin typeface="Arial"/>
              <a:ea typeface="+mn-ea"/>
              <a:cs typeface="Arial"/>
              <a:sym typeface="Arial"/>
            </a:endParaRPr>
          </a:p>
        </p:txBody>
      </p:sp>
      <p:sp>
        <p:nvSpPr>
          <p:cNvPr id="16" name="CuadroTexto 15">
            <a:extLst>
              <a:ext uri="{FF2B5EF4-FFF2-40B4-BE49-F238E27FC236}">
                <a16:creationId xmlns:a16="http://schemas.microsoft.com/office/drawing/2014/main" id="{3A43DE87-DCC8-4D41-81E7-E5AC4693958D}"/>
              </a:ext>
            </a:extLst>
          </p:cNvPr>
          <p:cNvSpPr txBox="1"/>
          <p:nvPr/>
        </p:nvSpPr>
        <p:spPr>
          <a:xfrm>
            <a:off x="7248128" y="3041526"/>
            <a:ext cx="4104456" cy="584775"/>
          </a:xfrm>
          <a:prstGeom prst="rect">
            <a:avLst/>
          </a:prstGeom>
          <a:noFill/>
        </p:spPr>
        <p:txBody>
          <a:bodyPr wrap="square">
            <a:spAutoFit/>
          </a:bodyPr>
          <a:lstStyle/>
          <a:p>
            <a:pPr algn="ctr"/>
            <a:r>
              <a:rPr lang="es-ES" sz="3200" b="1" dirty="0">
                <a:solidFill>
                  <a:srgbClr val="787775"/>
                </a:solidFill>
              </a:rPr>
              <a:t>406.4 </a:t>
            </a:r>
            <a:r>
              <a:rPr lang="es-CO" sz="3200" b="1" i="0" u="none" strike="noStrike" cap="none" dirty="0">
                <a:solidFill>
                  <a:srgbClr val="787775"/>
                </a:solidFill>
                <a:latin typeface="Arial"/>
                <a:ea typeface="+mn-ea"/>
                <a:cs typeface="Arial"/>
                <a:sym typeface="Arial"/>
              </a:rPr>
              <a:t>millone</a:t>
            </a:r>
            <a:r>
              <a:rPr lang="es-CO" sz="3200" b="1" dirty="0">
                <a:solidFill>
                  <a:srgbClr val="787775"/>
                </a:solidFill>
                <a:ea typeface="+mn-ea"/>
              </a:rPr>
              <a:t>s USD</a:t>
            </a:r>
            <a:endParaRPr lang="es-CO" sz="3200" dirty="0"/>
          </a:p>
        </p:txBody>
      </p:sp>
      <p:sp>
        <p:nvSpPr>
          <p:cNvPr id="17" name="13 Rectángulo">
            <a:extLst>
              <a:ext uri="{FF2B5EF4-FFF2-40B4-BE49-F238E27FC236}">
                <a16:creationId xmlns:a16="http://schemas.microsoft.com/office/drawing/2014/main" id="{5D493176-F6EB-4FE6-9673-A83D0189D643}"/>
              </a:ext>
            </a:extLst>
          </p:cNvPr>
          <p:cNvSpPr/>
          <p:nvPr/>
        </p:nvSpPr>
        <p:spPr>
          <a:xfrm>
            <a:off x="1049934" y="3955500"/>
            <a:ext cx="4830042" cy="1138773"/>
          </a:xfrm>
          <a:prstGeom prst="rect">
            <a:avLst/>
          </a:prstGeom>
          <a:noFill/>
        </p:spPr>
        <p:txBody>
          <a:bodyPr wrap="square">
            <a:spAutoFit/>
          </a:bodyPr>
          <a:lstStyle/>
          <a:p>
            <a:r>
              <a:rPr lang="es-ES" sz="2800" b="1" dirty="0">
                <a:solidFill>
                  <a:srgbClr val="787775"/>
                </a:solidFill>
              </a:rPr>
              <a:t>COSTO</a:t>
            </a:r>
            <a:r>
              <a:rPr lang="es-ES" sz="2800" dirty="0">
                <a:solidFill>
                  <a:srgbClr val="787775"/>
                </a:solidFill>
              </a:rPr>
              <a:t> año sin brote </a:t>
            </a:r>
            <a:r>
              <a:rPr lang="es-ES" sz="2800" b="1" dirty="0">
                <a:solidFill>
                  <a:srgbClr val="787775"/>
                </a:solidFill>
              </a:rPr>
              <a:t>	3.1* </a:t>
            </a:r>
            <a:br>
              <a:rPr lang="es-ES" sz="2800" b="1" dirty="0">
                <a:solidFill>
                  <a:srgbClr val="787775"/>
                </a:solidFill>
              </a:rPr>
            </a:br>
            <a:r>
              <a:rPr lang="es-ES" sz="2800" b="1" dirty="0">
                <a:solidFill>
                  <a:srgbClr val="787775"/>
                </a:solidFill>
              </a:rPr>
              <a:t>COSTO </a:t>
            </a:r>
            <a:r>
              <a:rPr lang="es-ES" sz="2800" dirty="0">
                <a:solidFill>
                  <a:srgbClr val="787775"/>
                </a:solidFill>
              </a:rPr>
              <a:t>año brote</a:t>
            </a:r>
            <a:r>
              <a:rPr lang="es-ES" sz="2800" b="1" dirty="0">
                <a:solidFill>
                  <a:srgbClr val="787775"/>
                </a:solidFill>
              </a:rPr>
              <a:t>	</a:t>
            </a:r>
            <a:r>
              <a:rPr lang="es-ES" sz="4000" b="1" dirty="0">
                <a:solidFill>
                  <a:srgbClr val="00B09B"/>
                </a:solidFill>
              </a:rPr>
              <a:t>8.8*</a:t>
            </a:r>
            <a:endParaRPr lang="es-ES" sz="2800" b="1" dirty="0">
              <a:solidFill>
                <a:srgbClr val="00B09B"/>
              </a:solidFill>
            </a:endParaRPr>
          </a:p>
        </p:txBody>
      </p:sp>
      <p:sp>
        <p:nvSpPr>
          <p:cNvPr id="18" name="13 Rectángulo">
            <a:extLst>
              <a:ext uri="{FF2B5EF4-FFF2-40B4-BE49-F238E27FC236}">
                <a16:creationId xmlns:a16="http://schemas.microsoft.com/office/drawing/2014/main" id="{C4A2C02A-1686-4D06-928F-28F39DCB9163}"/>
              </a:ext>
            </a:extLst>
          </p:cNvPr>
          <p:cNvSpPr/>
          <p:nvPr/>
        </p:nvSpPr>
        <p:spPr>
          <a:xfrm>
            <a:off x="6096000" y="3955500"/>
            <a:ext cx="5724636" cy="1138773"/>
          </a:xfrm>
          <a:prstGeom prst="rect">
            <a:avLst/>
          </a:prstGeom>
          <a:noFill/>
        </p:spPr>
        <p:txBody>
          <a:bodyPr wrap="square">
            <a:spAutoFit/>
          </a:bodyPr>
          <a:lstStyle/>
          <a:p>
            <a:r>
              <a:rPr lang="es-ES" sz="2800" b="1" dirty="0">
                <a:solidFill>
                  <a:srgbClr val="787775"/>
                </a:solidFill>
              </a:rPr>
              <a:t>COSTO</a:t>
            </a:r>
            <a:r>
              <a:rPr lang="es-ES" sz="2800" dirty="0">
                <a:solidFill>
                  <a:srgbClr val="787775"/>
                </a:solidFill>
              </a:rPr>
              <a:t> año sin brote </a:t>
            </a:r>
            <a:r>
              <a:rPr lang="es-ES" sz="2800" b="1" dirty="0">
                <a:solidFill>
                  <a:srgbClr val="787775"/>
                </a:solidFill>
              </a:rPr>
              <a:t>	53.04*</a:t>
            </a:r>
          </a:p>
          <a:p>
            <a:r>
              <a:rPr lang="es-ES" sz="2800" b="1" dirty="0">
                <a:solidFill>
                  <a:srgbClr val="787775"/>
                </a:solidFill>
              </a:rPr>
              <a:t>COSTO </a:t>
            </a:r>
            <a:r>
              <a:rPr lang="es-ES" sz="2800" dirty="0">
                <a:solidFill>
                  <a:srgbClr val="787775"/>
                </a:solidFill>
              </a:rPr>
              <a:t>año brote</a:t>
            </a:r>
            <a:r>
              <a:rPr lang="es-ES" sz="2800" b="1" dirty="0">
                <a:solidFill>
                  <a:srgbClr val="787775"/>
                </a:solidFill>
              </a:rPr>
              <a:t>	</a:t>
            </a:r>
            <a:r>
              <a:rPr lang="es-ES" sz="4000" b="1" dirty="0">
                <a:solidFill>
                  <a:srgbClr val="00B09B"/>
                </a:solidFill>
              </a:rPr>
              <a:t>123.62*</a:t>
            </a:r>
            <a:endParaRPr lang="es-ES" sz="2800" b="1" dirty="0">
              <a:solidFill>
                <a:srgbClr val="00B09B"/>
              </a:solidFill>
            </a:endParaRPr>
          </a:p>
        </p:txBody>
      </p:sp>
      <p:sp>
        <p:nvSpPr>
          <p:cNvPr id="12" name="CuadroTexto 11">
            <a:extLst>
              <a:ext uri="{FF2B5EF4-FFF2-40B4-BE49-F238E27FC236}">
                <a16:creationId xmlns:a16="http://schemas.microsoft.com/office/drawing/2014/main" id="{80EB833F-FE02-4918-AEC5-EE0DEA50F4F5}"/>
              </a:ext>
            </a:extLst>
          </p:cNvPr>
          <p:cNvSpPr txBox="1"/>
          <p:nvPr/>
        </p:nvSpPr>
        <p:spPr>
          <a:xfrm>
            <a:off x="458354" y="5436613"/>
            <a:ext cx="6096000" cy="307777"/>
          </a:xfrm>
          <a:prstGeom prst="rect">
            <a:avLst/>
          </a:prstGeom>
          <a:noFill/>
        </p:spPr>
        <p:txBody>
          <a:bodyPr wrap="square">
            <a:spAutoFit/>
          </a:bodyPr>
          <a:lstStyle/>
          <a:p>
            <a:r>
              <a:rPr lang="es-CO" sz="1400" i="0" u="none" strike="noStrike" cap="none" dirty="0">
                <a:solidFill>
                  <a:srgbClr val="787775"/>
                </a:solidFill>
                <a:latin typeface="Arial"/>
                <a:ea typeface="+mn-ea"/>
                <a:cs typeface="Arial"/>
                <a:sym typeface="Arial"/>
              </a:rPr>
              <a:t>*Valores en millone</a:t>
            </a:r>
            <a:r>
              <a:rPr lang="es-CO" sz="1400" dirty="0">
                <a:solidFill>
                  <a:srgbClr val="787775"/>
                </a:solidFill>
                <a:ea typeface="+mn-ea"/>
              </a:rPr>
              <a:t>s USD</a:t>
            </a:r>
            <a:endParaRPr lang="es-CO" dirty="0"/>
          </a:p>
        </p:txBody>
      </p:sp>
    </p:spTree>
    <p:extLst>
      <p:ext uri="{BB962C8B-B14F-4D97-AF65-F5344CB8AC3E}">
        <p14:creationId xmlns:p14="http://schemas.microsoft.com/office/powerpoint/2010/main" val="2947357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0" y="4509120"/>
            <a:ext cx="12192000" cy="553998"/>
          </a:xfrm>
          <a:prstGeom prst="rect">
            <a:avLst/>
          </a:prstGeom>
          <a:solidFill>
            <a:srgbClr val="00B09B"/>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000" b="1" dirty="0">
                <a:solidFill>
                  <a:schemeClr val="bg1"/>
                </a:solidFill>
                <a:latin typeface="Arial"/>
                <a:ea typeface="Arial"/>
                <a:cs typeface="Arial"/>
                <a:sym typeface="Arial"/>
              </a:rPr>
              <a:t>Conclusiones y recomendaciones</a:t>
            </a:r>
          </a:p>
        </p:txBody>
      </p:sp>
    </p:spTree>
    <p:extLst>
      <p:ext uri="{BB962C8B-B14F-4D97-AF65-F5344CB8AC3E}">
        <p14:creationId xmlns:p14="http://schemas.microsoft.com/office/powerpoint/2010/main" val="637134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4" y="2135382"/>
            <a:ext cx="11294341" cy="2893059"/>
          </a:xfrm>
          <a:prstGeom prst="rect">
            <a:avLst/>
          </a:prstGeom>
          <a:noFill/>
          <a:ln>
            <a:noFill/>
          </a:ln>
        </p:spPr>
        <p:txBody>
          <a:bodyPr spcFirstLastPara="1" wrap="square" lIns="91425" tIns="45700" rIns="91425" bIns="45700" anchor="t" anchorCtr="0">
            <a:spAutoFit/>
          </a:bodyPr>
          <a:lstStyle/>
          <a:p>
            <a:pPr marL="285750" indent="-285750">
              <a:buFont typeface="Arial" pitchFamily="34" charset="0"/>
              <a:buChar char="•"/>
            </a:pPr>
            <a:r>
              <a:rPr lang="es-CO" dirty="0">
                <a:solidFill>
                  <a:srgbClr val="787775"/>
                </a:solidFill>
                <a:highlight>
                  <a:srgbClr val="FFFFFF"/>
                </a:highlight>
              </a:rPr>
              <a:t>Dado que el dengue causa en promedio alrededor de 4.000 episodios sintomáticos no mortales por cada muerte por dengue en el distrito de Santiago de Cali, las evaluaciones cuantitativas de la discapacidad son fundamentales para evaluar la carga del dengue y la rentabilidad de las intervenciones de control.</a:t>
            </a:r>
          </a:p>
          <a:p>
            <a:endParaRPr lang="es-ES" noProof="1">
              <a:solidFill>
                <a:srgbClr val="787775"/>
              </a:solidFill>
              <a:highlight>
                <a:srgbClr val="FFFFFF"/>
              </a:highlight>
            </a:endParaRPr>
          </a:p>
          <a:p>
            <a:pPr marL="285750" indent="-285750">
              <a:buFont typeface="Arial" pitchFamily="34" charset="0"/>
              <a:buChar char="•"/>
            </a:pPr>
            <a:r>
              <a:rPr lang="es-CO" dirty="0">
                <a:solidFill>
                  <a:srgbClr val="787775"/>
                </a:solidFill>
                <a:highlight>
                  <a:srgbClr val="FFFFFF"/>
                </a:highlight>
              </a:rPr>
              <a:t>Hay diferencias importantes en la carga de la enfermedad en diferentes periodos y por sexo, siendo mayor en los hombres y más pronunciadas durante años epidémicos. </a:t>
            </a:r>
          </a:p>
          <a:p>
            <a:endParaRPr lang="es-ES" noProof="1">
              <a:solidFill>
                <a:srgbClr val="787775"/>
              </a:solidFill>
              <a:highlight>
                <a:srgbClr val="FFFFFF"/>
              </a:highlight>
            </a:endParaRPr>
          </a:p>
          <a:p>
            <a:pPr marL="285750" indent="-285750">
              <a:buFont typeface="Arial" pitchFamily="34" charset="0"/>
              <a:buChar char="•"/>
            </a:pPr>
            <a:r>
              <a:rPr lang="es-ES" dirty="0">
                <a:solidFill>
                  <a:srgbClr val="787775"/>
                </a:solidFill>
                <a:highlight>
                  <a:srgbClr val="FFFFFF"/>
                </a:highlight>
              </a:rPr>
              <a:t>El peso de la discapacidad propuesto por la OMS produce resultados que subestiman la carga de la enfermedad para el dengue, debido a que </a:t>
            </a:r>
            <a:r>
              <a:rPr lang="es-CO" dirty="0">
                <a:solidFill>
                  <a:srgbClr val="787775"/>
                </a:solidFill>
                <a:highlight>
                  <a:srgbClr val="FFFFFF"/>
                </a:highlight>
              </a:rPr>
              <a:t>evaluó la discapacidad durante la fase aguda igualándola a una enfermedad infecciosa genérica, y no específicamente para esta enfermedad.</a:t>
            </a:r>
          </a:p>
          <a:p>
            <a:endParaRPr lang="es-ES" noProof="1">
              <a:solidFill>
                <a:srgbClr val="787775"/>
              </a:solidFill>
              <a:highlight>
                <a:srgbClr val="FFFFFF"/>
              </a:highlight>
            </a:endParaRPr>
          </a:p>
          <a:p>
            <a:pPr marL="285750" indent="-285750">
              <a:buFont typeface="Arial" pitchFamily="34" charset="0"/>
              <a:buChar char="•"/>
            </a:pPr>
            <a:r>
              <a:rPr lang="es-CO" dirty="0">
                <a:solidFill>
                  <a:srgbClr val="787775"/>
                </a:solidFill>
                <a:highlight>
                  <a:srgbClr val="FFFFFF"/>
                </a:highlight>
              </a:rPr>
              <a:t>El dengue es una patología que tiene mayor contribución a la carga de la enfermedad debido a la morbilidad, factor modificable mediante intervenciones preventivas y correctivas (disminución de la severidad y duración).</a:t>
            </a:r>
            <a:endParaRPr lang="es-ES" noProof="1">
              <a:solidFill>
                <a:srgbClr val="787775"/>
              </a:solidFill>
              <a:highlight>
                <a:srgbClr val="FFFFFF"/>
              </a:highlight>
            </a:endParaRP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Conclusiones</a:t>
            </a:r>
            <a:endParaRPr lang="es-CO" dirty="0"/>
          </a:p>
        </p:txBody>
      </p:sp>
    </p:spTree>
    <p:extLst>
      <p:ext uri="{BB962C8B-B14F-4D97-AF65-F5344CB8AC3E}">
        <p14:creationId xmlns:p14="http://schemas.microsoft.com/office/powerpoint/2010/main" val="2117363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4" y="2135382"/>
            <a:ext cx="11294341" cy="3108503"/>
          </a:xfrm>
          <a:prstGeom prst="rect">
            <a:avLst/>
          </a:prstGeom>
          <a:noFill/>
          <a:ln>
            <a:noFill/>
          </a:ln>
        </p:spPr>
        <p:txBody>
          <a:bodyPr spcFirstLastPara="1" wrap="square" lIns="91425" tIns="45700" rIns="91425" bIns="45700" anchor="t" anchorCtr="0">
            <a:spAutoFit/>
          </a:bodyPr>
          <a:lstStyle/>
          <a:p>
            <a:pPr marL="285750" indent="-285750" algn="just">
              <a:buFont typeface="Arial" pitchFamily="34" charset="0"/>
              <a:buChar char="•"/>
            </a:pPr>
            <a:r>
              <a:rPr lang="es-CO" dirty="0">
                <a:solidFill>
                  <a:srgbClr val="787775"/>
                </a:solidFill>
                <a:highlight>
                  <a:srgbClr val="FFFFFF"/>
                </a:highlight>
              </a:rPr>
              <a:t>Los AVAD por grupos de edad, tiene una distribución asimétrica positiva, bimodal en los grupos de 5 a 14 (población en edad escolar) y 45 a 69 años de edad. Estos se constituyen por tanto en un foco de priorización. </a:t>
            </a:r>
          </a:p>
          <a:p>
            <a:pPr marL="0" lvl="0" indent="0" algn="just">
              <a:buFont typeface="Arial"/>
              <a:buNone/>
            </a:pPr>
            <a:endParaRPr lang="es-ES" noProof="1">
              <a:solidFill>
                <a:srgbClr val="787775"/>
              </a:solidFill>
              <a:highlight>
                <a:srgbClr val="FFFFFF"/>
              </a:highlight>
            </a:endParaRPr>
          </a:p>
          <a:p>
            <a:pPr marL="285750" indent="-285750" algn="just">
              <a:buFont typeface="Arial" pitchFamily="34" charset="0"/>
              <a:buChar char="•"/>
            </a:pPr>
            <a:r>
              <a:rPr lang="es-ES" dirty="0">
                <a:solidFill>
                  <a:srgbClr val="787775"/>
                </a:solidFill>
                <a:highlight>
                  <a:srgbClr val="FFFFFF"/>
                </a:highlight>
              </a:rPr>
              <a:t>Es necesario comprender los efectos de la coinfección por distintos serotipos en infecciones concurrentes, para determinar los resultados clínicos de la progresión y transmisión de la enfermedad.</a:t>
            </a:r>
          </a:p>
          <a:p>
            <a:pPr marL="0" lvl="0" indent="0" algn="just">
              <a:buFont typeface="Arial"/>
              <a:buNone/>
            </a:pPr>
            <a:endParaRPr lang="es-ES" noProof="1">
              <a:solidFill>
                <a:srgbClr val="787775"/>
              </a:solidFill>
              <a:highlight>
                <a:srgbClr val="FFFFFF"/>
              </a:highlight>
            </a:endParaRPr>
          </a:p>
          <a:p>
            <a:pPr marL="285750" indent="-285750" algn="just">
              <a:buFont typeface="Arial" pitchFamily="34" charset="0"/>
              <a:buChar char="•"/>
            </a:pPr>
            <a:r>
              <a:rPr lang="es-ES" dirty="0">
                <a:solidFill>
                  <a:srgbClr val="787775"/>
                </a:solidFill>
                <a:highlight>
                  <a:srgbClr val="FFFFFF"/>
                </a:highlight>
              </a:rPr>
              <a:t>Analizar en la modelación de la gravedad y la discapacidad con dengue concurrentes, que se presenta de manera diferente que los pacientes monoinfectados.</a:t>
            </a:r>
          </a:p>
          <a:p>
            <a:pPr marL="457200" indent="-457200" algn="just">
              <a:buFont typeface="Arial"/>
              <a:buChar char="•"/>
            </a:pPr>
            <a:endParaRPr lang="es-CO" dirty="0">
              <a:solidFill>
                <a:srgbClr val="787775"/>
              </a:solidFill>
              <a:highlight>
                <a:srgbClr val="FFFFFF"/>
              </a:highlight>
            </a:endParaRPr>
          </a:p>
          <a:p>
            <a:pPr marL="285750" indent="-285750" algn="just">
              <a:buFont typeface="Arial" pitchFamily="34" charset="0"/>
              <a:buChar char="•"/>
            </a:pPr>
            <a:r>
              <a:rPr lang="es-CO" dirty="0">
                <a:solidFill>
                  <a:srgbClr val="787775"/>
                </a:solidFill>
                <a:highlight>
                  <a:srgbClr val="FFFFFF"/>
                </a:highlight>
              </a:rPr>
              <a:t>Un sistema de vigilancia pasivo refleja un número de personas enfermas inferior al real, ya sea por subdiagnóstico o por subnotificación, por tanto la estimación de los AVAD en el presente estudio es conservadora.</a:t>
            </a:r>
            <a:endParaRPr lang="es-ES" dirty="0">
              <a:solidFill>
                <a:srgbClr val="787775"/>
              </a:solidFill>
              <a:highlight>
                <a:srgbClr val="FFFFFF"/>
              </a:highlight>
            </a:endParaRPr>
          </a:p>
          <a:p>
            <a:pPr marL="457200" indent="-457200" algn="just">
              <a:buFont typeface="Arial"/>
              <a:buChar char="•"/>
            </a:pPr>
            <a:endParaRPr lang="es-ES" dirty="0">
              <a:solidFill>
                <a:srgbClr val="787775"/>
              </a:solidFill>
              <a:highlight>
                <a:srgbClr val="FFFFFF"/>
              </a:highlight>
            </a:endParaRPr>
          </a:p>
          <a:p>
            <a:pPr marL="285750" indent="-285750" algn="just">
              <a:buFont typeface="Arial" pitchFamily="34" charset="0"/>
              <a:buChar char="•"/>
            </a:pPr>
            <a:r>
              <a:rPr lang="es-ES" dirty="0">
                <a:solidFill>
                  <a:srgbClr val="787775"/>
                </a:solidFill>
                <a:highlight>
                  <a:srgbClr val="FFFFFF"/>
                </a:highlight>
              </a:rPr>
              <a:t>Cuantificar la cobertura y la representatividad es de vital importancia para mejorar la estimación de la carga de la enfermedad por dengue. La vigilancia activa es una de las mejores opciones para conocer el subregistro de la enfermedad.</a:t>
            </a:r>
            <a:endParaRPr lang="es-ES" i="0" noProof="1">
              <a:solidFill>
                <a:srgbClr val="787775"/>
              </a:solidFill>
              <a:highlight>
                <a:srgbClr val="FFFFFF"/>
              </a:highlight>
              <a:latin typeface="Arial"/>
              <a:ea typeface="Arial"/>
              <a:cs typeface="Arial"/>
              <a:sym typeface="Arial"/>
            </a:endParaRP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Conclusiones</a:t>
            </a:r>
            <a:endParaRPr lang="es-CO" dirty="0"/>
          </a:p>
        </p:txBody>
      </p:sp>
    </p:spTree>
    <p:extLst>
      <p:ext uri="{BB962C8B-B14F-4D97-AF65-F5344CB8AC3E}">
        <p14:creationId xmlns:p14="http://schemas.microsoft.com/office/powerpoint/2010/main" val="859366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4" y="2135382"/>
            <a:ext cx="11294341" cy="2246729"/>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endParaRPr lang="es-ES" i="0" noProof="1">
              <a:solidFill>
                <a:srgbClr val="787775"/>
              </a:solidFill>
              <a:highlight>
                <a:srgbClr val="FFFFFF"/>
              </a:highlight>
              <a:latin typeface="Arial"/>
              <a:ea typeface="Arial"/>
              <a:cs typeface="Arial"/>
              <a:sym typeface="Arial"/>
            </a:endParaRPr>
          </a:p>
          <a:p>
            <a:pPr marL="0" marR="0" lvl="0" indent="0" rtl="0">
              <a:spcBef>
                <a:spcPts val="0"/>
              </a:spcBef>
              <a:spcAft>
                <a:spcPts val="0"/>
              </a:spcAft>
              <a:buNone/>
            </a:pPr>
            <a:endParaRPr lang="es-ES" noProof="1">
              <a:solidFill>
                <a:srgbClr val="787775"/>
              </a:solidFill>
              <a:highlight>
                <a:srgbClr val="FFFFFF"/>
              </a:highlight>
            </a:endParaRPr>
          </a:p>
          <a:p>
            <a:pPr marL="285750" marR="0" lvl="0" indent="-285750" rtl="0">
              <a:spcBef>
                <a:spcPts val="0"/>
              </a:spcBef>
              <a:spcAft>
                <a:spcPts val="0"/>
              </a:spcAft>
              <a:buFont typeface="Arial" pitchFamily="34" charset="0"/>
              <a:buChar char="•"/>
            </a:pPr>
            <a:r>
              <a:rPr lang="es-ES" i="0" noProof="1">
                <a:solidFill>
                  <a:srgbClr val="787775"/>
                </a:solidFill>
                <a:highlight>
                  <a:srgbClr val="FFFFFF"/>
                </a:highlight>
                <a:latin typeface="Arial"/>
                <a:ea typeface="Arial"/>
                <a:cs typeface="Arial"/>
                <a:sym typeface="Arial"/>
              </a:rPr>
              <a:t>Los costos asociados al sistema de salud para el tratamiento del Dengue entre 2019 y 2023 asicenden a 28.9 millones USD, mientras que la pérdida de bienestar en el caso mas reservado, alcanza los 406 millones de USD.</a:t>
            </a:r>
          </a:p>
          <a:p>
            <a:pPr marL="0" marR="0" lvl="0" indent="0" rtl="0">
              <a:spcBef>
                <a:spcPts val="0"/>
              </a:spcBef>
              <a:spcAft>
                <a:spcPts val="0"/>
              </a:spcAft>
              <a:buNone/>
            </a:pPr>
            <a:endParaRPr lang="es-ES" noProof="1">
              <a:solidFill>
                <a:srgbClr val="787775"/>
              </a:solidFill>
              <a:highlight>
                <a:srgbClr val="FFFFFF"/>
              </a:highlight>
            </a:endParaRPr>
          </a:p>
          <a:p>
            <a:pPr marL="285750" marR="0" lvl="0" indent="-285750" rtl="0">
              <a:spcBef>
                <a:spcPts val="0"/>
              </a:spcBef>
              <a:spcAft>
                <a:spcPts val="0"/>
              </a:spcAft>
              <a:buFont typeface="Arial" pitchFamily="34" charset="0"/>
              <a:buChar char="•"/>
            </a:pPr>
            <a:r>
              <a:rPr lang="es-ES" i="0" noProof="1">
                <a:solidFill>
                  <a:srgbClr val="787775"/>
                </a:solidFill>
                <a:highlight>
                  <a:srgbClr val="FFFFFF"/>
                </a:highlight>
                <a:latin typeface="Arial"/>
                <a:ea typeface="Arial"/>
                <a:cs typeface="Arial"/>
                <a:sym typeface="Arial"/>
              </a:rPr>
              <a:t>Los costos promedios durante los años con brote duplican los costos de un año sin brote.</a:t>
            </a:r>
          </a:p>
          <a:p>
            <a:pPr marL="0" marR="0" lvl="0" indent="0" rtl="0">
              <a:spcBef>
                <a:spcPts val="0"/>
              </a:spcBef>
              <a:spcAft>
                <a:spcPts val="0"/>
              </a:spcAft>
              <a:buNone/>
            </a:pPr>
            <a:endParaRPr lang="en-US" noProof="1">
              <a:solidFill>
                <a:srgbClr val="787775"/>
              </a:solidFill>
              <a:highlight>
                <a:srgbClr val="FFFFFF"/>
              </a:highlight>
            </a:endParaRPr>
          </a:p>
          <a:p>
            <a:pPr marL="285750" marR="0" lvl="0" indent="-285750" rtl="0">
              <a:spcBef>
                <a:spcPts val="0"/>
              </a:spcBef>
              <a:spcAft>
                <a:spcPts val="0"/>
              </a:spcAft>
              <a:buFont typeface="Arial" pitchFamily="34" charset="0"/>
              <a:buChar char="•"/>
            </a:pPr>
            <a:r>
              <a:rPr lang="en-US" i="0" noProof="1">
                <a:solidFill>
                  <a:srgbClr val="787775"/>
                </a:solidFill>
                <a:highlight>
                  <a:srgbClr val="FFFFFF"/>
                </a:highlight>
                <a:latin typeface="Arial"/>
                <a:ea typeface="Arial"/>
                <a:cs typeface="Arial"/>
                <a:sym typeface="Arial"/>
              </a:rPr>
              <a:t>L</a:t>
            </a:r>
            <a:r>
              <a:rPr lang="es-ES" i="0" noProof="1">
                <a:solidFill>
                  <a:srgbClr val="787775"/>
                </a:solidFill>
                <a:highlight>
                  <a:srgbClr val="FFFFFF"/>
                </a:highlight>
                <a:latin typeface="Arial"/>
                <a:ea typeface="Arial"/>
                <a:cs typeface="Arial"/>
                <a:sym typeface="Arial"/>
              </a:rPr>
              <a:t>os esfuerzos deben concentrarse en la prevención.</a:t>
            </a:r>
          </a:p>
          <a:p>
            <a:pPr marL="0" marR="0" lvl="0" indent="0" rtl="0">
              <a:spcBef>
                <a:spcPts val="0"/>
              </a:spcBef>
              <a:spcAft>
                <a:spcPts val="0"/>
              </a:spcAft>
              <a:buNone/>
            </a:pPr>
            <a:endParaRPr lang="es-ES" noProof="1">
              <a:solidFill>
                <a:srgbClr val="787775"/>
              </a:solidFill>
              <a:highlight>
                <a:srgbClr val="FFFFFF"/>
              </a:highlight>
            </a:endParaRPr>
          </a:p>
          <a:p>
            <a:pPr marL="285750" marR="0" lvl="0" indent="-285750" rtl="0">
              <a:spcBef>
                <a:spcPts val="0"/>
              </a:spcBef>
              <a:spcAft>
                <a:spcPts val="0"/>
              </a:spcAft>
              <a:buFont typeface="Arial" pitchFamily="34" charset="0"/>
              <a:buChar char="•"/>
            </a:pPr>
            <a:r>
              <a:rPr lang="es-ES" i="0" noProof="1">
                <a:solidFill>
                  <a:srgbClr val="787775"/>
                </a:solidFill>
                <a:highlight>
                  <a:srgbClr val="FFFFFF"/>
                </a:highlight>
                <a:latin typeface="Arial"/>
                <a:ea typeface="Arial"/>
                <a:cs typeface="Arial"/>
                <a:sym typeface="Arial"/>
              </a:rPr>
              <a:t>Se requieren encuestas a los pacientes para estimar los costos asociados al hogar (son mayores a los costos de tratamiento)</a:t>
            </a:r>
            <a:endParaRPr lang="en-US" i="0" noProof="1">
              <a:solidFill>
                <a:srgbClr val="787775"/>
              </a:solidFill>
              <a:highlight>
                <a:srgbClr val="FFFFFF"/>
              </a:highlight>
              <a:latin typeface="Arial"/>
              <a:ea typeface="Arial"/>
              <a:cs typeface="Arial"/>
              <a:sym typeface="Arial"/>
            </a:endParaRP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Conclusiones</a:t>
            </a:r>
            <a:endParaRPr lang="es-CO" dirty="0"/>
          </a:p>
        </p:txBody>
      </p:sp>
    </p:spTree>
    <p:extLst>
      <p:ext uri="{BB962C8B-B14F-4D97-AF65-F5344CB8AC3E}">
        <p14:creationId xmlns:p14="http://schemas.microsoft.com/office/powerpoint/2010/main" val="1901084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2" y="2204864"/>
            <a:ext cx="11294341" cy="3308558"/>
          </a:xfrm>
          <a:prstGeom prst="rect">
            <a:avLst/>
          </a:prstGeom>
          <a:noFill/>
          <a:ln>
            <a:noFill/>
          </a:ln>
        </p:spPr>
        <p:txBody>
          <a:bodyPr spcFirstLastPara="1" wrap="square" lIns="91425" tIns="45700" rIns="91425" bIns="45700" anchor="t" anchorCtr="0">
            <a:spAutoFit/>
          </a:bodyPr>
          <a:lstStyle/>
          <a:p>
            <a:r>
              <a:rPr lang="en-US" sz="1100" dirty="0">
                <a:solidFill>
                  <a:srgbClr val="787775"/>
                </a:solidFill>
                <a:highlight>
                  <a:srgbClr val="FFFFFF"/>
                </a:highlight>
              </a:rPr>
              <a:t>- World Health Organization. A Toolkit for national dengue burden estimation. </a:t>
            </a:r>
            <a:r>
              <a:rPr lang="en-US" sz="1100" dirty="0" err="1">
                <a:solidFill>
                  <a:srgbClr val="787775"/>
                </a:solidFill>
                <a:highlight>
                  <a:srgbClr val="FFFFFF"/>
                </a:highlight>
              </a:rPr>
              <a:t>Genova</a:t>
            </a:r>
            <a:r>
              <a:rPr lang="en-US" sz="1100" dirty="0">
                <a:solidFill>
                  <a:srgbClr val="787775"/>
                </a:solidFill>
                <a:highlight>
                  <a:srgbClr val="FFFFFF"/>
                </a:highlight>
              </a:rPr>
              <a:t>:; 2018. Report No.: CC BY-NC-SA 3.0 IGO.</a:t>
            </a:r>
            <a:endParaRPr lang="es-CO" sz="1100" dirty="0">
              <a:solidFill>
                <a:srgbClr val="787775"/>
              </a:solidFill>
              <a:highlight>
                <a:srgbClr val="FFFFFF"/>
              </a:highlight>
            </a:endParaRPr>
          </a:p>
          <a:p>
            <a:r>
              <a:rPr lang="en-US" sz="1100" dirty="0">
                <a:solidFill>
                  <a:srgbClr val="787775"/>
                </a:solidFill>
                <a:highlight>
                  <a:srgbClr val="FFFFFF"/>
                </a:highlight>
              </a:rPr>
              <a:t>- OECD/ European Union. Handbook on Constructing Composite Indicators: Methodology and User Guide Paris: OECD Publishing; 2008.</a:t>
            </a:r>
            <a:endParaRPr lang="es-CO" sz="1100" dirty="0">
              <a:solidFill>
                <a:srgbClr val="787775"/>
              </a:solidFill>
              <a:highlight>
                <a:srgbClr val="FFFFFF"/>
              </a:highlight>
            </a:endParaRPr>
          </a:p>
          <a:p>
            <a:r>
              <a:rPr lang="en-US" sz="1100" dirty="0">
                <a:solidFill>
                  <a:srgbClr val="787775"/>
                </a:solidFill>
                <a:highlight>
                  <a:srgbClr val="FFFFFF"/>
                </a:highlight>
              </a:rPr>
              <a:t>- Yang X, Quam B, Zhang T, Sang S. Global burden for dengue and the evolving pattern in the past 30 years. </a:t>
            </a:r>
            <a:r>
              <a:rPr lang="es-CO" sz="1100" dirty="0" err="1">
                <a:solidFill>
                  <a:srgbClr val="787775"/>
                </a:solidFill>
                <a:highlight>
                  <a:srgbClr val="FFFFFF"/>
                </a:highlight>
              </a:rPr>
              <a:t>Journal</a:t>
            </a:r>
            <a:r>
              <a:rPr lang="es-CO" sz="1100" dirty="0">
                <a:solidFill>
                  <a:srgbClr val="787775"/>
                </a:solidFill>
                <a:highlight>
                  <a:srgbClr val="FFFFFF"/>
                </a:highlight>
              </a:rPr>
              <a:t> of </a:t>
            </a:r>
            <a:r>
              <a:rPr lang="es-CO" sz="1100" dirty="0" err="1">
                <a:solidFill>
                  <a:srgbClr val="787775"/>
                </a:solidFill>
                <a:highlight>
                  <a:srgbClr val="FFFFFF"/>
                </a:highlight>
              </a:rPr>
              <a:t>Travel</a:t>
            </a:r>
            <a:r>
              <a:rPr lang="es-CO" sz="1100" dirty="0">
                <a:solidFill>
                  <a:srgbClr val="787775"/>
                </a:solidFill>
                <a:highlight>
                  <a:srgbClr val="FFFFFF"/>
                </a:highlight>
              </a:rPr>
              <a:t> Medicine. 2021 </a:t>
            </a:r>
            <a:r>
              <a:rPr lang="es-CO" sz="1100" dirty="0" err="1">
                <a:solidFill>
                  <a:srgbClr val="787775"/>
                </a:solidFill>
                <a:highlight>
                  <a:srgbClr val="FFFFFF"/>
                </a:highlight>
              </a:rPr>
              <a:t>September</a:t>
            </a:r>
            <a:r>
              <a:rPr lang="es-CO" sz="1100" dirty="0">
                <a:solidFill>
                  <a:srgbClr val="787775"/>
                </a:solidFill>
                <a:highlight>
                  <a:srgbClr val="FFFFFF"/>
                </a:highlight>
              </a:rPr>
              <a:t>; 28(8): p. 1-11.</a:t>
            </a:r>
          </a:p>
          <a:p>
            <a:r>
              <a:rPr lang="es-CO" sz="1100" dirty="0">
                <a:solidFill>
                  <a:srgbClr val="787775"/>
                </a:solidFill>
                <a:highlight>
                  <a:srgbClr val="FFFFFF"/>
                </a:highlight>
              </a:rPr>
              <a:t>- Organización Mundial de la Salud. Organización Mundial de la salud. </a:t>
            </a:r>
            <a:r>
              <a:rPr lang="en-US" sz="1100" dirty="0">
                <a:solidFill>
                  <a:srgbClr val="787775"/>
                </a:solidFill>
                <a:highlight>
                  <a:srgbClr val="FFFFFF"/>
                </a:highlight>
              </a:rPr>
              <a:t>[Online].; 2023 [cited 2023 </a:t>
            </a:r>
            <a:r>
              <a:rPr lang="en-US" sz="1100" dirty="0" err="1">
                <a:solidFill>
                  <a:srgbClr val="787775"/>
                </a:solidFill>
                <a:highlight>
                  <a:srgbClr val="FFFFFF"/>
                </a:highlight>
              </a:rPr>
              <a:t>Octubre</a:t>
            </a:r>
            <a:r>
              <a:rPr lang="en-US" sz="1100" dirty="0">
                <a:solidFill>
                  <a:srgbClr val="787775"/>
                </a:solidFill>
                <a:highlight>
                  <a:srgbClr val="FFFFFF"/>
                </a:highlight>
              </a:rPr>
              <a:t> 19. Available from: https://www.who.int/es/news-room/fact-sheets/detail/dengue-and-severe-dengue#:~:text=El%20dengue%20es%20una%20enfermedad,albopictus.</a:t>
            </a:r>
            <a:endParaRPr lang="es-CO" sz="1100" dirty="0">
              <a:solidFill>
                <a:srgbClr val="787775"/>
              </a:solidFill>
              <a:highlight>
                <a:srgbClr val="FFFFFF"/>
              </a:highlight>
            </a:endParaRPr>
          </a:p>
          <a:p>
            <a:r>
              <a:rPr lang="es-CO" sz="1100" dirty="0">
                <a:solidFill>
                  <a:srgbClr val="787775"/>
                </a:solidFill>
                <a:highlight>
                  <a:srgbClr val="FFFFFF"/>
                </a:highlight>
              </a:rPr>
              <a:t>- </a:t>
            </a:r>
            <a:r>
              <a:rPr lang="es-CO" sz="1100" dirty="0" err="1">
                <a:solidFill>
                  <a:srgbClr val="787775"/>
                </a:solidFill>
                <a:highlight>
                  <a:srgbClr val="FFFFFF"/>
                </a:highlight>
              </a:rPr>
              <a:t>Organizacion</a:t>
            </a:r>
            <a:r>
              <a:rPr lang="es-CO" sz="1100" dirty="0">
                <a:solidFill>
                  <a:srgbClr val="787775"/>
                </a:solidFill>
                <a:highlight>
                  <a:srgbClr val="FFFFFF"/>
                </a:highlight>
              </a:rPr>
              <a:t> Panamericana de la Salud. </a:t>
            </a:r>
            <a:r>
              <a:rPr lang="es-CO" sz="1100" dirty="0" err="1">
                <a:solidFill>
                  <a:srgbClr val="787775"/>
                </a:solidFill>
                <a:highlight>
                  <a:srgbClr val="FFFFFF"/>
                </a:highlight>
              </a:rPr>
              <a:t>Organizacion</a:t>
            </a:r>
            <a:r>
              <a:rPr lang="es-CO" sz="1100" dirty="0">
                <a:solidFill>
                  <a:srgbClr val="787775"/>
                </a:solidFill>
                <a:highlight>
                  <a:srgbClr val="FFFFFF"/>
                </a:highlight>
              </a:rPr>
              <a:t> mundial de la Salud. </a:t>
            </a:r>
            <a:r>
              <a:rPr lang="en-US" sz="1100" dirty="0">
                <a:solidFill>
                  <a:srgbClr val="787775"/>
                </a:solidFill>
                <a:highlight>
                  <a:srgbClr val="FFFFFF"/>
                </a:highlight>
              </a:rPr>
              <a:t>Regional </a:t>
            </a:r>
            <a:r>
              <a:rPr lang="en-US" sz="1100" dirty="0" err="1">
                <a:solidFill>
                  <a:srgbClr val="787775"/>
                </a:solidFill>
                <a:highlight>
                  <a:srgbClr val="FFFFFF"/>
                </a:highlight>
              </a:rPr>
              <a:t>para</a:t>
            </a:r>
            <a:r>
              <a:rPr lang="en-US" sz="1100" dirty="0">
                <a:solidFill>
                  <a:srgbClr val="787775"/>
                </a:solidFill>
                <a:highlight>
                  <a:srgbClr val="FFFFFF"/>
                </a:highlight>
              </a:rPr>
              <a:t> </a:t>
            </a:r>
            <a:r>
              <a:rPr lang="en-US" sz="1100" dirty="0" err="1">
                <a:solidFill>
                  <a:srgbClr val="787775"/>
                </a:solidFill>
                <a:highlight>
                  <a:srgbClr val="FFFFFF"/>
                </a:highlight>
              </a:rPr>
              <a:t>las</a:t>
            </a:r>
            <a:r>
              <a:rPr lang="en-US" sz="1100" dirty="0">
                <a:solidFill>
                  <a:srgbClr val="787775"/>
                </a:solidFill>
                <a:highlight>
                  <a:srgbClr val="FFFFFF"/>
                </a:highlight>
              </a:rPr>
              <a:t> Americas. [Online].; 2023 [cited 2023 </a:t>
            </a:r>
            <a:r>
              <a:rPr lang="en-US" sz="1100" dirty="0" err="1">
                <a:solidFill>
                  <a:srgbClr val="787775"/>
                </a:solidFill>
                <a:highlight>
                  <a:srgbClr val="FFFFFF"/>
                </a:highlight>
              </a:rPr>
              <a:t>Octubre</a:t>
            </a:r>
            <a:r>
              <a:rPr lang="en-US" sz="1100" dirty="0">
                <a:solidFill>
                  <a:srgbClr val="787775"/>
                </a:solidFill>
                <a:highlight>
                  <a:srgbClr val="FFFFFF"/>
                </a:highlight>
              </a:rPr>
              <a:t> 30. Available from: https://www.paho.org/es/temas/dengue.</a:t>
            </a:r>
            <a:endParaRPr lang="es-CO" sz="1100" dirty="0">
              <a:solidFill>
                <a:srgbClr val="787775"/>
              </a:solidFill>
              <a:highlight>
                <a:srgbClr val="FFFFFF"/>
              </a:highlight>
            </a:endParaRPr>
          </a:p>
          <a:p>
            <a:r>
              <a:rPr lang="en-US" sz="1100" dirty="0">
                <a:solidFill>
                  <a:srgbClr val="787775"/>
                </a:solidFill>
                <a:highlight>
                  <a:srgbClr val="FFFFFF"/>
                </a:highlight>
              </a:rPr>
              <a:t>- Bhatt S, </a:t>
            </a:r>
            <a:r>
              <a:rPr lang="en-US" sz="1100" dirty="0" err="1">
                <a:solidFill>
                  <a:srgbClr val="787775"/>
                </a:solidFill>
                <a:highlight>
                  <a:srgbClr val="FFFFFF"/>
                </a:highlight>
              </a:rPr>
              <a:t>Gething</a:t>
            </a:r>
            <a:r>
              <a:rPr lang="en-US" sz="1100" dirty="0">
                <a:solidFill>
                  <a:srgbClr val="787775"/>
                </a:solidFill>
                <a:highlight>
                  <a:srgbClr val="FFFFFF"/>
                </a:highlight>
              </a:rPr>
              <a:t> PW, Brady OJ, Messina JP, </a:t>
            </a:r>
            <a:r>
              <a:rPr lang="en-US" sz="1100" dirty="0" err="1">
                <a:solidFill>
                  <a:srgbClr val="787775"/>
                </a:solidFill>
                <a:highlight>
                  <a:srgbClr val="FFFFFF"/>
                </a:highlight>
              </a:rPr>
              <a:t>Farlow</a:t>
            </a:r>
            <a:r>
              <a:rPr lang="en-US" sz="1100" dirty="0">
                <a:solidFill>
                  <a:srgbClr val="787775"/>
                </a:solidFill>
                <a:highlight>
                  <a:srgbClr val="FFFFFF"/>
                </a:highlight>
              </a:rPr>
              <a:t> AW, </a:t>
            </a:r>
            <a:r>
              <a:rPr lang="en-US" sz="1100" dirty="0" err="1">
                <a:solidFill>
                  <a:srgbClr val="787775"/>
                </a:solidFill>
                <a:highlight>
                  <a:srgbClr val="FFFFFF"/>
                </a:highlight>
              </a:rPr>
              <a:t>Moyes</a:t>
            </a:r>
            <a:r>
              <a:rPr lang="en-US" sz="1100" dirty="0">
                <a:solidFill>
                  <a:srgbClr val="787775"/>
                </a:solidFill>
                <a:highlight>
                  <a:srgbClr val="FFFFFF"/>
                </a:highlight>
              </a:rPr>
              <a:t> CL, et al. The global distribution and burden of dengue. Nature. 2013 </a:t>
            </a:r>
            <a:r>
              <a:rPr lang="en-US" sz="1100" dirty="0" err="1">
                <a:solidFill>
                  <a:srgbClr val="787775"/>
                </a:solidFill>
                <a:highlight>
                  <a:srgbClr val="FFFFFF"/>
                </a:highlight>
              </a:rPr>
              <a:t>Abril</a:t>
            </a:r>
            <a:r>
              <a:rPr lang="en-US" sz="1100" dirty="0">
                <a:solidFill>
                  <a:srgbClr val="787775"/>
                </a:solidFill>
                <a:highlight>
                  <a:srgbClr val="FFFFFF"/>
                </a:highlight>
              </a:rPr>
              <a:t> 7;(496): p. 504-507.</a:t>
            </a:r>
            <a:endParaRPr lang="es-CO" sz="1100" dirty="0">
              <a:solidFill>
                <a:srgbClr val="787775"/>
              </a:solidFill>
              <a:highlight>
                <a:srgbClr val="FFFFFF"/>
              </a:highlight>
            </a:endParaRPr>
          </a:p>
          <a:p>
            <a:r>
              <a:rPr lang="es-CO" sz="1100" dirty="0">
                <a:solidFill>
                  <a:srgbClr val="787775"/>
                </a:solidFill>
                <a:highlight>
                  <a:srgbClr val="FFFFFF"/>
                </a:highlight>
              </a:rPr>
              <a:t>- Organización Panamericana de la Salud. Plataforma de Información en Salud para las </a:t>
            </a:r>
            <a:r>
              <a:rPr lang="es-CO" sz="1100" dirty="0" err="1">
                <a:solidFill>
                  <a:srgbClr val="787775"/>
                </a:solidFill>
                <a:highlight>
                  <a:srgbClr val="FFFFFF"/>
                </a:highlight>
              </a:rPr>
              <a:t>Americas</a:t>
            </a:r>
            <a:r>
              <a:rPr lang="es-CO" sz="1100" dirty="0">
                <a:solidFill>
                  <a:srgbClr val="787775"/>
                </a:solidFill>
                <a:highlight>
                  <a:srgbClr val="FFFFFF"/>
                </a:highlight>
              </a:rPr>
              <a:t> (PLISA). </a:t>
            </a:r>
            <a:r>
              <a:rPr lang="en-US" sz="1100" dirty="0">
                <a:solidFill>
                  <a:srgbClr val="787775"/>
                </a:solidFill>
                <a:highlight>
                  <a:srgbClr val="FFFFFF"/>
                </a:highlight>
              </a:rPr>
              <a:t>[Online].; 2023 [cited 2023 </a:t>
            </a:r>
            <a:r>
              <a:rPr lang="en-US" sz="1100" dirty="0" err="1">
                <a:solidFill>
                  <a:srgbClr val="787775"/>
                </a:solidFill>
                <a:highlight>
                  <a:srgbClr val="FFFFFF"/>
                </a:highlight>
              </a:rPr>
              <a:t>Octubre</a:t>
            </a:r>
            <a:r>
              <a:rPr lang="en-US" sz="1100" dirty="0">
                <a:solidFill>
                  <a:srgbClr val="787775"/>
                </a:solidFill>
                <a:highlight>
                  <a:srgbClr val="FFFFFF"/>
                </a:highlight>
              </a:rPr>
              <a:t> 19. Available from: https://www3.paho.org/data/index.php/es/temas/indicadores-dengue/dengue-nacional/9-dengue-pais-ano.html.</a:t>
            </a:r>
            <a:endParaRPr lang="es-CO" sz="1100" dirty="0">
              <a:solidFill>
                <a:srgbClr val="787775"/>
              </a:solidFill>
              <a:highlight>
                <a:srgbClr val="FFFFFF"/>
              </a:highlight>
            </a:endParaRPr>
          </a:p>
          <a:p>
            <a:r>
              <a:rPr lang="es-CO" sz="1100" dirty="0">
                <a:solidFill>
                  <a:srgbClr val="787775"/>
                </a:solidFill>
                <a:highlight>
                  <a:srgbClr val="FFFFFF"/>
                </a:highlight>
              </a:rPr>
              <a:t>- Instituto Nacional de Salud. Informe de evento Dengue a periodo </a:t>
            </a:r>
            <a:r>
              <a:rPr lang="es-CO" sz="1100" dirty="0" err="1">
                <a:solidFill>
                  <a:srgbClr val="787775"/>
                </a:solidFill>
                <a:highlight>
                  <a:srgbClr val="FFFFFF"/>
                </a:highlight>
              </a:rPr>
              <a:t>epidemiologico</a:t>
            </a:r>
            <a:r>
              <a:rPr lang="es-CO" sz="1100" dirty="0">
                <a:solidFill>
                  <a:srgbClr val="787775"/>
                </a:solidFill>
                <a:highlight>
                  <a:srgbClr val="FFFFFF"/>
                </a:highlight>
              </a:rPr>
              <a:t> X de 2023. </a:t>
            </a:r>
            <a:r>
              <a:rPr lang="es-CO" sz="1100" dirty="0" err="1">
                <a:solidFill>
                  <a:srgbClr val="787775"/>
                </a:solidFill>
                <a:highlight>
                  <a:srgbClr val="FFFFFF"/>
                </a:highlight>
              </a:rPr>
              <a:t>Boletin</a:t>
            </a:r>
            <a:r>
              <a:rPr lang="es-CO" sz="1100" dirty="0">
                <a:solidFill>
                  <a:srgbClr val="787775"/>
                </a:solidFill>
                <a:highlight>
                  <a:srgbClr val="FFFFFF"/>
                </a:highlight>
              </a:rPr>
              <a:t> </a:t>
            </a:r>
            <a:r>
              <a:rPr lang="es-CO" sz="1100" dirty="0" err="1">
                <a:solidFill>
                  <a:srgbClr val="787775"/>
                </a:solidFill>
                <a:highlight>
                  <a:srgbClr val="FFFFFF"/>
                </a:highlight>
              </a:rPr>
              <a:t>Epidemiologico</a:t>
            </a:r>
            <a:r>
              <a:rPr lang="es-CO" sz="1100" dirty="0">
                <a:solidFill>
                  <a:srgbClr val="787775"/>
                </a:solidFill>
                <a:highlight>
                  <a:srgbClr val="FFFFFF"/>
                </a:highlight>
              </a:rPr>
              <a:t>. Colombia: Instituto Nacional de Salud, Ministerio de Salud y </a:t>
            </a:r>
            <a:r>
              <a:rPr lang="es-CO" sz="1100" dirty="0" err="1">
                <a:solidFill>
                  <a:srgbClr val="787775"/>
                </a:solidFill>
                <a:highlight>
                  <a:srgbClr val="FFFFFF"/>
                </a:highlight>
              </a:rPr>
              <a:t>Proteccion</a:t>
            </a:r>
            <a:r>
              <a:rPr lang="es-CO" sz="1100" dirty="0">
                <a:solidFill>
                  <a:srgbClr val="787775"/>
                </a:solidFill>
                <a:highlight>
                  <a:srgbClr val="FFFFFF"/>
                </a:highlight>
              </a:rPr>
              <a:t> Social; 2023.</a:t>
            </a:r>
          </a:p>
          <a:p>
            <a:r>
              <a:rPr lang="es-CO" sz="1100" dirty="0">
                <a:solidFill>
                  <a:srgbClr val="787775"/>
                </a:solidFill>
                <a:highlight>
                  <a:srgbClr val="FFFFFF"/>
                </a:highlight>
              </a:rPr>
              <a:t>- </a:t>
            </a:r>
            <a:r>
              <a:rPr lang="es-CO" sz="1100" dirty="0" err="1">
                <a:solidFill>
                  <a:srgbClr val="787775"/>
                </a:solidFill>
                <a:highlight>
                  <a:srgbClr val="FFFFFF"/>
                </a:highlight>
              </a:rPr>
              <a:t>Rodriguez</a:t>
            </a:r>
            <a:r>
              <a:rPr lang="es-CO" sz="1100" dirty="0">
                <a:solidFill>
                  <a:srgbClr val="787775"/>
                </a:solidFill>
                <a:highlight>
                  <a:srgbClr val="FFFFFF"/>
                </a:highlight>
              </a:rPr>
              <a:t> AJ, </a:t>
            </a:r>
            <a:r>
              <a:rPr lang="es-CO" sz="1100" dirty="0" err="1">
                <a:solidFill>
                  <a:srgbClr val="787775"/>
                </a:solidFill>
                <a:highlight>
                  <a:srgbClr val="FFFFFF"/>
                </a:highlight>
              </a:rPr>
              <a:t>Gonzalez</a:t>
            </a:r>
            <a:r>
              <a:rPr lang="es-CO" sz="1100" dirty="0">
                <a:solidFill>
                  <a:srgbClr val="787775"/>
                </a:solidFill>
                <a:highlight>
                  <a:srgbClr val="FFFFFF"/>
                </a:highlight>
              </a:rPr>
              <a:t> D, Pardo LC. Informe de evento dengue, Colombia 2019. </a:t>
            </a:r>
            <a:r>
              <a:rPr lang="en-US" sz="1100" dirty="0">
                <a:solidFill>
                  <a:srgbClr val="787775"/>
                </a:solidFill>
                <a:highlight>
                  <a:srgbClr val="FFFFFF"/>
                </a:highlight>
              </a:rPr>
              <a:t>[Online].; 2019 [cited 2022 </a:t>
            </a:r>
            <a:r>
              <a:rPr lang="en-US" sz="1100" dirty="0" err="1">
                <a:solidFill>
                  <a:srgbClr val="787775"/>
                </a:solidFill>
                <a:highlight>
                  <a:srgbClr val="FFFFFF"/>
                </a:highlight>
              </a:rPr>
              <a:t>Septiembre</a:t>
            </a:r>
            <a:r>
              <a:rPr lang="en-US" sz="1100" dirty="0">
                <a:solidFill>
                  <a:srgbClr val="787775"/>
                </a:solidFill>
                <a:highlight>
                  <a:srgbClr val="FFFFFF"/>
                </a:highlight>
              </a:rPr>
              <a:t> 28. Available from: https://www.ins.gov.co/buscadoreventos/Informesdeevento/DENGUE_2019.pdf.</a:t>
            </a:r>
            <a:endParaRPr lang="es-CO" sz="1100" dirty="0">
              <a:solidFill>
                <a:srgbClr val="787775"/>
              </a:solidFill>
              <a:highlight>
                <a:srgbClr val="FFFFFF"/>
              </a:highlight>
            </a:endParaRPr>
          </a:p>
          <a:p>
            <a:r>
              <a:rPr lang="es-CO" sz="1100" dirty="0">
                <a:solidFill>
                  <a:srgbClr val="787775"/>
                </a:solidFill>
                <a:highlight>
                  <a:srgbClr val="FFFFFF"/>
                </a:highlight>
              </a:rPr>
              <a:t>- Secretaria de Salud Distrital. Análisis de la situación integral de salud. Informe descriptivo. Cali: Secretaria de Salud Distrital, </a:t>
            </a:r>
            <a:r>
              <a:rPr lang="es-CO" sz="1100" dirty="0" err="1">
                <a:solidFill>
                  <a:srgbClr val="787775"/>
                </a:solidFill>
                <a:highlight>
                  <a:srgbClr val="FFFFFF"/>
                </a:highlight>
              </a:rPr>
              <a:t>Demografiay</a:t>
            </a:r>
            <a:r>
              <a:rPr lang="es-CO" sz="1100" dirty="0">
                <a:solidFill>
                  <a:srgbClr val="787775"/>
                </a:solidFill>
                <a:highlight>
                  <a:srgbClr val="FFFFFF"/>
                </a:highlight>
              </a:rPr>
              <a:t> Vigilancia en Salud Publica; 2022.</a:t>
            </a:r>
          </a:p>
          <a:p>
            <a:r>
              <a:rPr lang="es-CO" sz="1100" dirty="0">
                <a:solidFill>
                  <a:srgbClr val="787775"/>
                </a:solidFill>
                <a:highlight>
                  <a:srgbClr val="FFFFFF"/>
                </a:highlight>
              </a:rPr>
              <a:t>- Departamento Administrativo de </a:t>
            </a:r>
            <a:r>
              <a:rPr lang="es-CO" sz="1100" dirty="0" err="1">
                <a:solidFill>
                  <a:srgbClr val="787775"/>
                </a:solidFill>
                <a:highlight>
                  <a:srgbClr val="FFFFFF"/>
                </a:highlight>
              </a:rPr>
              <a:t>Planeacion</a:t>
            </a:r>
            <a:r>
              <a:rPr lang="es-CO" sz="1100" dirty="0">
                <a:solidFill>
                  <a:srgbClr val="787775"/>
                </a:solidFill>
                <a:highlight>
                  <a:srgbClr val="FFFFFF"/>
                </a:highlight>
              </a:rPr>
              <a:t> Municipal. Cali en cifras. Informe descriptivo. Cali: Distrito de Santiago de Cali, Planeación; 2020.</a:t>
            </a:r>
          </a:p>
          <a:p>
            <a:r>
              <a:rPr lang="es-CO" sz="1100" dirty="0">
                <a:solidFill>
                  <a:srgbClr val="787775"/>
                </a:solidFill>
                <a:highlight>
                  <a:srgbClr val="FFFFFF"/>
                </a:highlight>
              </a:rPr>
              <a:t>- Ministerio de Salud Y Protección Social. </a:t>
            </a:r>
            <a:r>
              <a:rPr lang="es-CO" sz="1100" dirty="0" err="1">
                <a:solidFill>
                  <a:srgbClr val="787775"/>
                </a:solidFill>
                <a:highlight>
                  <a:srgbClr val="FFFFFF"/>
                </a:highlight>
              </a:rPr>
              <a:t>Prevencion</a:t>
            </a:r>
            <a:r>
              <a:rPr lang="es-CO" sz="1100" dirty="0">
                <a:solidFill>
                  <a:srgbClr val="787775"/>
                </a:solidFill>
                <a:highlight>
                  <a:srgbClr val="FFFFFF"/>
                </a:highlight>
              </a:rPr>
              <a:t> enfermedades transmisibles. Dengue. [Online].; 2023 [</a:t>
            </a:r>
            <a:r>
              <a:rPr lang="es-CO" sz="1100" dirty="0" err="1">
                <a:solidFill>
                  <a:srgbClr val="787775"/>
                </a:solidFill>
                <a:highlight>
                  <a:srgbClr val="FFFFFF"/>
                </a:highlight>
              </a:rPr>
              <a:t>cited</a:t>
            </a:r>
            <a:r>
              <a:rPr lang="es-CO" sz="1100" dirty="0">
                <a:solidFill>
                  <a:srgbClr val="787775"/>
                </a:solidFill>
                <a:highlight>
                  <a:srgbClr val="FFFFFF"/>
                </a:highlight>
              </a:rPr>
              <a:t> 2023 Octubre 30. </a:t>
            </a:r>
            <a:r>
              <a:rPr lang="en-US" sz="1100" dirty="0">
                <a:solidFill>
                  <a:srgbClr val="787775"/>
                </a:solidFill>
                <a:highlight>
                  <a:srgbClr val="FFFFFF"/>
                </a:highlight>
              </a:rPr>
              <a:t>Available from: https://www.minsalud.gov.co/salud/publica/PET/Paginas/dengue.aspx.</a:t>
            </a:r>
            <a:endParaRPr lang="es-CO" sz="1100" dirty="0">
              <a:solidFill>
                <a:srgbClr val="787775"/>
              </a:solidFill>
              <a:highlight>
                <a:srgbClr val="FFFFFF"/>
              </a:highlight>
            </a:endParaRPr>
          </a:p>
          <a:p>
            <a:pPr marL="171450" indent="-171450">
              <a:buFont typeface="Arial"/>
              <a:buChar char="-"/>
            </a:pPr>
            <a:r>
              <a:rPr lang="en-US" sz="1100" dirty="0" err="1">
                <a:solidFill>
                  <a:srgbClr val="787775"/>
                </a:solidFill>
                <a:highlight>
                  <a:srgbClr val="FFFFFF"/>
                </a:highlight>
              </a:rPr>
              <a:t>Khetarpal</a:t>
            </a:r>
            <a:r>
              <a:rPr lang="en-US" sz="1100" dirty="0">
                <a:solidFill>
                  <a:srgbClr val="787775"/>
                </a:solidFill>
                <a:highlight>
                  <a:srgbClr val="FFFFFF"/>
                </a:highlight>
              </a:rPr>
              <a:t> N, </a:t>
            </a:r>
            <a:r>
              <a:rPr lang="en-US" sz="1100" dirty="0" err="1">
                <a:solidFill>
                  <a:srgbClr val="787775"/>
                </a:solidFill>
                <a:highlight>
                  <a:srgbClr val="FFFFFF"/>
                </a:highlight>
              </a:rPr>
              <a:t>Khanna</a:t>
            </a:r>
            <a:r>
              <a:rPr lang="en-US" sz="1100" dirty="0">
                <a:solidFill>
                  <a:srgbClr val="787775"/>
                </a:solidFill>
                <a:highlight>
                  <a:srgbClr val="FFFFFF"/>
                </a:highlight>
              </a:rPr>
              <a:t> I. Dengue Fever: Causes, Complications, and Vaccine Strategies. </a:t>
            </a:r>
            <a:r>
              <a:rPr lang="es-CO" sz="1100" dirty="0">
                <a:solidFill>
                  <a:srgbClr val="787775"/>
                </a:solidFill>
                <a:highlight>
                  <a:srgbClr val="FFFFFF"/>
                </a:highlight>
              </a:rPr>
              <a:t>J </a:t>
            </a:r>
            <a:r>
              <a:rPr lang="es-CO" sz="1100" dirty="0" err="1">
                <a:solidFill>
                  <a:srgbClr val="787775"/>
                </a:solidFill>
                <a:highlight>
                  <a:srgbClr val="FFFFFF"/>
                </a:highlight>
              </a:rPr>
              <a:t>Immunol</a:t>
            </a:r>
            <a:r>
              <a:rPr lang="es-CO" sz="1100" dirty="0">
                <a:solidFill>
                  <a:srgbClr val="787775"/>
                </a:solidFill>
                <a:highlight>
                  <a:srgbClr val="FFFFFF"/>
                </a:highlight>
              </a:rPr>
              <a:t> Res. 2016 Julio.</a:t>
            </a: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Bibliografía</a:t>
            </a:r>
            <a:endParaRPr lang="es-CO" dirty="0"/>
          </a:p>
        </p:txBody>
      </p:sp>
    </p:spTree>
    <p:extLst>
      <p:ext uri="{BB962C8B-B14F-4D97-AF65-F5344CB8AC3E}">
        <p14:creationId xmlns:p14="http://schemas.microsoft.com/office/powerpoint/2010/main" val="2570793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2" y="2204864"/>
            <a:ext cx="11294341" cy="3647112"/>
          </a:xfrm>
          <a:prstGeom prst="rect">
            <a:avLst/>
          </a:prstGeom>
          <a:noFill/>
          <a:ln>
            <a:noFill/>
          </a:ln>
        </p:spPr>
        <p:txBody>
          <a:bodyPr spcFirstLastPara="1" wrap="square" lIns="91425" tIns="45700" rIns="91425" bIns="45700" anchor="t" anchorCtr="0">
            <a:spAutoFit/>
          </a:bodyPr>
          <a:lstStyle/>
          <a:p>
            <a:r>
              <a:rPr lang="es-CO" sz="1100" dirty="0">
                <a:solidFill>
                  <a:srgbClr val="787775"/>
                </a:solidFill>
                <a:highlight>
                  <a:srgbClr val="FFFFFF"/>
                </a:highlight>
              </a:rPr>
              <a:t>- </a:t>
            </a:r>
            <a:r>
              <a:rPr lang="es-CO" sz="1100" dirty="0" err="1">
                <a:solidFill>
                  <a:srgbClr val="787775"/>
                </a:solidFill>
                <a:highlight>
                  <a:srgbClr val="FFFFFF"/>
                </a:highlight>
              </a:rPr>
              <a:t>Rodriguez</a:t>
            </a:r>
            <a:r>
              <a:rPr lang="es-CO" sz="1100" dirty="0">
                <a:solidFill>
                  <a:srgbClr val="787775"/>
                </a:solidFill>
                <a:highlight>
                  <a:srgbClr val="FFFFFF"/>
                </a:highlight>
              </a:rPr>
              <a:t> R AJ, </a:t>
            </a:r>
            <a:r>
              <a:rPr lang="es-CO" sz="1100" dirty="0" err="1">
                <a:solidFill>
                  <a:srgbClr val="787775"/>
                </a:solidFill>
                <a:highlight>
                  <a:srgbClr val="FFFFFF"/>
                </a:highlight>
              </a:rPr>
              <a:t>Gonzalez</a:t>
            </a:r>
            <a:r>
              <a:rPr lang="es-CO" sz="1100" dirty="0">
                <a:solidFill>
                  <a:srgbClr val="787775"/>
                </a:solidFill>
                <a:highlight>
                  <a:srgbClr val="FFFFFF"/>
                </a:highlight>
              </a:rPr>
              <a:t> R D, Pardo H LC. Informe de evento dengue, Colombia. </a:t>
            </a:r>
            <a:r>
              <a:rPr lang="en-US" sz="1100" dirty="0">
                <a:solidFill>
                  <a:srgbClr val="787775"/>
                </a:solidFill>
                <a:highlight>
                  <a:srgbClr val="FFFFFF"/>
                </a:highlight>
              </a:rPr>
              <a:t>[Online].; 2020 [cited 2022 </a:t>
            </a:r>
            <a:r>
              <a:rPr lang="en-US" sz="1100" dirty="0" err="1">
                <a:solidFill>
                  <a:srgbClr val="787775"/>
                </a:solidFill>
                <a:highlight>
                  <a:srgbClr val="FFFFFF"/>
                </a:highlight>
              </a:rPr>
              <a:t>Septiembre</a:t>
            </a:r>
            <a:r>
              <a:rPr lang="en-US" sz="1100" dirty="0">
                <a:solidFill>
                  <a:srgbClr val="787775"/>
                </a:solidFill>
                <a:highlight>
                  <a:srgbClr val="FFFFFF"/>
                </a:highlight>
              </a:rPr>
              <a:t> 28. Available from: https://www.ins.gov.co/buscadoreventos/Informesdeevento/DENGUE_2020.pdf.</a:t>
            </a:r>
            <a:endParaRPr lang="es-CO" sz="1100" dirty="0">
              <a:solidFill>
                <a:srgbClr val="787775"/>
              </a:solidFill>
              <a:highlight>
                <a:srgbClr val="FFFFFF"/>
              </a:highlight>
            </a:endParaRPr>
          </a:p>
          <a:p>
            <a:r>
              <a:rPr lang="en-US" sz="1100" dirty="0">
                <a:solidFill>
                  <a:srgbClr val="787775"/>
                </a:solidFill>
                <a:highlight>
                  <a:srgbClr val="FFFFFF"/>
                </a:highlight>
              </a:rPr>
              <a:t>- Bhatt S, </a:t>
            </a:r>
            <a:r>
              <a:rPr lang="en-US" sz="1100" dirty="0" err="1">
                <a:solidFill>
                  <a:srgbClr val="787775"/>
                </a:solidFill>
                <a:highlight>
                  <a:srgbClr val="FFFFFF"/>
                </a:highlight>
              </a:rPr>
              <a:t>Gething</a:t>
            </a:r>
            <a:r>
              <a:rPr lang="en-US" sz="1100" dirty="0">
                <a:solidFill>
                  <a:srgbClr val="787775"/>
                </a:solidFill>
                <a:highlight>
                  <a:srgbClr val="FFFFFF"/>
                </a:highlight>
              </a:rPr>
              <a:t> PW, Brady OJ, Messina JP, </a:t>
            </a:r>
            <a:r>
              <a:rPr lang="en-US" sz="1100" dirty="0" err="1">
                <a:solidFill>
                  <a:srgbClr val="787775"/>
                </a:solidFill>
                <a:highlight>
                  <a:srgbClr val="FFFFFF"/>
                </a:highlight>
              </a:rPr>
              <a:t>Farlow</a:t>
            </a:r>
            <a:r>
              <a:rPr lang="en-US" sz="1100" dirty="0">
                <a:solidFill>
                  <a:srgbClr val="787775"/>
                </a:solidFill>
                <a:highlight>
                  <a:srgbClr val="FFFFFF"/>
                </a:highlight>
              </a:rPr>
              <a:t> AW, </a:t>
            </a:r>
            <a:r>
              <a:rPr lang="en-US" sz="1100" dirty="0" err="1">
                <a:solidFill>
                  <a:srgbClr val="787775"/>
                </a:solidFill>
                <a:highlight>
                  <a:srgbClr val="FFFFFF"/>
                </a:highlight>
              </a:rPr>
              <a:t>Moyes</a:t>
            </a:r>
            <a:r>
              <a:rPr lang="en-US" sz="1100" dirty="0">
                <a:solidFill>
                  <a:srgbClr val="787775"/>
                </a:solidFill>
                <a:highlight>
                  <a:srgbClr val="FFFFFF"/>
                </a:highlight>
              </a:rPr>
              <a:t> CL, et al. </a:t>
            </a:r>
            <a:r>
              <a:rPr lang="es-CO" sz="1100" dirty="0" err="1">
                <a:solidFill>
                  <a:srgbClr val="787775"/>
                </a:solidFill>
                <a:highlight>
                  <a:srgbClr val="FFFFFF"/>
                </a:highlight>
              </a:rPr>
              <a:t>The</a:t>
            </a:r>
            <a:r>
              <a:rPr lang="es-CO" sz="1100" dirty="0">
                <a:solidFill>
                  <a:srgbClr val="787775"/>
                </a:solidFill>
                <a:highlight>
                  <a:srgbClr val="FFFFFF"/>
                </a:highlight>
              </a:rPr>
              <a:t> global </a:t>
            </a:r>
            <a:r>
              <a:rPr lang="es-CO" sz="1100" dirty="0" err="1">
                <a:solidFill>
                  <a:srgbClr val="787775"/>
                </a:solidFill>
                <a:highlight>
                  <a:srgbClr val="FFFFFF"/>
                </a:highlight>
              </a:rPr>
              <a:t>distribution</a:t>
            </a:r>
            <a:r>
              <a:rPr lang="es-CO" sz="1100" dirty="0">
                <a:solidFill>
                  <a:srgbClr val="787775"/>
                </a:solidFill>
                <a:highlight>
                  <a:srgbClr val="FFFFFF"/>
                </a:highlight>
              </a:rPr>
              <a:t> and </a:t>
            </a:r>
            <a:r>
              <a:rPr lang="es-CO" sz="1100" dirty="0" err="1">
                <a:solidFill>
                  <a:srgbClr val="787775"/>
                </a:solidFill>
                <a:highlight>
                  <a:srgbClr val="FFFFFF"/>
                </a:highlight>
              </a:rPr>
              <a:t>burden</a:t>
            </a:r>
            <a:r>
              <a:rPr lang="es-CO" sz="1100" dirty="0">
                <a:solidFill>
                  <a:srgbClr val="787775"/>
                </a:solidFill>
                <a:highlight>
                  <a:srgbClr val="FFFFFF"/>
                </a:highlight>
              </a:rPr>
              <a:t> of dengue. </a:t>
            </a:r>
            <a:r>
              <a:rPr lang="es-CO" sz="1100" dirty="0" err="1">
                <a:solidFill>
                  <a:srgbClr val="787775"/>
                </a:solidFill>
                <a:highlight>
                  <a:srgbClr val="FFFFFF"/>
                </a:highlight>
              </a:rPr>
              <a:t>Nature</a:t>
            </a:r>
            <a:r>
              <a:rPr lang="es-CO" sz="1100" dirty="0">
                <a:solidFill>
                  <a:srgbClr val="787775"/>
                </a:solidFill>
                <a:highlight>
                  <a:srgbClr val="FFFFFF"/>
                </a:highlight>
              </a:rPr>
              <a:t>. 2013 Abril; 496(7446).</a:t>
            </a:r>
          </a:p>
          <a:p>
            <a:r>
              <a:rPr lang="es-CO" sz="1100" dirty="0">
                <a:solidFill>
                  <a:srgbClr val="787775"/>
                </a:solidFill>
                <a:highlight>
                  <a:srgbClr val="FFFFFF"/>
                </a:highlight>
              </a:rPr>
              <a:t>- Instituto Nacional de Salud. Protocolo de vigilancia de Dengue, código 210, 220 y 580. Protocolo de vigilancia. </a:t>
            </a:r>
            <a:r>
              <a:rPr lang="es-CO" sz="1100" dirty="0" err="1">
                <a:solidFill>
                  <a:srgbClr val="787775"/>
                </a:solidFill>
                <a:highlight>
                  <a:srgbClr val="FFFFFF"/>
                </a:highlight>
              </a:rPr>
              <a:t>Bogota</a:t>
            </a:r>
            <a:r>
              <a:rPr lang="es-CO" sz="1100" dirty="0">
                <a:solidFill>
                  <a:srgbClr val="787775"/>
                </a:solidFill>
                <a:highlight>
                  <a:srgbClr val="FFFFFF"/>
                </a:highlight>
              </a:rPr>
              <a:t>:, Grupo de Vigilancia y Control de enfermedades transmisibles </a:t>
            </a:r>
            <a:r>
              <a:rPr lang="es-CO" sz="1100" dirty="0" err="1">
                <a:solidFill>
                  <a:srgbClr val="787775"/>
                </a:solidFill>
                <a:highlight>
                  <a:srgbClr val="FFFFFF"/>
                </a:highlight>
              </a:rPr>
              <a:t>endoepidémicas</a:t>
            </a:r>
            <a:r>
              <a:rPr lang="es-CO" sz="1100" dirty="0">
                <a:solidFill>
                  <a:srgbClr val="787775"/>
                </a:solidFill>
                <a:highlight>
                  <a:srgbClr val="FFFFFF"/>
                </a:highlight>
              </a:rPr>
              <a:t> y relacionadas con salud sexual; 2022.</a:t>
            </a:r>
          </a:p>
          <a:p>
            <a:r>
              <a:rPr lang="en-US" sz="1100" dirty="0">
                <a:solidFill>
                  <a:srgbClr val="787775"/>
                </a:solidFill>
                <a:highlight>
                  <a:srgbClr val="FFFFFF"/>
                </a:highlight>
              </a:rPr>
              <a:t>- </a:t>
            </a:r>
            <a:r>
              <a:rPr lang="en-US" sz="1100" dirty="0" err="1">
                <a:solidFill>
                  <a:srgbClr val="787775"/>
                </a:solidFill>
                <a:highlight>
                  <a:srgbClr val="FFFFFF"/>
                </a:highlight>
              </a:rPr>
              <a:t>Olkowski</a:t>
            </a:r>
            <a:r>
              <a:rPr lang="en-US" sz="1100" dirty="0">
                <a:solidFill>
                  <a:srgbClr val="787775"/>
                </a:solidFill>
                <a:highlight>
                  <a:srgbClr val="FFFFFF"/>
                </a:highlight>
              </a:rPr>
              <a:t> S, Stoddard ST, Halsey ES, Morrison AC, Barker CM, Scoot TW. Sentinel versus passive surveillance for measuring changes in dengue incidence: 1 Evidence from three concurrent surveillance systems in Iquitos, Peru. 2016.</a:t>
            </a:r>
            <a:endParaRPr lang="es-CO" sz="1100" dirty="0">
              <a:solidFill>
                <a:srgbClr val="787775"/>
              </a:solidFill>
              <a:highlight>
                <a:srgbClr val="FFFFFF"/>
              </a:highlight>
            </a:endParaRPr>
          </a:p>
          <a:p>
            <a:r>
              <a:rPr lang="en-US" sz="1100" dirty="0">
                <a:solidFill>
                  <a:srgbClr val="787775"/>
                </a:solidFill>
                <a:highlight>
                  <a:srgbClr val="FFFFFF"/>
                </a:highlight>
              </a:rPr>
              <a:t>- Murray CJ. Quantifying the burden of disease: the technical basis for disability-adjusted life years. </a:t>
            </a:r>
            <a:r>
              <a:rPr lang="es-CO" sz="1100" dirty="0">
                <a:solidFill>
                  <a:srgbClr val="787775"/>
                </a:solidFill>
                <a:highlight>
                  <a:srgbClr val="FFFFFF"/>
                </a:highlight>
              </a:rPr>
              <a:t>Bull </a:t>
            </a:r>
            <a:r>
              <a:rPr lang="es-CO" sz="1100" dirty="0" err="1">
                <a:solidFill>
                  <a:srgbClr val="787775"/>
                </a:solidFill>
                <a:highlight>
                  <a:srgbClr val="FFFFFF"/>
                </a:highlight>
              </a:rPr>
              <a:t>World</a:t>
            </a:r>
            <a:r>
              <a:rPr lang="es-CO" sz="1100" dirty="0">
                <a:solidFill>
                  <a:srgbClr val="787775"/>
                </a:solidFill>
                <a:highlight>
                  <a:srgbClr val="FFFFFF"/>
                </a:highlight>
              </a:rPr>
              <a:t> </a:t>
            </a:r>
            <a:r>
              <a:rPr lang="es-CO" sz="1100" dirty="0" err="1">
                <a:solidFill>
                  <a:srgbClr val="787775"/>
                </a:solidFill>
                <a:highlight>
                  <a:srgbClr val="FFFFFF"/>
                </a:highlight>
              </a:rPr>
              <a:t>Health</a:t>
            </a:r>
            <a:r>
              <a:rPr lang="es-CO" sz="1100" dirty="0">
                <a:solidFill>
                  <a:srgbClr val="787775"/>
                </a:solidFill>
                <a:highlight>
                  <a:srgbClr val="FFFFFF"/>
                </a:highlight>
              </a:rPr>
              <a:t> </a:t>
            </a:r>
            <a:r>
              <a:rPr lang="es-CO" sz="1100" dirty="0" err="1">
                <a:solidFill>
                  <a:srgbClr val="787775"/>
                </a:solidFill>
                <a:highlight>
                  <a:srgbClr val="FFFFFF"/>
                </a:highlight>
              </a:rPr>
              <a:t>Organ</a:t>
            </a:r>
            <a:r>
              <a:rPr lang="es-CO" sz="1100" dirty="0">
                <a:solidFill>
                  <a:srgbClr val="787775"/>
                </a:solidFill>
                <a:highlight>
                  <a:srgbClr val="FFFFFF"/>
                </a:highlight>
              </a:rPr>
              <a:t>. 1994; 72(3): p. 429-45.</a:t>
            </a:r>
          </a:p>
          <a:p>
            <a:r>
              <a:rPr lang="es-CO" sz="1100" dirty="0">
                <a:solidFill>
                  <a:srgbClr val="787775"/>
                </a:solidFill>
                <a:highlight>
                  <a:srgbClr val="FFFFFF"/>
                </a:highlight>
              </a:rPr>
              <a:t>- Organización Mundial de la Salud. </a:t>
            </a:r>
            <a:r>
              <a:rPr lang="en-US" sz="1100" dirty="0">
                <a:solidFill>
                  <a:srgbClr val="787775"/>
                </a:solidFill>
                <a:highlight>
                  <a:srgbClr val="FFFFFF"/>
                </a:highlight>
              </a:rPr>
              <a:t>Estimating the burden of foodborne diseases: a practical handbook for countries. </a:t>
            </a:r>
            <a:r>
              <a:rPr lang="en-US" sz="1100" dirty="0" err="1">
                <a:solidFill>
                  <a:srgbClr val="787775"/>
                </a:solidFill>
                <a:highlight>
                  <a:srgbClr val="FFFFFF"/>
                </a:highlight>
              </a:rPr>
              <a:t>Organización</a:t>
            </a:r>
            <a:r>
              <a:rPr lang="en-US" sz="1100" dirty="0">
                <a:solidFill>
                  <a:srgbClr val="787775"/>
                </a:solidFill>
                <a:highlight>
                  <a:srgbClr val="FFFFFF"/>
                </a:highlight>
              </a:rPr>
              <a:t> Mundial de la </a:t>
            </a:r>
            <a:r>
              <a:rPr lang="en-US" sz="1100" dirty="0" err="1">
                <a:solidFill>
                  <a:srgbClr val="787775"/>
                </a:solidFill>
                <a:highlight>
                  <a:srgbClr val="FFFFFF"/>
                </a:highlight>
              </a:rPr>
              <a:t>Salud</a:t>
            </a:r>
            <a:r>
              <a:rPr lang="en-US" sz="1100" dirty="0">
                <a:solidFill>
                  <a:srgbClr val="787775"/>
                </a:solidFill>
                <a:highlight>
                  <a:srgbClr val="FFFFFF"/>
                </a:highlight>
              </a:rPr>
              <a:t>. 2021.</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Devleesschauwer</a:t>
            </a:r>
            <a:r>
              <a:rPr lang="en-US" sz="1100" dirty="0">
                <a:solidFill>
                  <a:srgbClr val="787775"/>
                </a:solidFill>
                <a:highlight>
                  <a:srgbClr val="FFFFFF"/>
                </a:highlight>
              </a:rPr>
              <a:t> , </a:t>
            </a:r>
            <a:r>
              <a:rPr lang="en-US" sz="1100" dirty="0" err="1">
                <a:solidFill>
                  <a:srgbClr val="787775"/>
                </a:solidFill>
                <a:highlight>
                  <a:srgbClr val="FFFFFF"/>
                </a:highlight>
              </a:rPr>
              <a:t>Havelaar</a:t>
            </a:r>
            <a:r>
              <a:rPr lang="en-US" sz="1100" dirty="0">
                <a:solidFill>
                  <a:srgbClr val="787775"/>
                </a:solidFill>
                <a:highlight>
                  <a:srgbClr val="FFFFFF"/>
                </a:highlight>
              </a:rPr>
              <a:t> H, de </a:t>
            </a:r>
            <a:r>
              <a:rPr lang="en-US" sz="1100" dirty="0" err="1">
                <a:solidFill>
                  <a:srgbClr val="787775"/>
                </a:solidFill>
                <a:highlight>
                  <a:srgbClr val="FFFFFF"/>
                </a:highlight>
              </a:rPr>
              <a:t>Noordhout</a:t>
            </a:r>
            <a:r>
              <a:rPr lang="en-US" sz="1100" dirty="0">
                <a:solidFill>
                  <a:srgbClr val="787775"/>
                </a:solidFill>
                <a:highlight>
                  <a:srgbClr val="FFFFFF"/>
                </a:highlight>
              </a:rPr>
              <a:t> C, </a:t>
            </a:r>
            <a:r>
              <a:rPr lang="en-US" sz="1100" dirty="0" err="1">
                <a:solidFill>
                  <a:srgbClr val="787775"/>
                </a:solidFill>
                <a:highlight>
                  <a:srgbClr val="FFFFFF"/>
                </a:highlight>
              </a:rPr>
              <a:t>Haagsma</a:t>
            </a:r>
            <a:r>
              <a:rPr lang="en-US" sz="1100" dirty="0">
                <a:solidFill>
                  <a:srgbClr val="787775"/>
                </a:solidFill>
                <a:highlight>
                  <a:srgbClr val="FFFFFF"/>
                </a:highlight>
              </a:rPr>
              <a:t> A, </a:t>
            </a:r>
            <a:r>
              <a:rPr lang="en-US" sz="1100" dirty="0" err="1">
                <a:solidFill>
                  <a:srgbClr val="787775"/>
                </a:solidFill>
                <a:highlight>
                  <a:srgbClr val="FFFFFF"/>
                </a:highlight>
              </a:rPr>
              <a:t>Praet</a:t>
            </a:r>
            <a:r>
              <a:rPr lang="en-US" sz="1100" dirty="0">
                <a:solidFill>
                  <a:srgbClr val="787775"/>
                </a:solidFill>
                <a:highlight>
                  <a:srgbClr val="FFFFFF"/>
                </a:highlight>
              </a:rPr>
              <a:t> N, </a:t>
            </a:r>
            <a:r>
              <a:rPr lang="en-US" sz="1100" dirty="0" err="1">
                <a:solidFill>
                  <a:srgbClr val="787775"/>
                </a:solidFill>
                <a:highlight>
                  <a:srgbClr val="FFFFFF"/>
                </a:highlight>
              </a:rPr>
              <a:t>Dorny</a:t>
            </a:r>
            <a:r>
              <a:rPr lang="en-US" sz="1100" dirty="0">
                <a:solidFill>
                  <a:srgbClr val="787775"/>
                </a:solidFill>
                <a:highlight>
                  <a:srgbClr val="FFFFFF"/>
                </a:highlight>
              </a:rPr>
              <a:t> P. DALY calculation in practice: a stepwise approach. International Journal of Public Health. 2014 April;(59): p. 571-574.</a:t>
            </a:r>
            <a:endParaRPr lang="es-CO" sz="1100" dirty="0">
              <a:solidFill>
                <a:srgbClr val="787775"/>
              </a:solidFill>
              <a:highlight>
                <a:srgbClr val="FFFFFF"/>
              </a:highlight>
            </a:endParaRPr>
          </a:p>
          <a:p>
            <a:r>
              <a:rPr lang="en-US" sz="1100" dirty="0">
                <a:solidFill>
                  <a:srgbClr val="787775"/>
                </a:solidFill>
                <a:highlight>
                  <a:srgbClr val="FFFFFF"/>
                </a:highlight>
              </a:rPr>
              <a:t>- Murray C. Quantifying the Burden of Disease: the Technical Basis for Disability Adjusted Life Years. World Health Org. 1994; 73(3): p. 429-445.</a:t>
            </a:r>
            <a:endParaRPr lang="es-CO" sz="1100" dirty="0">
              <a:solidFill>
                <a:srgbClr val="787775"/>
              </a:solidFill>
              <a:highlight>
                <a:srgbClr val="FFFFFF"/>
              </a:highlight>
            </a:endParaRPr>
          </a:p>
          <a:p>
            <a:r>
              <a:rPr lang="en-US" sz="1100" dirty="0">
                <a:solidFill>
                  <a:srgbClr val="787775"/>
                </a:solidFill>
                <a:highlight>
                  <a:srgbClr val="FFFFFF"/>
                </a:highlight>
              </a:rPr>
              <a:t>- Murray CJL, Lopez AD. </a:t>
            </a:r>
            <a:r>
              <a:rPr lang="en-US" sz="1100" dirty="0" err="1">
                <a:solidFill>
                  <a:srgbClr val="787775"/>
                </a:solidFill>
                <a:highlight>
                  <a:srgbClr val="FFFFFF"/>
                </a:highlight>
              </a:rPr>
              <a:t>Quantifymg</a:t>
            </a:r>
            <a:r>
              <a:rPr lang="en-US" sz="1100" dirty="0">
                <a:solidFill>
                  <a:srgbClr val="787775"/>
                </a:solidFill>
                <a:highlight>
                  <a:srgbClr val="FFFFFF"/>
                </a:highlight>
              </a:rPr>
              <a:t> </a:t>
            </a:r>
            <a:r>
              <a:rPr lang="en-US" sz="1100" dirty="0" err="1">
                <a:solidFill>
                  <a:srgbClr val="787775"/>
                </a:solidFill>
                <a:highlight>
                  <a:srgbClr val="FFFFFF"/>
                </a:highlight>
              </a:rPr>
              <a:t>disabiity</a:t>
            </a:r>
            <a:r>
              <a:rPr lang="en-US" sz="1100" dirty="0">
                <a:solidFill>
                  <a:srgbClr val="787775"/>
                </a:solidFill>
                <a:highlight>
                  <a:srgbClr val="FFFFFF"/>
                </a:highlight>
              </a:rPr>
              <a:t>: data, methods and results. Bulletin of the World Health Organization. 1994; 72(3).</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Mangen</a:t>
            </a:r>
            <a:r>
              <a:rPr lang="en-US" sz="1100" dirty="0">
                <a:solidFill>
                  <a:srgbClr val="787775"/>
                </a:solidFill>
                <a:highlight>
                  <a:srgbClr val="FFFFFF"/>
                </a:highlight>
              </a:rPr>
              <a:t> MJ, </a:t>
            </a:r>
            <a:r>
              <a:rPr lang="en-US" sz="1100" dirty="0" err="1">
                <a:solidFill>
                  <a:srgbClr val="787775"/>
                </a:solidFill>
                <a:highlight>
                  <a:srgbClr val="FFFFFF"/>
                </a:highlight>
              </a:rPr>
              <a:t>Plass</a:t>
            </a:r>
            <a:r>
              <a:rPr lang="en-US" sz="1100" dirty="0">
                <a:solidFill>
                  <a:srgbClr val="787775"/>
                </a:solidFill>
                <a:highlight>
                  <a:srgbClr val="FFFFFF"/>
                </a:highlight>
              </a:rPr>
              <a:t> D, </a:t>
            </a:r>
            <a:r>
              <a:rPr lang="en-US" sz="1100" dirty="0" err="1">
                <a:solidFill>
                  <a:srgbClr val="787775"/>
                </a:solidFill>
                <a:highlight>
                  <a:srgbClr val="FFFFFF"/>
                </a:highlight>
              </a:rPr>
              <a:t>Havelaar</a:t>
            </a:r>
            <a:r>
              <a:rPr lang="en-US" sz="1100" dirty="0">
                <a:solidFill>
                  <a:srgbClr val="787775"/>
                </a:solidFill>
                <a:highlight>
                  <a:srgbClr val="FFFFFF"/>
                </a:highlight>
              </a:rPr>
              <a:t> AH, Gibbons C, Cassini A. The pathogen- and incidence-based DALY approach: an appropriate [corrected] methodology for estimating the burden of infectious diseases. </a:t>
            </a:r>
            <a:r>
              <a:rPr lang="en-US" sz="1100" dirty="0" err="1">
                <a:solidFill>
                  <a:srgbClr val="787775"/>
                </a:solidFill>
                <a:highlight>
                  <a:srgbClr val="FFFFFF"/>
                </a:highlight>
              </a:rPr>
              <a:t>PLos</a:t>
            </a:r>
            <a:r>
              <a:rPr lang="en-US" sz="1100" dirty="0">
                <a:solidFill>
                  <a:srgbClr val="787775"/>
                </a:solidFill>
                <a:highlight>
                  <a:srgbClr val="FFFFFF"/>
                </a:highlight>
              </a:rPr>
              <a:t> One. 2013 </a:t>
            </a:r>
            <a:r>
              <a:rPr lang="en-US" sz="1100" dirty="0" err="1">
                <a:solidFill>
                  <a:srgbClr val="787775"/>
                </a:solidFill>
                <a:highlight>
                  <a:srgbClr val="FFFFFF"/>
                </a:highlight>
              </a:rPr>
              <a:t>Noviembre</a:t>
            </a:r>
            <a:r>
              <a:rPr lang="en-US" sz="1100" dirty="0">
                <a:solidFill>
                  <a:srgbClr val="787775"/>
                </a:solidFill>
                <a:highlight>
                  <a:srgbClr val="FFFFFF"/>
                </a:highlight>
              </a:rPr>
              <a:t>; 8(12).</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Trivedi</a:t>
            </a:r>
            <a:r>
              <a:rPr lang="en-US" sz="1100" dirty="0">
                <a:solidFill>
                  <a:srgbClr val="787775"/>
                </a:solidFill>
                <a:highlight>
                  <a:srgbClr val="FFFFFF"/>
                </a:highlight>
              </a:rPr>
              <a:t> S, </a:t>
            </a:r>
            <a:r>
              <a:rPr lang="en-US" sz="1100" dirty="0" err="1">
                <a:solidFill>
                  <a:srgbClr val="787775"/>
                </a:solidFill>
                <a:highlight>
                  <a:srgbClr val="FFFFFF"/>
                </a:highlight>
              </a:rPr>
              <a:t>Chakravarty</a:t>
            </a:r>
            <a:r>
              <a:rPr lang="en-US" sz="1100" dirty="0">
                <a:solidFill>
                  <a:srgbClr val="787775"/>
                </a:solidFill>
                <a:highlight>
                  <a:srgbClr val="FFFFFF"/>
                </a:highlight>
              </a:rPr>
              <a:t> A. Neurological Complications of Dengue Fever. </a:t>
            </a:r>
            <a:r>
              <a:rPr lang="en-US" sz="1100" dirty="0" err="1">
                <a:solidFill>
                  <a:srgbClr val="787775"/>
                </a:solidFill>
                <a:highlight>
                  <a:srgbClr val="FFFFFF"/>
                </a:highlight>
              </a:rPr>
              <a:t>Curr</a:t>
            </a:r>
            <a:r>
              <a:rPr lang="en-US" sz="1100" dirty="0">
                <a:solidFill>
                  <a:srgbClr val="787775"/>
                </a:solidFill>
                <a:highlight>
                  <a:srgbClr val="FFFFFF"/>
                </a:highlight>
              </a:rPr>
              <a:t> </a:t>
            </a:r>
            <a:r>
              <a:rPr lang="en-US" sz="1100" dirty="0" err="1">
                <a:solidFill>
                  <a:srgbClr val="787775"/>
                </a:solidFill>
                <a:highlight>
                  <a:srgbClr val="FFFFFF"/>
                </a:highlight>
              </a:rPr>
              <a:t>Neurol</a:t>
            </a:r>
            <a:r>
              <a:rPr lang="en-US" sz="1100" dirty="0">
                <a:solidFill>
                  <a:srgbClr val="787775"/>
                </a:solidFill>
                <a:highlight>
                  <a:srgbClr val="FFFFFF"/>
                </a:highlight>
              </a:rPr>
              <a:t> Rep. 2022 Aug; 22(8): p. 515-529.</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Kadam</a:t>
            </a:r>
            <a:r>
              <a:rPr lang="en-US" sz="1100" dirty="0">
                <a:solidFill>
                  <a:srgbClr val="787775"/>
                </a:solidFill>
                <a:highlight>
                  <a:srgbClr val="FFFFFF"/>
                </a:highlight>
              </a:rPr>
              <a:t> DB, </a:t>
            </a:r>
            <a:r>
              <a:rPr lang="en-US" sz="1100" dirty="0" err="1">
                <a:solidFill>
                  <a:srgbClr val="787775"/>
                </a:solidFill>
                <a:highlight>
                  <a:srgbClr val="FFFFFF"/>
                </a:highlight>
              </a:rPr>
              <a:t>Salvis</a:t>
            </a:r>
            <a:r>
              <a:rPr lang="en-US" sz="1100" dirty="0">
                <a:solidFill>
                  <a:srgbClr val="787775"/>
                </a:solidFill>
                <a:highlight>
                  <a:srgbClr val="FFFFFF"/>
                </a:highlight>
              </a:rPr>
              <a:t> S, </a:t>
            </a:r>
            <a:r>
              <a:rPr lang="en-US" sz="1100" dirty="0" err="1">
                <a:solidFill>
                  <a:srgbClr val="787775"/>
                </a:solidFill>
                <a:highlight>
                  <a:srgbClr val="FFFFFF"/>
                </a:highlight>
              </a:rPr>
              <a:t>Chandanwale</a:t>
            </a:r>
            <a:r>
              <a:rPr lang="en-US" sz="1100" dirty="0">
                <a:solidFill>
                  <a:srgbClr val="787775"/>
                </a:solidFill>
                <a:highlight>
                  <a:srgbClr val="FFFFFF"/>
                </a:highlight>
              </a:rPr>
              <a:t> A. Expanded Dengue. J </a:t>
            </a:r>
            <a:r>
              <a:rPr lang="en-US" sz="1100" dirty="0" err="1">
                <a:solidFill>
                  <a:srgbClr val="787775"/>
                </a:solidFill>
                <a:highlight>
                  <a:srgbClr val="FFFFFF"/>
                </a:highlight>
              </a:rPr>
              <a:t>Assoc</a:t>
            </a:r>
            <a:r>
              <a:rPr lang="en-US" sz="1100" dirty="0">
                <a:solidFill>
                  <a:srgbClr val="787775"/>
                </a:solidFill>
                <a:highlight>
                  <a:srgbClr val="FFFFFF"/>
                </a:highlight>
              </a:rPr>
              <a:t> Physicians India. 2016 Jul; 64(7): p. 59-63.</a:t>
            </a:r>
            <a:endParaRPr lang="es-CO" sz="1100" dirty="0">
              <a:solidFill>
                <a:srgbClr val="787775"/>
              </a:solidFill>
              <a:highlight>
                <a:srgbClr val="FFFFFF"/>
              </a:highlight>
            </a:endParaRPr>
          </a:p>
          <a:p>
            <a:r>
              <a:rPr lang="en-US" sz="1100" dirty="0">
                <a:solidFill>
                  <a:srgbClr val="787775"/>
                </a:solidFill>
                <a:highlight>
                  <a:srgbClr val="FFFFFF"/>
                </a:highlight>
              </a:rPr>
              <a:t>- Thomas L, </a:t>
            </a:r>
            <a:r>
              <a:rPr lang="en-US" sz="1100" dirty="0" err="1">
                <a:solidFill>
                  <a:srgbClr val="787775"/>
                </a:solidFill>
                <a:highlight>
                  <a:srgbClr val="FFFFFF"/>
                </a:highlight>
              </a:rPr>
              <a:t>Fatiha</a:t>
            </a:r>
            <a:r>
              <a:rPr lang="en-US" sz="1100" dirty="0">
                <a:solidFill>
                  <a:srgbClr val="787775"/>
                </a:solidFill>
                <a:highlight>
                  <a:srgbClr val="FFFFFF"/>
                </a:highlight>
              </a:rPr>
              <a:t> N, François B, Ruddy V, Jacques R, Raymond C. Clinical Presentation of Dengue by Serotype and Year of Epidemic in Martinique. Am J Trop Med </a:t>
            </a:r>
            <a:r>
              <a:rPr lang="en-US" sz="1100" dirty="0" err="1">
                <a:solidFill>
                  <a:srgbClr val="787775"/>
                </a:solidFill>
                <a:highlight>
                  <a:srgbClr val="FFFFFF"/>
                </a:highlight>
              </a:rPr>
              <a:t>Hyg</a:t>
            </a:r>
            <a:r>
              <a:rPr lang="en-US" sz="1100" dirty="0">
                <a:solidFill>
                  <a:srgbClr val="787775"/>
                </a:solidFill>
                <a:highlight>
                  <a:srgbClr val="FFFFFF"/>
                </a:highlight>
              </a:rPr>
              <a:t>. 2014 Julio; 91(1): p. 138-145.</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Soo</a:t>
            </a:r>
            <a:r>
              <a:rPr lang="en-US" sz="1100" dirty="0">
                <a:solidFill>
                  <a:srgbClr val="787775"/>
                </a:solidFill>
                <a:highlight>
                  <a:srgbClr val="FFFFFF"/>
                </a:highlight>
              </a:rPr>
              <a:t> KM, Khalid B, </a:t>
            </a:r>
            <a:r>
              <a:rPr lang="en-US" sz="1100" dirty="0" err="1">
                <a:solidFill>
                  <a:srgbClr val="787775"/>
                </a:solidFill>
                <a:highlight>
                  <a:srgbClr val="FFFFFF"/>
                </a:highlight>
              </a:rPr>
              <a:t>Ching</a:t>
            </a:r>
            <a:r>
              <a:rPr lang="en-US" sz="1100" dirty="0">
                <a:solidFill>
                  <a:srgbClr val="787775"/>
                </a:solidFill>
                <a:highlight>
                  <a:srgbClr val="FFFFFF"/>
                </a:highlight>
              </a:rPr>
              <a:t> SM, </a:t>
            </a:r>
            <a:r>
              <a:rPr lang="en-US" sz="1100" dirty="0" err="1">
                <a:solidFill>
                  <a:srgbClr val="787775"/>
                </a:solidFill>
                <a:highlight>
                  <a:srgbClr val="FFFFFF"/>
                </a:highlight>
              </a:rPr>
              <a:t>Chee</a:t>
            </a:r>
            <a:r>
              <a:rPr lang="en-US" sz="1100" dirty="0">
                <a:solidFill>
                  <a:srgbClr val="787775"/>
                </a:solidFill>
                <a:highlight>
                  <a:srgbClr val="FFFFFF"/>
                </a:highlight>
              </a:rPr>
              <a:t> HY. Meta-</a:t>
            </a:r>
            <a:r>
              <a:rPr lang="en-US" sz="1100" dirty="0" err="1">
                <a:solidFill>
                  <a:srgbClr val="787775"/>
                </a:solidFill>
                <a:highlight>
                  <a:srgbClr val="FFFFFF"/>
                </a:highlight>
              </a:rPr>
              <a:t>AnalysisofDengueSeverityduring</a:t>
            </a:r>
            <a:r>
              <a:rPr lang="en-US" sz="1100" dirty="0">
                <a:solidFill>
                  <a:srgbClr val="787775"/>
                </a:solidFill>
                <a:highlight>
                  <a:srgbClr val="FFFFFF"/>
                </a:highlight>
              </a:rPr>
              <a:t> </a:t>
            </a:r>
            <a:r>
              <a:rPr lang="en-US" sz="1100" dirty="0" err="1">
                <a:solidFill>
                  <a:srgbClr val="787775"/>
                </a:solidFill>
                <a:highlight>
                  <a:srgbClr val="FFFFFF"/>
                </a:highlight>
              </a:rPr>
              <a:t>InfectionbyDifferentDengueVirus</a:t>
            </a:r>
            <a:r>
              <a:rPr lang="en-US" sz="1100" dirty="0">
                <a:solidFill>
                  <a:srgbClr val="787775"/>
                </a:solidFill>
                <a:highlight>
                  <a:srgbClr val="FFFFFF"/>
                </a:highlight>
              </a:rPr>
              <a:t> </a:t>
            </a:r>
            <a:r>
              <a:rPr lang="en-US" sz="1100" dirty="0" err="1">
                <a:solidFill>
                  <a:srgbClr val="787775"/>
                </a:solidFill>
                <a:highlight>
                  <a:srgbClr val="FFFFFF"/>
                </a:highlight>
              </a:rPr>
              <a:t>SerotypesinPrimaryandSecondary</a:t>
            </a:r>
            <a:r>
              <a:rPr lang="en-US" sz="1100" dirty="0">
                <a:solidFill>
                  <a:srgbClr val="787775"/>
                </a:solidFill>
                <a:highlight>
                  <a:srgbClr val="FFFFFF"/>
                </a:highlight>
              </a:rPr>
              <a:t> Infections. </a:t>
            </a:r>
            <a:r>
              <a:rPr lang="en-US" sz="1100" dirty="0" err="1">
                <a:solidFill>
                  <a:srgbClr val="787775"/>
                </a:solidFill>
                <a:highlight>
                  <a:srgbClr val="FFFFFF"/>
                </a:highlight>
              </a:rPr>
              <a:t>PLoS</a:t>
            </a:r>
            <a:r>
              <a:rPr lang="en-US" sz="1100" dirty="0">
                <a:solidFill>
                  <a:srgbClr val="787775"/>
                </a:solidFill>
                <a:highlight>
                  <a:srgbClr val="FFFFFF"/>
                </a:highlight>
              </a:rPr>
              <a:t> One. 2016 Mayo; 11(5).</a:t>
            </a:r>
            <a:endParaRPr lang="es-CO" sz="1100" dirty="0">
              <a:solidFill>
                <a:srgbClr val="787775"/>
              </a:solidFill>
              <a:highlight>
                <a:srgbClr val="FFFFFF"/>
              </a:highlight>
            </a:endParaRP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Bibliografía</a:t>
            </a:r>
            <a:endParaRPr lang="es-CO" dirty="0"/>
          </a:p>
        </p:txBody>
      </p:sp>
    </p:spTree>
    <p:extLst>
      <p:ext uri="{BB962C8B-B14F-4D97-AF65-F5344CB8AC3E}">
        <p14:creationId xmlns:p14="http://schemas.microsoft.com/office/powerpoint/2010/main" val="460129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2" y="2204864"/>
            <a:ext cx="11294341" cy="3647112"/>
          </a:xfrm>
          <a:prstGeom prst="rect">
            <a:avLst/>
          </a:prstGeom>
          <a:noFill/>
          <a:ln>
            <a:noFill/>
          </a:ln>
        </p:spPr>
        <p:txBody>
          <a:bodyPr spcFirstLastPara="1" wrap="square" lIns="91425" tIns="45700" rIns="91425" bIns="45700" anchor="t" anchorCtr="0">
            <a:spAutoFit/>
          </a:bodyPr>
          <a:lstStyle/>
          <a:p>
            <a:r>
              <a:rPr lang="en-US" sz="1100" dirty="0">
                <a:solidFill>
                  <a:srgbClr val="787775"/>
                </a:solidFill>
                <a:highlight>
                  <a:srgbClr val="FFFFFF"/>
                </a:highlight>
              </a:rPr>
              <a:t>- Roy SK, </a:t>
            </a:r>
            <a:r>
              <a:rPr lang="en-US" sz="1100" dirty="0" err="1">
                <a:solidFill>
                  <a:srgbClr val="787775"/>
                </a:solidFill>
                <a:highlight>
                  <a:srgbClr val="FFFFFF"/>
                </a:highlight>
              </a:rPr>
              <a:t>Bhattacharjee</a:t>
            </a:r>
            <a:r>
              <a:rPr lang="en-US" sz="1100" dirty="0">
                <a:solidFill>
                  <a:srgbClr val="787775"/>
                </a:solidFill>
                <a:highlight>
                  <a:srgbClr val="FFFFFF"/>
                </a:highlight>
              </a:rPr>
              <a:t> S. Dengue virus: epidemiology, biology, and disease </a:t>
            </a:r>
            <a:r>
              <a:rPr lang="en-US" sz="1100" dirty="0" err="1">
                <a:solidFill>
                  <a:srgbClr val="787775"/>
                </a:solidFill>
                <a:highlight>
                  <a:srgbClr val="FFFFFF"/>
                </a:highlight>
              </a:rPr>
              <a:t>aetiology</a:t>
            </a:r>
            <a:r>
              <a:rPr lang="en-US" sz="1100" dirty="0">
                <a:solidFill>
                  <a:srgbClr val="787775"/>
                </a:solidFill>
                <a:highlight>
                  <a:srgbClr val="FFFFFF"/>
                </a:highlight>
              </a:rPr>
              <a:t>. Can J </a:t>
            </a:r>
            <a:r>
              <a:rPr lang="en-US" sz="1100" dirty="0" err="1">
                <a:solidFill>
                  <a:srgbClr val="787775"/>
                </a:solidFill>
                <a:highlight>
                  <a:srgbClr val="FFFFFF"/>
                </a:highlight>
              </a:rPr>
              <a:t>Microbiol</a:t>
            </a:r>
            <a:r>
              <a:rPr lang="en-US" sz="1100" dirty="0">
                <a:solidFill>
                  <a:srgbClr val="787775"/>
                </a:solidFill>
                <a:highlight>
                  <a:srgbClr val="FFFFFF"/>
                </a:highlight>
              </a:rPr>
              <a:t>. 2021 </a:t>
            </a:r>
            <a:r>
              <a:rPr lang="en-US" sz="1100" dirty="0" err="1">
                <a:solidFill>
                  <a:srgbClr val="787775"/>
                </a:solidFill>
                <a:highlight>
                  <a:srgbClr val="FFFFFF"/>
                </a:highlight>
              </a:rPr>
              <a:t>Octubre</a:t>
            </a:r>
            <a:r>
              <a:rPr lang="en-US" sz="1100" dirty="0">
                <a:solidFill>
                  <a:srgbClr val="787775"/>
                </a:solidFill>
                <a:highlight>
                  <a:srgbClr val="FFFFFF"/>
                </a:highlight>
              </a:rPr>
              <a:t>; 67(10): p. 687-702.</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Anand</a:t>
            </a:r>
            <a:r>
              <a:rPr lang="en-US" sz="1100" dirty="0">
                <a:solidFill>
                  <a:srgbClr val="787775"/>
                </a:solidFill>
                <a:highlight>
                  <a:srgbClr val="FFFFFF"/>
                </a:highlight>
              </a:rPr>
              <a:t> S, Hanson K. Disability-adjusted life years: a critical review. Journal of Health Economics. 1997; 16: p. 685-702.</a:t>
            </a:r>
            <a:endParaRPr lang="es-CO" sz="1100" dirty="0">
              <a:solidFill>
                <a:srgbClr val="787775"/>
              </a:solidFill>
              <a:highlight>
                <a:srgbClr val="FFFFFF"/>
              </a:highlight>
            </a:endParaRPr>
          </a:p>
          <a:p>
            <a:r>
              <a:rPr lang="en-US" sz="1100" dirty="0">
                <a:solidFill>
                  <a:srgbClr val="787775"/>
                </a:solidFill>
                <a:highlight>
                  <a:srgbClr val="FFFFFF"/>
                </a:highlight>
              </a:rPr>
              <a:t>- World Health Organization. WHO methods and data sources for global burden of disease estimates 2000-2019. </a:t>
            </a:r>
            <a:r>
              <a:rPr lang="es-CO" sz="1100" dirty="0" err="1">
                <a:solidFill>
                  <a:srgbClr val="787775"/>
                </a:solidFill>
                <a:highlight>
                  <a:srgbClr val="FFFFFF"/>
                </a:highlight>
              </a:rPr>
              <a:t>Genova</a:t>
            </a:r>
            <a:r>
              <a:rPr lang="es-CO" sz="1100" dirty="0">
                <a:solidFill>
                  <a:srgbClr val="787775"/>
                </a:solidFill>
                <a:highlight>
                  <a:srgbClr val="FFFFFF"/>
                </a:highlight>
              </a:rPr>
              <a:t>: </a:t>
            </a:r>
            <a:r>
              <a:rPr lang="es-CO" sz="1100" dirty="0" err="1">
                <a:solidFill>
                  <a:srgbClr val="787775"/>
                </a:solidFill>
                <a:highlight>
                  <a:srgbClr val="FFFFFF"/>
                </a:highlight>
              </a:rPr>
              <a:t>World</a:t>
            </a:r>
            <a:r>
              <a:rPr lang="es-CO" sz="1100" dirty="0">
                <a:solidFill>
                  <a:srgbClr val="787775"/>
                </a:solidFill>
                <a:highlight>
                  <a:srgbClr val="FFFFFF"/>
                </a:highlight>
              </a:rPr>
              <a:t> </a:t>
            </a:r>
            <a:r>
              <a:rPr lang="es-CO" sz="1100" dirty="0" err="1">
                <a:solidFill>
                  <a:srgbClr val="787775"/>
                </a:solidFill>
                <a:highlight>
                  <a:srgbClr val="FFFFFF"/>
                </a:highlight>
              </a:rPr>
              <a:t>Health</a:t>
            </a:r>
            <a:r>
              <a:rPr lang="es-CO" sz="1100" dirty="0">
                <a:solidFill>
                  <a:srgbClr val="787775"/>
                </a:solidFill>
                <a:highlight>
                  <a:srgbClr val="FFFFFF"/>
                </a:highlight>
              </a:rPr>
              <a:t> Organization, </a:t>
            </a:r>
            <a:r>
              <a:rPr lang="es-CO" sz="1100" dirty="0" err="1">
                <a:solidFill>
                  <a:srgbClr val="787775"/>
                </a:solidFill>
                <a:highlight>
                  <a:srgbClr val="FFFFFF"/>
                </a:highlight>
              </a:rPr>
              <a:t>Department</a:t>
            </a:r>
            <a:r>
              <a:rPr lang="es-CO" sz="1100" dirty="0">
                <a:solidFill>
                  <a:srgbClr val="787775"/>
                </a:solidFill>
                <a:highlight>
                  <a:srgbClr val="FFFFFF"/>
                </a:highlight>
              </a:rPr>
              <a:t> of Data and </a:t>
            </a:r>
            <a:r>
              <a:rPr lang="es-CO" sz="1100" dirty="0" err="1">
                <a:solidFill>
                  <a:srgbClr val="787775"/>
                </a:solidFill>
                <a:highlight>
                  <a:srgbClr val="FFFFFF"/>
                </a:highlight>
              </a:rPr>
              <a:t>Analytics</a:t>
            </a:r>
            <a:r>
              <a:rPr lang="es-CO" sz="1100" dirty="0">
                <a:solidFill>
                  <a:srgbClr val="787775"/>
                </a:solidFill>
                <a:highlight>
                  <a:srgbClr val="FFFFFF"/>
                </a:highlight>
              </a:rPr>
              <a:t>; 2020.</a:t>
            </a:r>
          </a:p>
          <a:p>
            <a:r>
              <a:rPr lang="es-CO" sz="1100" dirty="0">
                <a:solidFill>
                  <a:srgbClr val="787775"/>
                </a:solidFill>
                <a:highlight>
                  <a:srgbClr val="FFFFFF"/>
                </a:highlight>
              </a:rPr>
              <a:t>- </a:t>
            </a:r>
            <a:r>
              <a:rPr lang="es-CO" sz="1100" dirty="0" err="1">
                <a:solidFill>
                  <a:srgbClr val="787775"/>
                </a:solidFill>
                <a:highlight>
                  <a:srgbClr val="FFFFFF"/>
                </a:highlight>
              </a:rPr>
              <a:t>Velasquez</a:t>
            </a:r>
            <a:r>
              <a:rPr lang="es-CO" sz="1100" dirty="0">
                <a:solidFill>
                  <a:srgbClr val="787775"/>
                </a:solidFill>
                <a:highlight>
                  <a:srgbClr val="FFFFFF"/>
                </a:highlight>
              </a:rPr>
              <a:t> A. </a:t>
            </a:r>
            <a:r>
              <a:rPr lang="es-CO" sz="1100" dirty="0" err="1">
                <a:solidFill>
                  <a:srgbClr val="787775"/>
                </a:solidFill>
                <a:highlight>
                  <a:srgbClr val="FFFFFF"/>
                </a:highlight>
              </a:rPr>
              <a:t>Guia</a:t>
            </a:r>
            <a:r>
              <a:rPr lang="es-CO" sz="1100" dirty="0">
                <a:solidFill>
                  <a:srgbClr val="787775"/>
                </a:solidFill>
                <a:highlight>
                  <a:srgbClr val="FFFFFF"/>
                </a:highlight>
              </a:rPr>
              <a:t> </a:t>
            </a:r>
            <a:r>
              <a:rPr lang="es-CO" sz="1100" dirty="0" err="1">
                <a:solidFill>
                  <a:srgbClr val="787775"/>
                </a:solidFill>
                <a:highlight>
                  <a:srgbClr val="FFFFFF"/>
                </a:highlight>
              </a:rPr>
              <a:t>metodologica</a:t>
            </a:r>
            <a:r>
              <a:rPr lang="es-CO" sz="1100" dirty="0">
                <a:solidFill>
                  <a:srgbClr val="787775"/>
                </a:solidFill>
                <a:highlight>
                  <a:srgbClr val="FFFFFF"/>
                </a:highlight>
              </a:rPr>
              <a:t> para las estimaciones </a:t>
            </a:r>
            <a:r>
              <a:rPr lang="es-CO" sz="1100" dirty="0" err="1">
                <a:solidFill>
                  <a:srgbClr val="787775"/>
                </a:solidFill>
                <a:highlight>
                  <a:srgbClr val="FFFFFF"/>
                </a:highlight>
              </a:rPr>
              <a:t>epidemiologicas</a:t>
            </a:r>
            <a:r>
              <a:rPr lang="es-CO" sz="1100" dirty="0">
                <a:solidFill>
                  <a:srgbClr val="787775"/>
                </a:solidFill>
                <a:highlight>
                  <a:srgbClr val="FFFFFF"/>
                </a:highlight>
              </a:rPr>
              <a:t> del estudio de carga de enfermedad. Lima: USAID del pueblo de los estados unidos de </a:t>
            </a:r>
            <a:r>
              <a:rPr lang="es-CO" sz="1100" dirty="0" err="1">
                <a:solidFill>
                  <a:srgbClr val="787775"/>
                </a:solidFill>
                <a:highlight>
                  <a:srgbClr val="FFFFFF"/>
                </a:highlight>
              </a:rPr>
              <a:t>America</a:t>
            </a:r>
            <a:r>
              <a:rPr lang="es-CO" sz="1100" dirty="0">
                <a:solidFill>
                  <a:srgbClr val="787775"/>
                </a:solidFill>
                <a:highlight>
                  <a:srgbClr val="FFFFFF"/>
                </a:highlight>
              </a:rPr>
              <a:t>, PRAES; 2006 Noviembre.</a:t>
            </a:r>
          </a:p>
          <a:p>
            <a:r>
              <a:rPr lang="en-US" sz="1100" dirty="0">
                <a:solidFill>
                  <a:srgbClr val="787775"/>
                </a:solidFill>
                <a:highlight>
                  <a:srgbClr val="FFFFFF"/>
                </a:highlight>
              </a:rPr>
              <a:t>- </a:t>
            </a:r>
            <a:r>
              <a:rPr lang="en-US" sz="1100" dirty="0" err="1">
                <a:solidFill>
                  <a:srgbClr val="787775"/>
                </a:solidFill>
                <a:highlight>
                  <a:srgbClr val="FFFFFF"/>
                </a:highlight>
              </a:rPr>
              <a:t>Mathers</a:t>
            </a:r>
            <a:r>
              <a:rPr lang="en-US" sz="1100" dirty="0">
                <a:solidFill>
                  <a:srgbClr val="787775"/>
                </a:solidFill>
                <a:highlight>
                  <a:srgbClr val="FFFFFF"/>
                </a:highlight>
              </a:rPr>
              <a:t> CD, </a:t>
            </a:r>
            <a:r>
              <a:rPr lang="en-US" sz="1100" dirty="0" err="1">
                <a:solidFill>
                  <a:srgbClr val="787775"/>
                </a:solidFill>
                <a:highlight>
                  <a:srgbClr val="FFFFFF"/>
                </a:highlight>
              </a:rPr>
              <a:t>Vos</a:t>
            </a:r>
            <a:r>
              <a:rPr lang="en-US" sz="1100" dirty="0">
                <a:solidFill>
                  <a:srgbClr val="787775"/>
                </a:solidFill>
                <a:highlight>
                  <a:srgbClr val="FFFFFF"/>
                </a:highlight>
              </a:rPr>
              <a:t> T, Lopez AD, Salomon J. The Burden of Disease and Mortality by Condition: Data, Methods, and Results for 2001. In Global Burden of Disease and Risk Factors. Washington (DC); 2006.</a:t>
            </a:r>
            <a:endParaRPr lang="es-CO" sz="1100" dirty="0">
              <a:solidFill>
                <a:srgbClr val="787775"/>
              </a:solidFill>
              <a:highlight>
                <a:srgbClr val="FFFFFF"/>
              </a:highlight>
            </a:endParaRPr>
          </a:p>
          <a:p>
            <a:r>
              <a:rPr lang="en-US" sz="1100" dirty="0">
                <a:solidFill>
                  <a:srgbClr val="787775"/>
                </a:solidFill>
                <a:highlight>
                  <a:srgbClr val="FFFFFF"/>
                </a:highlight>
              </a:rPr>
              <a:t>- World Health Organization. The global health observatory. [Online].; 2023 [cited 2023 </a:t>
            </a:r>
            <a:r>
              <a:rPr lang="en-US" sz="1100" dirty="0" err="1">
                <a:solidFill>
                  <a:srgbClr val="787775"/>
                </a:solidFill>
                <a:highlight>
                  <a:srgbClr val="FFFFFF"/>
                </a:highlight>
              </a:rPr>
              <a:t>Noviembre</a:t>
            </a:r>
            <a:r>
              <a:rPr lang="en-US" sz="1100" dirty="0">
                <a:solidFill>
                  <a:srgbClr val="787775"/>
                </a:solidFill>
                <a:highlight>
                  <a:srgbClr val="FFFFFF"/>
                </a:highlight>
              </a:rPr>
              <a:t> 15. Available from: https://www.who.int/data/gho/data/indicators/indicator-details/GHO/gho-ghe-life-tables-by-country.</a:t>
            </a:r>
            <a:endParaRPr lang="es-CO" sz="1100" dirty="0">
              <a:solidFill>
                <a:srgbClr val="787775"/>
              </a:solidFill>
              <a:highlight>
                <a:srgbClr val="FFFFFF"/>
              </a:highlight>
            </a:endParaRPr>
          </a:p>
          <a:p>
            <a:r>
              <a:rPr lang="es-CO" sz="1100" dirty="0">
                <a:solidFill>
                  <a:srgbClr val="787775"/>
                </a:solidFill>
                <a:highlight>
                  <a:srgbClr val="FFFFFF"/>
                </a:highlight>
              </a:rPr>
              <a:t>- Bergonzoli G, Jaramillo C, Torres M, Tejeda D, Bravo T, </a:t>
            </a:r>
            <a:r>
              <a:rPr lang="es-CO" sz="1100" dirty="0" err="1">
                <a:solidFill>
                  <a:srgbClr val="787775"/>
                </a:solidFill>
                <a:highlight>
                  <a:srgbClr val="FFFFFF"/>
                </a:highlight>
              </a:rPr>
              <a:t>Martinez</a:t>
            </a:r>
            <a:r>
              <a:rPr lang="es-CO" sz="1100" dirty="0">
                <a:solidFill>
                  <a:srgbClr val="787775"/>
                </a:solidFill>
                <a:highlight>
                  <a:srgbClr val="FFFFFF"/>
                </a:highlight>
              </a:rPr>
              <a:t> G, et al. Carga de enfermedad por intoxicaciones con sustancias </a:t>
            </a:r>
            <a:r>
              <a:rPr lang="es-CO" sz="1100" dirty="0" err="1">
                <a:solidFill>
                  <a:srgbClr val="787775"/>
                </a:solidFill>
                <a:highlight>
                  <a:srgbClr val="FFFFFF"/>
                </a:highlight>
              </a:rPr>
              <a:t>quimicas</a:t>
            </a:r>
            <a:r>
              <a:rPr lang="es-CO" sz="1100" dirty="0">
                <a:solidFill>
                  <a:srgbClr val="787775"/>
                </a:solidFill>
                <a:highlight>
                  <a:srgbClr val="FFFFFF"/>
                </a:highlight>
              </a:rPr>
              <a:t>, en Cali (Colombia). Revista peruana de ciencias de la salud. 2023; 5(2): p. 97-104.</a:t>
            </a:r>
          </a:p>
          <a:p>
            <a:r>
              <a:rPr lang="es-CO" sz="1100" dirty="0">
                <a:solidFill>
                  <a:srgbClr val="787775"/>
                </a:solidFill>
                <a:highlight>
                  <a:srgbClr val="FFFFFF"/>
                </a:highlight>
              </a:rPr>
              <a:t>- </a:t>
            </a:r>
            <a:r>
              <a:rPr lang="es-CO" sz="1100" dirty="0" err="1">
                <a:solidFill>
                  <a:srgbClr val="787775"/>
                </a:solidFill>
                <a:highlight>
                  <a:srgbClr val="FFFFFF"/>
                </a:highlight>
              </a:rPr>
              <a:t>Minujin</a:t>
            </a:r>
            <a:r>
              <a:rPr lang="es-CO" sz="1100" dirty="0">
                <a:solidFill>
                  <a:srgbClr val="787775"/>
                </a:solidFill>
                <a:highlight>
                  <a:srgbClr val="FFFFFF"/>
                </a:highlight>
              </a:rPr>
              <a:t> Z A, Vera F G. Manual de técnicas de evaluación y ajuste de información estadística Económica </a:t>
            </a:r>
            <a:r>
              <a:rPr lang="es-CO" sz="1100" dirty="0" err="1">
                <a:solidFill>
                  <a:srgbClr val="787775"/>
                </a:solidFill>
                <a:highlight>
                  <a:srgbClr val="FFFFFF"/>
                </a:highlight>
              </a:rPr>
              <a:t>FdC</a:t>
            </a:r>
            <a:r>
              <a:rPr lang="es-CO" sz="1100" dirty="0">
                <a:solidFill>
                  <a:srgbClr val="787775"/>
                </a:solidFill>
                <a:highlight>
                  <a:srgbClr val="FFFFFF"/>
                </a:highlight>
              </a:rPr>
              <a:t>, editor. </a:t>
            </a:r>
            <a:r>
              <a:rPr lang="es-CO" sz="1100" dirty="0" err="1">
                <a:solidFill>
                  <a:srgbClr val="787775"/>
                </a:solidFill>
                <a:highlight>
                  <a:srgbClr val="FFFFFF"/>
                </a:highlight>
              </a:rPr>
              <a:t>Mexico</a:t>
            </a:r>
            <a:r>
              <a:rPr lang="es-CO" sz="1100" dirty="0">
                <a:solidFill>
                  <a:srgbClr val="787775"/>
                </a:solidFill>
                <a:highlight>
                  <a:srgbClr val="FFFFFF"/>
                </a:highlight>
              </a:rPr>
              <a:t>: Centro Nacional de Información y Estadísticas del Trabajo; 1982.</a:t>
            </a:r>
          </a:p>
          <a:p>
            <a:r>
              <a:rPr lang="es-CO" sz="1100" dirty="0">
                <a:solidFill>
                  <a:srgbClr val="787775"/>
                </a:solidFill>
                <a:highlight>
                  <a:srgbClr val="FFFFFF"/>
                </a:highlight>
              </a:rPr>
              <a:t>- </a:t>
            </a:r>
            <a:r>
              <a:rPr lang="es-CO" sz="1100" dirty="0" err="1">
                <a:solidFill>
                  <a:srgbClr val="787775"/>
                </a:solidFill>
                <a:highlight>
                  <a:srgbClr val="FFFFFF"/>
                </a:highlight>
              </a:rPr>
              <a:t>World</a:t>
            </a:r>
            <a:r>
              <a:rPr lang="es-CO" sz="1100" dirty="0">
                <a:solidFill>
                  <a:srgbClr val="787775"/>
                </a:solidFill>
                <a:highlight>
                  <a:srgbClr val="FFFFFF"/>
                </a:highlight>
              </a:rPr>
              <a:t> </a:t>
            </a:r>
            <a:r>
              <a:rPr lang="es-CO" sz="1100" dirty="0" err="1">
                <a:solidFill>
                  <a:srgbClr val="787775"/>
                </a:solidFill>
                <a:highlight>
                  <a:srgbClr val="FFFFFF"/>
                </a:highlight>
              </a:rPr>
              <a:t>Health</a:t>
            </a:r>
            <a:r>
              <a:rPr lang="es-CO" sz="1100" dirty="0">
                <a:solidFill>
                  <a:srgbClr val="787775"/>
                </a:solidFill>
                <a:highlight>
                  <a:srgbClr val="FFFFFF"/>
                </a:highlight>
              </a:rPr>
              <a:t> Organization. </a:t>
            </a:r>
            <a:r>
              <a:rPr lang="en-US" sz="1100" dirty="0">
                <a:solidFill>
                  <a:srgbClr val="787775"/>
                </a:solidFill>
                <a:highlight>
                  <a:srgbClr val="FFFFFF"/>
                </a:highlight>
              </a:rPr>
              <a:t>WHO methods and data sources for country-level causes of death 2000-2019. Report </a:t>
            </a:r>
            <a:r>
              <a:rPr lang="en-US" sz="1100" dirty="0" err="1">
                <a:solidFill>
                  <a:srgbClr val="787775"/>
                </a:solidFill>
                <a:highlight>
                  <a:srgbClr val="FFFFFF"/>
                </a:highlight>
              </a:rPr>
              <a:t>techincal</a:t>
            </a:r>
            <a:r>
              <a:rPr lang="en-US" sz="1100" dirty="0">
                <a:solidFill>
                  <a:srgbClr val="787775"/>
                </a:solidFill>
                <a:highlight>
                  <a:srgbClr val="FFFFFF"/>
                </a:highlight>
              </a:rPr>
              <a:t>. Geneva: Division of Data, Analytics and Delivery for impact (DDI), Department of Data and Analytics (DNA); 2020.</a:t>
            </a:r>
            <a:endParaRPr lang="es-CO" sz="1100" dirty="0">
              <a:solidFill>
                <a:srgbClr val="787775"/>
              </a:solidFill>
              <a:highlight>
                <a:srgbClr val="FFFFFF"/>
              </a:highlight>
            </a:endParaRPr>
          </a:p>
          <a:p>
            <a:r>
              <a:rPr lang="en-US" sz="1100" dirty="0">
                <a:solidFill>
                  <a:srgbClr val="787775"/>
                </a:solidFill>
                <a:highlight>
                  <a:srgbClr val="FFFFFF"/>
                </a:highlight>
              </a:rPr>
              <a:t>- Lopez AD, </a:t>
            </a:r>
            <a:r>
              <a:rPr lang="en-US" sz="1100" dirty="0" err="1">
                <a:solidFill>
                  <a:srgbClr val="787775"/>
                </a:solidFill>
                <a:highlight>
                  <a:srgbClr val="FFFFFF"/>
                </a:highlight>
              </a:rPr>
              <a:t>Mathers</a:t>
            </a:r>
            <a:r>
              <a:rPr lang="en-US" sz="1100" dirty="0">
                <a:solidFill>
                  <a:srgbClr val="787775"/>
                </a:solidFill>
                <a:highlight>
                  <a:srgbClr val="FFFFFF"/>
                </a:highlight>
              </a:rPr>
              <a:t> CD, </a:t>
            </a:r>
            <a:r>
              <a:rPr lang="en-US" sz="1100" dirty="0" err="1">
                <a:solidFill>
                  <a:srgbClr val="787775"/>
                </a:solidFill>
                <a:highlight>
                  <a:srgbClr val="FFFFFF"/>
                </a:highlight>
              </a:rPr>
              <a:t>Ezatti</a:t>
            </a:r>
            <a:r>
              <a:rPr lang="en-US" sz="1100" dirty="0">
                <a:solidFill>
                  <a:srgbClr val="787775"/>
                </a:solidFill>
                <a:highlight>
                  <a:srgbClr val="FFFFFF"/>
                </a:highlight>
              </a:rPr>
              <a:t> M, Jamison DT, Murray C. Global Burden of Disease and Risk Factors: Oxford University Press and The World Bank; 2006.</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Zeng</a:t>
            </a:r>
            <a:r>
              <a:rPr lang="en-US" sz="1100" dirty="0">
                <a:solidFill>
                  <a:srgbClr val="787775"/>
                </a:solidFill>
                <a:highlight>
                  <a:srgbClr val="FFFFFF"/>
                </a:highlight>
              </a:rPr>
              <a:t> W, </a:t>
            </a:r>
            <a:r>
              <a:rPr lang="en-US" sz="1100" dirty="0" err="1">
                <a:solidFill>
                  <a:srgbClr val="787775"/>
                </a:solidFill>
                <a:highlight>
                  <a:srgbClr val="FFFFFF"/>
                </a:highlight>
              </a:rPr>
              <a:t>Halasa</a:t>
            </a:r>
            <a:r>
              <a:rPr lang="en-US" sz="1100" dirty="0">
                <a:solidFill>
                  <a:srgbClr val="787775"/>
                </a:solidFill>
                <a:highlight>
                  <a:srgbClr val="FFFFFF"/>
                </a:highlight>
              </a:rPr>
              <a:t>-Rappel YA, Durand L, </a:t>
            </a:r>
            <a:r>
              <a:rPr lang="en-US" sz="1100" dirty="0" err="1">
                <a:solidFill>
                  <a:srgbClr val="787775"/>
                </a:solidFill>
                <a:highlight>
                  <a:srgbClr val="FFFFFF"/>
                </a:highlight>
              </a:rPr>
              <a:t>Coudeville</a:t>
            </a:r>
            <a:r>
              <a:rPr lang="en-US" sz="1100" dirty="0">
                <a:solidFill>
                  <a:srgbClr val="787775"/>
                </a:solidFill>
                <a:highlight>
                  <a:srgbClr val="FFFFFF"/>
                </a:highlight>
              </a:rPr>
              <a:t> L, Shepard D. Impact of a Nonfatal Dengue Episode on Disability-Adjusted Life Years: A Systematic Analysis. American Journal Tropical Medicine and Hygiene. 2018;: p. 1458-1465.</a:t>
            </a:r>
            <a:endParaRPr lang="es-CO" sz="1100" dirty="0">
              <a:solidFill>
                <a:srgbClr val="787775"/>
              </a:solidFill>
              <a:highlight>
                <a:srgbClr val="FFFFFF"/>
              </a:highlight>
            </a:endParaRPr>
          </a:p>
          <a:p>
            <a:r>
              <a:rPr lang="en-US" sz="1100" dirty="0">
                <a:solidFill>
                  <a:srgbClr val="787775"/>
                </a:solidFill>
                <a:highlight>
                  <a:srgbClr val="FFFFFF"/>
                </a:highlight>
              </a:rPr>
              <a:t>- Salomon JA, </a:t>
            </a:r>
            <a:r>
              <a:rPr lang="en-US" sz="1100" dirty="0" err="1">
                <a:solidFill>
                  <a:srgbClr val="787775"/>
                </a:solidFill>
                <a:highlight>
                  <a:srgbClr val="FFFFFF"/>
                </a:highlight>
              </a:rPr>
              <a:t>Haagsma</a:t>
            </a:r>
            <a:r>
              <a:rPr lang="en-US" sz="1100" dirty="0">
                <a:solidFill>
                  <a:srgbClr val="787775"/>
                </a:solidFill>
                <a:highlight>
                  <a:srgbClr val="FFFFFF"/>
                </a:highlight>
              </a:rPr>
              <a:t> JA, Davis A, </a:t>
            </a:r>
            <a:r>
              <a:rPr lang="en-US" sz="1100" dirty="0" err="1">
                <a:solidFill>
                  <a:srgbClr val="787775"/>
                </a:solidFill>
                <a:highlight>
                  <a:srgbClr val="FFFFFF"/>
                </a:highlight>
              </a:rPr>
              <a:t>Maertens</a:t>
            </a:r>
            <a:r>
              <a:rPr lang="en-US" sz="1100" dirty="0">
                <a:solidFill>
                  <a:srgbClr val="787775"/>
                </a:solidFill>
                <a:highlight>
                  <a:srgbClr val="FFFFFF"/>
                </a:highlight>
              </a:rPr>
              <a:t> de </a:t>
            </a:r>
            <a:r>
              <a:rPr lang="en-US" sz="1100" dirty="0" err="1">
                <a:solidFill>
                  <a:srgbClr val="787775"/>
                </a:solidFill>
                <a:highlight>
                  <a:srgbClr val="FFFFFF"/>
                </a:highlight>
              </a:rPr>
              <a:t>Noordhout</a:t>
            </a:r>
            <a:r>
              <a:rPr lang="en-US" sz="1100" dirty="0">
                <a:solidFill>
                  <a:srgbClr val="787775"/>
                </a:solidFill>
                <a:highlight>
                  <a:srgbClr val="FFFFFF"/>
                </a:highlight>
              </a:rPr>
              <a:t> C, </a:t>
            </a:r>
            <a:r>
              <a:rPr lang="en-US" sz="1100" dirty="0" err="1">
                <a:solidFill>
                  <a:srgbClr val="787775"/>
                </a:solidFill>
                <a:highlight>
                  <a:srgbClr val="FFFFFF"/>
                </a:highlight>
              </a:rPr>
              <a:t>Polinder</a:t>
            </a:r>
            <a:r>
              <a:rPr lang="en-US" sz="1100" dirty="0">
                <a:solidFill>
                  <a:srgbClr val="787775"/>
                </a:solidFill>
                <a:highlight>
                  <a:srgbClr val="FFFFFF"/>
                </a:highlight>
              </a:rPr>
              <a:t> S, </a:t>
            </a:r>
            <a:r>
              <a:rPr lang="en-US" sz="1100" dirty="0" err="1">
                <a:solidFill>
                  <a:srgbClr val="787775"/>
                </a:solidFill>
                <a:highlight>
                  <a:srgbClr val="FFFFFF"/>
                </a:highlight>
              </a:rPr>
              <a:t>Havelaar</a:t>
            </a:r>
            <a:r>
              <a:rPr lang="en-US" sz="1100" dirty="0">
                <a:solidFill>
                  <a:srgbClr val="787775"/>
                </a:solidFill>
                <a:highlight>
                  <a:srgbClr val="FFFFFF"/>
                </a:highlight>
              </a:rPr>
              <a:t> A, et al. Disability weights for the Global Burden of Disease 2013 study. Lancet. </a:t>
            </a:r>
            <a:r>
              <a:rPr lang="es-CO" sz="1100" dirty="0">
                <a:solidFill>
                  <a:srgbClr val="787775"/>
                </a:solidFill>
                <a:highlight>
                  <a:srgbClr val="FFFFFF"/>
                </a:highlight>
              </a:rPr>
              <a:t>2015 Noviembre; 3.</a:t>
            </a:r>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Bibliografía</a:t>
            </a:r>
            <a:endParaRPr lang="es-CO" dirty="0"/>
          </a:p>
        </p:txBody>
      </p:sp>
    </p:spTree>
    <p:extLst>
      <p:ext uri="{BB962C8B-B14F-4D97-AF65-F5344CB8AC3E}">
        <p14:creationId xmlns:p14="http://schemas.microsoft.com/office/powerpoint/2010/main" val="3260266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10" name="13 Rectángulo">
            <a:extLst>
              <a:ext uri="{FF2B5EF4-FFF2-40B4-BE49-F238E27FC236}">
                <a16:creationId xmlns:a16="http://schemas.microsoft.com/office/drawing/2014/main" id="{13A3802A-FB7A-4C6A-A2F3-4C4AE5972C9F}"/>
              </a:ext>
            </a:extLst>
          </p:cNvPr>
          <p:cNvSpPr/>
          <p:nvPr/>
        </p:nvSpPr>
        <p:spPr>
          <a:xfrm>
            <a:off x="1524867" y="6538748"/>
            <a:ext cx="4741729" cy="327782"/>
          </a:xfrm>
          <a:prstGeom prst="rect">
            <a:avLst/>
          </a:prstGeom>
          <a:noFill/>
        </p:spPr>
        <p:txBody>
          <a:bodyPr wrap="square">
            <a:spAutoFit/>
          </a:bodyPr>
          <a:lstStyle/>
          <a:p>
            <a:r>
              <a:rPr lang="es-CO" sz="765" b="1" dirty="0"/>
              <a:t>Fuente: </a:t>
            </a:r>
            <a:r>
              <a:rPr lang="es-CO" sz="765" dirty="0"/>
              <a:t>Elaboración propia</a:t>
            </a:r>
          </a:p>
          <a:p>
            <a:r>
              <a:rPr lang="es-CO" sz="765" b="1" dirty="0"/>
              <a:t>Fuente Datos:</a:t>
            </a:r>
            <a:r>
              <a:rPr lang="es-CO" sz="765" dirty="0"/>
              <a:t> Secretaría Distrital de Salud Pública – Registros SIVIGILA</a:t>
            </a:r>
          </a:p>
        </p:txBody>
      </p:sp>
      <p:sp>
        <p:nvSpPr>
          <p:cNvPr id="7" name="Google Shape;90;p14">
            <a:extLst>
              <a:ext uri="{FF2B5EF4-FFF2-40B4-BE49-F238E27FC236}">
                <a16:creationId xmlns:a16="http://schemas.microsoft.com/office/drawing/2014/main" id="{44CA7F14-818F-48C2-BCBE-DF6AA5087B1A}"/>
              </a:ext>
            </a:extLst>
          </p:cNvPr>
          <p:cNvSpPr txBox="1"/>
          <p:nvPr/>
        </p:nvSpPr>
        <p:spPr>
          <a:xfrm>
            <a:off x="458352" y="2204864"/>
            <a:ext cx="11294341" cy="3477835"/>
          </a:xfrm>
          <a:prstGeom prst="rect">
            <a:avLst/>
          </a:prstGeom>
          <a:noFill/>
          <a:ln>
            <a:noFill/>
          </a:ln>
        </p:spPr>
        <p:txBody>
          <a:bodyPr spcFirstLastPara="1" wrap="square" lIns="91425" tIns="45700" rIns="91425" bIns="45700" anchor="t" anchorCtr="0">
            <a:spAutoFit/>
          </a:bodyPr>
          <a:lstStyle/>
          <a:p>
            <a:r>
              <a:rPr lang="es-CO" sz="1100" dirty="0">
                <a:solidFill>
                  <a:srgbClr val="787775"/>
                </a:solidFill>
                <a:highlight>
                  <a:srgbClr val="FFFFFF"/>
                </a:highlight>
              </a:rPr>
              <a:t>- P. M L, </a:t>
            </a:r>
            <a:r>
              <a:rPr lang="es-CO" sz="1100" dirty="0" err="1">
                <a:solidFill>
                  <a:srgbClr val="787775"/>
                </a:solidFill>
                <a:highlight>
                  <a:srgbClr val="FFFFFF"/>
                </a:highlight>
              </a:rPr>
              <a:t>Grinsztejn</a:t>
            </a:r>
            <a:r>
              <a:rPr lang="es-CO" sz="1100" dirty="0">
                <a:solidFill>
                  <a:srgbClr val="787775"/>
                </a:solidFill>
                <a:highlight>
                  <a:srgbClr val="FFFFFF"/>
                </a:highlight>
              </a:rPr>
              <a:t> B, </a:t>
            </a:r>
            <a:r>
              <a:rPr lang="es-CO" sz="1100" dirty="0" err="1">
                <a:solidFill>
                  <a:srgbClr val="787775"/>
                </a:solidFill>
                <a:highlight>
                  <a:srgbClr val="FFFFFF"/>
                </a:highlight>
              </a:rPr>
              <a:t>Galvani</a:t>
            </a:r>
            <a:r>
              <a:rPr lang="es-CO" sz="1100" dirty="0">
                <a:solidFill>
                  <a:srgbClr val="787775"/>
                </a:solidFill>
                <a:highlight>
                  <a:srgbClr val="FFFFFF"/>
                </a:highlight>
              </a:rPr>
              <a:t> AP. </a:t>
            </a:r>
            <a:r>
              <a:rPr lang="en-US" sz="1100" dirty="0">
                <a:solidFill>
                  <a:srgbClr val="787775"/>
                </a:solidFill>
                <a:highlight>
                  <a:srgbClr val="FFFFFF"/>
                </a:highlight>
              </a:rPr>
              <a:t>Disability adjusted life years lost to dengue in Brazil. Tropical Medicine and International Health. 2009 </a:t>
            </a:r>
            <a:r>
              <a:rPr lang="en-US" sz="1100" dirty="0" err="1">
                <a:solidFill>
                  <a:srgbClr val="787775"/>
                </a:solidFill>
                <a:highlight>
                  <a:srgbClr val="FFFFFF"/>
                </a:highlight>
              </a:rPr>
              <a:t>Febrero</a:t>
            </a:r>
            <a:r>
              <a:rPr lang="en-US" sz="1100" dirty="0">
                <a:solidFill>
                  <a:srgbClr val="787775"/>
                </a:solidFill>
                <a:highlight>
                  <a:srgbClr val="FFFFFF"/>
                </a:highlight>
              </a:rPr>
              <a:t>; 14(2): p. 237-246.</a:t>
            </a:r>
            <a:endParaRPr lang="es-CO" sz="1100" dirty="0">
              <a:solidFill>
                <a:srgbClr val="787775"/>
              </a:solidFill>
              <a:highlight>
                <a:srgbClr val="FFFFFF"/>
              </a:highlight>
            </a:endParaRPr>
          </a:p>
          <a:p>
            <a:r>
              <a:rPr lang="en-US" sz="1100" dirty="0">
                <a:solidFill>
                  <a:srgbClr val="787775"/>
                </a:solidFill>
                <a:highlight>
                  <a:srgbClr val="FFFFFF"/>
                </a:highlight>
              </a:rPr>
              <a:t>- Meltzer M, </a:t>
            </a:r>
            <a:r>
              <a:rPr lang="en-US" sz="1100" dirty="0" err="1">
                <a:solidFill>
                  <a:srgbClr val="787775"/>
                </a:solidFill>
                <a:highlight>
                  <a:srgbClr val="FFFFFF"/>
                </a:highlight>
              </a:rPr>
              <a:t>Rigau</a:t>
            </a:r>
            <a:r>
              <a:rPr lang="en-US" sz="1100" dirty="0">
                <a:solidFill>
                  <a:srgbClr val="787775"/>
                </a:solidFill>
                <a:highlight>
                  <a:srgbClr val="FFFFFF"/>
                </a:highlight>
              </a:rPr>
              <a:t>-Perez J, Clark G, Reiter P, </a:t>
            </a:r>
            <a:r>
              <a:rPr lang="en-US" sz="1100" dirty="0" err="1">
                <a:solidFill>
                  <a:srgbClr val="787775"/>
                </a:solidFill>
                <a:highlight>
                  <a:srgbClr val="FFFFFF"/>
                </a:highlight>
              </a:rPr>
              <a:t>Gubler</a:t>
            </a:r>
            <a:r>
              <a:rPr lang="en-US" sz="1100" dirty="0">
                <a:solidFill>
                  <a:srgbClr val="787775"/>
                </a:solidFill>
                <a:highlight>
                  <a:srgbClr val="FFFFFF"/>
                </a:highlight>
              </a:rPr>
              <a:t> D. Using Disability- adjusted life years to assess the economic impact. J. Trop. Med. 1998;: p. 265-271.</a:t>
            </a:r>
            <a:endParaRPr lang="es-CO" sz="1100" dirty="0">
              <a:solidFill>
                <a:srgbClr val="787775"/>
              </a:solidFill>
              <a:highlight>
                <a:srgbClr val="FFFFFF"/>
              </a:highlight>
            </a:endParaRPr>
          </a:p>
          <a:p>
            <a:r>
              <a:rPr lang="en-US" sz="1100" dirty="0">
                <a:solidFill>
                  <a:srgbClr val="787775"/>
                </a:solidFill>
                <a:highlight>
                  <a:srgbClr val="FFFFFF"/>
                </a:highlight>
              </a:rPr>
              <a:t>- Anderson KB, </a:t>
            </a:r>
            <a:r>
              <a:rPr lang="en-US" sz="1100" dirty="0" err="1">
                <a:solidFill>
                  <a:srgbClr val="787775"/>
                </a:solidFill>
                <a:highlight>
                  <a:srgbClr val="FFFFFF"/>
                </a:highlight>
              </a:rPr>
              <a:t>Chunsuttiwat</a:t>
            </a:r>
            <a:r>
              <a:rPr lang="en-US" sz="1100" dirty="0">
                <a:solidFill>
                  <a:srgbClr val="787775"/>
                </a:solidFill>
                <a:highlight>
                  <a:srgbClr val="FFFFFF"/>
                </a:highlight>
              </a:rPr>
              <a:t> S, </a:t>
            </a:r>
            <a:r>
              <a:rPr lang="en-US" sz="1100" dirty="0" err="1">
                <a:solidFill>
                  <a:srgbClr val="787775"/>
                </a:solidFill>
                <a:highlight>
                  <a:srgbClr val="FFFFFF"/>
                </a:highlight>
              </a:rPr>
              <a:t>Nisalak</a:t>
            </a:r>
            <a:r>
              <a:rPr lang="en-US" sz="1100" dirty="0">
                <a:solidFill>
                  <a:srgbClr val="787775"/>
                </a:solidFill>
                <a:highlight>
                  <a:srgbClr val="FFFFFF"/>
                </a:highlight>
              </a:rPr>
              <a:t> A, </a:t>
            </a:r>
            <a:r>
              <a:rPr lang="en-US" sz="1100" dirty="0" err="1">
                <a:solidFill>
                  <a:srgbClr val="787775"/>
                </a:solidFill>
                <a:highlight>
                  <a:srgbClr val="FFFFFF"/>
                </a:highlight>
              </a:rPr>
              <a:t>Mammen</a:t>
            </a:r>
            <a:r>
              <a:rPr lang="en-US" sz="1100" dirty="0">
                <a:solidFill>
                  <a:srgbClr val="787775"/>
                </a:solidFill>
                <a:highlight>
                  <a:srgbClr val="FFFFFF"/>
                </a:highlight>
              </a:rPr>
              <a:t> P, </a:t>
            </a:r>
            <a:r>
              <a:rPr lang="en-US" sz="1100" dirty="0" err="1">
                <a:solidFill>
                  <a:srgbClr val="787775"/>
                </a:solidFill>
                <a:highlight>
                  <a:srgbClr val="FFFFFF"/>
                </a:highlight>
              </a:rPr>
              <a:t>Libraty</a:t>
            </a:r>
            <a:r>
              <a:rPr lang="en-US" sz="1100" dirty="0">
                <a:solidFill>
                  <a:srgbClr val="787775"/>
                </a:solidFill>
                <a:highlight>
                  <a:srgbClr val="FFFFFF"/>
                </a:highlight>
              </a:rPr>
              <a:t> D, Rothman A. Burden of symptomatic dengue infection in children at primary school in Thailand: a prospective study. Lancet. ; 369(</a:t>
            </a:r>
            <a:r>
              <a:rPr lang="en-US" sz="1100" dirty="0" err="1">
                <a:solidFill>
                  <a:srgbClr val="787775"/>
                </a:solidFill>
                <a:highlight>
                  <a:srgbClr val="FFFFFF"/>
                </a:highlight>
              </a:rPr>
              <a:t>DOI:https</a:t>
            </a:r>
            <a:r>
              <a:rPr lang="en-US" sz="1100" dirty="0">
                <a:solidFill>
                  <a:srgbClr val="787775"/>
                </a:solidFill>
                <a:highlight>
                  <a:srgbClr val="FFFFFF"/>
                </a:highlight>
              </a:rPr>
              <a:t>://doi.org/10.1016/S0140-6736(07)60671-0): p. 1452-1459.</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Mausner</a:t>
            </a:r>
            <a:r>
              <a:rPr lang="en-US" sz="1100" dirty="0">
                <a:solidFill>
                  <a:srgbClr val="787775"/>
                </a:solidFill>
                <a:highlight>
                  <a:srgbClr val="FFFFFF"/>
                </a:highlight>
              </a:rPr>
              <a:t> JS, </a:t>
            </a:r>
            <a:r>
              <a:rPr lang="en-US" sz="1100" dirty="0" err="1">
                <a:solidFill>
                  <a:srgbClr val="787775"/>
                </a:solidFill>
                <a:highlight>
                  <a:srgbClr val="FFFFFF"/>
                </a:highlight>
              </a:rPr>
              <a:t>Bahn</a:t>
            </a:r>
            <a:r>
              <a:rPr lang="en-US" sz="1100" dirty="0">
                <a:solidFill>
                  <a:srgbClr val="787775"/>
                </a:solidFill>
                <a:highlight>
                  <a:srgbClr val="FFFFFF"/>
                </a:highlight>
              </a:rPr>
              <a:t> AK. Epidemiology, An Introductory Text. 1st ed. </a:t>
            </a:r>
            <a:r>
              <a:rPr lang="es-CO" sz="1100" dirty="0" err="1">
                <a:solidFill>
                  <a:srgbClr val="787775"/>
                </a:solidFill>
                <a:highlight>
                  <a:srgbClr val="FFFFFF"/>
                </a:highlight>
              </a:rPr>
              <a:t>Company</a:t>
            </a:r>
            <a:r>
              <a:rPr lang="es-CO" sz="1100" dirty="0">
                <a:solidFill>
                  <a:srgbClr val="787775"/>
                </a:solidFill>
                <a:highlight>
                  <a:srgbClr val="FFFFFF"/>
                </a:highlight>
              </a:rPr>
              <a:t> S, editor. </a:t>
            </a:r>
            <a:r>
              <a:rPr lang="es-CO" sz="1100" dirty="0" err="1">
                <a:solidFill>
                  <a:srgbClr val="787775"/>
                </a:solidFill>
                <a:highlight>
                  <a:srgbClr val="FFFFFF"/>
                </a:highlight>
              </a:rPr>
              <a:t>Philadelphia</a:t>
            </a:r>
            <a:r>
              <a:rPr lang="es-CO" sz="1100" dirty="0">
                <a:solidFill>
                  <a:srgbClr val="787775"/>
                </a:solidFill>
                <a:highlight>
                  <a:srgbClr val="FFFFFF"/>
                </a:highlight>
              </a:rPr>
              <a:t>: Nueva editorial interamericana; 1977.</a:t>
            </a:r>
          </a:p>
          <a:p>
            <a:r>
              <a:rPr lang="es-CO" sz="1100" dirty="0">
                <a:solidFill>
                  <a:srgbClr val="787775"/>
                </a:solidFill>
                <a:highlight>
                  <a:srgbClr val="FFFFFF"/>
                </a:highlight>
              </a:rPr>
              <a:t>- Organización Panamericana de la Salud. OPS. Organización Mundial de la Salud. Oficina regional para las </a:t>
            </a:r>
            <a:r>
              <a:rPr lang="es-CO" sz="1100" dirty="0" err="1">
                <a:solidFill>
                  <a:srgbClr val="787775"/>
                </a:solidFill>
                <a:highlight>
                  <a:srgbClr val="FFFFFF"/>
                </a:highlight>
              </a:rPr>
              <a:t>Americas</a:t>
            </a:r>
            <a:r>
              <a:rPr lang="es-CO" sz="1100" dirty="0">
                <a:solidFill>
                  <a:srgbClr val="787775"/>
                </a:solidFill>
                <a:highlight>
                  <a:srgbClr val="FFFFFF"/>
                </a:highlight>
              </a:rPr>
              <a:t>. [Online].; 2023 [</a:t>
            </a:r>
            <a:r>
              <a:rPr lang="es-CO" sz="1100" dirty="0" err="1">
                <a:solidFill>
                  <a:srgbClr val="787775"/>
                </a:solidFill>
                <a:highlight>
                  <a:srgbClr val="FFFFFF"/>
                </a:highlight>
              </a:rPr>
              <a:t>cited</a:t>
            </a:r>
            <a:r>
              <a:rPr lang="es-CO" sz="1100" dirty="0">
                <a:solidFill>
                  <a:srgbClr val="787775"/>
                </a:solidFill>
                <a:highlight>
                  <a:srgbClr val="FFFFFF"/>
                </a:highlight>
              </a:rPr>
              <a:t> 2023 Octubre 31. </a:t>
            </a:r>
            <a:r>
              <a:rPr lang="es-CO" sz="1100" dirty="0" err="1">
                <a:solidFill>
                  <a:srgbClr val="787775"/>
                </a:solidFill>
                <a:highlight>
                  <a:srgbClr val="FFFFFF"/>
                </a:highlight>
              </a:rPr>
              <a:t>Available</a:t>
            </a:r>
            <a:r>
              <a:rPr lang="es-CO" sz="1100" dirty="0">
                <a:solidFill>
                  <a:srgbClr val="787775"/>
                </a:solidFill>
                <a:highlight>
                  <a:srgbClr val="FFFFFF"/>
                </a:highlight>
              </a:rPr>
              <a:t> </a:t>
            </a:r>
            <a:r>
              <a:rPr lang="es-CO" sz="1100" dirty="0" err="1">
                <a:solidFill>
                  <a:srgbClr val="787775"/>
                </a:solidFill>
                <a:highlight>
                  <a:srgbClr val="FFFFFF"/>
                </a:highlight>
              </a:rPr>
              <a:t>from</a:t>
            </a:r>
            <a:r>
              <a:rPr lang="es-CO" sz="1100" dirty="0">
                <a:solidFill>
                  <a:srgbClr val="787775"/>
                </a:solidFill>
                <a:highlight>
                  <a:srgbClr val="FFFFFF"/>
                </a:highlight>
              </a:rPr>
              <a:t>: https://www.paho.org/es/datos-visualizaciones.</a:t>
            </a:r>
          </a:p>
          <a:p>
            <a:r>
              <a:rPr lang="en-US" sz="1100" dirty="0">
                <a:solidFill>
                  <a:srgbClr val="787775"/>
                </a:solidFill>
                <a:highlight>
                  <a:srgbClr val="FFFFFF"/>
                </a:highlight>
              </a:rPr>
              <a:t>- </a:t>
            </a:r>
            <a:r>
              <a:rPr lang="en-US" sz="1100" dirty="0" err="1">
                <a:solidFill>
                  <a:srgbClr val="787775"/>
                </a:solidFill>
                <a:highlight>
                  <a:srgbClr val="FFFFFF"/>
                </a:highlight>
              </a:rPr>
              <a:t>Sirisena</a:t>
            </a:r>
            <a:r>
              <a:rPr lang="en-US" sz="1100" dirty="0">
                <a:solidFill>
                  <a:srgbClr val="787775"/>
                </a:solidFill>
                <a:highlight>
                  <a:srgbClr val="FFFFFF"/>
                </a:highlight>
              </a:rPr>
              <a:t> PD, </a:t>
            </a:r>
            <a:r>
              <a:rPr lang="en-US" sz="1100" dirty="0" err="1">
                <a:solidFill>
                  <a:srgbClr val="787775"/>
                </a:solidFill>
                <a:highlight>
                  <a:srgbClr val="FFFFFF"/>
                </a:highlight>
              </a:rPr>
              <a:t>Shakuntala</a:t>
            </a:r>
            <a:r>
              <a:rPr lang="en-US" sz="1100" dirty="0">
                <a:solidFill>
                  <a:srgbClr val="787775"/>
                </a:solidFill>
                <a:highlight>
                  <a:srgbClr val="FFFFFF"/>
                </a:highlight>
              </a:rPr>
              <a:t> M, </a:t>
            </a:r>
            <a:r>
              <a:rPr lang="en-US" sz="1100" dirty="0" err="1">
                <a:solidFill>
                  <a:srgbClr val="787775"/>
                </a:solidFill>
                <a:highlight>
                  <a:srgbClr val="FFFFFF"/>
                </a:highlight>
              </a:rPr>
              <a:t>Chetan</a:t>
            </a:r>
            <a:r>
              <a:rPr lang="en-US" sz="1100" dirty="0">
                <a:solidFill>
                  <a:srgbClr val="787775"/>
                </a:solidFill>
                <a:highlight>
                  <a:srgbClr val="FFFFFF"/>
                </a:highlight>
              </a:rPr>
              <a:t> S, </a:t>
            </a:r>
            <a:r>
              <a:rPr lang="en-US" sz="1100" dirty="0" err="1">
                <a:solidFill>
                  <a:srgbClr val="787775"/>
                </a:solidFill>
                <a:highlight>
                  <a:srgbClr val="FFFFFF"/>
                </a:highlight>
              </a:rPr>
              <a:t>Jaspreet</a:t>
            </a:r>
            <a:r>
              <a:rPr lang="en-US" sz="1100" dirty="0">
                <a:solidFill>
                  <a:srgbClr val="787775"/>
                </a:solidFill>
                <a:highlight>
                  <a:srgbClr val="FFFFFF"/>
                </a:highlight>
              </a:rPr>
              <a:t> J, </a:t>
            </a:r>
            <a:r>
              <a:rPr lang="en-US" sz="1100" dirty="0" err="1">
                <a:solidFill>
                  <a:srgbClr val="787775"/>
                </a:solidFill>
                <a:highlight>
                  <a:srgbClr val="FFFFFF"/>
                </a:highlight>
              </a:rPr>
              <a:t>Sujatha</a:t>
            </a:r>
            <a:r>
              <a:rPr lang="en-US" sz="1100" dirty="0">
                <a:solidFill>
                  <a:srgbClr val="787775"/>
                </a:solidFill>
                <a:highlight>
                  <a:srgbClr val="FFFFFF"/>
                </a:highlight>
              </a:rPr>
              <a:t> S. Concurrent dengue infections: Epidemiology &amp; clinical implications. Indian Journal of Medical Research. 2021 </a:t>
            </a:r>
            <a:r>
              <a:rPr lang="en-US" sz="1100" dirty="0" err="1">
                <a:solidFill>
                  <a:srgbClr val="787775"/>
                </a:solidFill>
                <a:highlight>
                  <a:srgbClr val="FFFFFF"/>
                </a:highlight>
              </a:rPr>
              <a:t>Noviembre</a:t>
            </a:r>
            <a:r>
              <a:rPr lang="en-US" sz="1100" dirty="0">
                <a:solidFill>
                  <a:srgbClr val="787775"/>
                </a:solidFill>
                <a:highlight>
                  <a:srgbClr val="FFFFFF"/>
                </a:highlight>
              </a:rPr>
              <a:t>; 154(5): p. 669-679.</a:t>
            </a:r>
            <a:endParaRPr lang="es-CO" sz="1100" dirty="0">
              <a:solidFill>
                <a:srgbClr val="787775"/>
              </a:solidFill>
              <a:highlight>
                <a:srgbClr val="FFFFFF"/>
              </a:highlight>
            </a:endParaRPr>
          </a:p>
          <a:p>
            <a:r>
              <a:rPr lang="en-US" sz="1100" dirty="0">
                <a:solidFill>
                  <a:srgbClr val="787775"/>
                </a:solidFill>
                <a:highlight>
                  <a:srgbClr val="FFFFFF"/>
                </a:highlight>
              </a:rPr>
              <a:t>- </a:t>
            </a:r>
            <a:r>
              <a:rPr lang="en-US" sz="1100" dirty="0" err="1">
                <a:solidFill>
                  <a:srgbClr val="787775"/>
                </a:solidFill>
                <a:highlight>
                  <a:srgbClr val="FFFFFF"/>
                </a:highlight>
              </a:rPr>
              <a:t>Khanam</a:t>
            </a:r>
            <a:r>
              <a:rPr lang="en-US" sz="1100" dirty="0">
                <a:solidFill>
                  <a:srgbClr val="787775"/>
                </a:solidFill>
                <a:highlight>
                  <a:srgbClr val="FFFFFF"/>
                </a:highlight>
              </a:rPr>
              <a:t> A, Gutierrez H, </a:t>
            </a:r>
            <a:r>
              <a:rPr lang="en-US" sz="1100" dirty="0" err="1">
                <a:solidFill>
                  <a:srgbClr val="787775"/>
                </a:solidFill>
                <a:highlight>
                  <a:srgbClr val="FFFFFF"/>
                </a:highlight>
              </a:rPr>
              <a:t>Lyke</a:t>
            </a:r>
            <a:r>
              <a:rPr lang="en-US" sz="1100" dirty="0">
                <a:solidFill>
                  <a:srgbClr val="787775"/>
                </a:solidFill>
                <a:highlight>
                  <a:srgbClr val="FFFFFF"/>
                </a:highlight>
              </a:rPr>
              <a:t> K, Chua J. Immune-Mediated Pathogenesis in Dengue Virus Infection. </a:t>
            </a:r>
            <a:r>
              <a:rPr lang="es-CO" sz="1100" dirty="0">
                <a:solidFill>
                  <a:srgbClr val="787775"/>
                </a:solidFill>
                <a:highlight>
                  <a:srgbClr val="FFFFFF"/>
                </a:highlight>
              </a:rPr>
              <a:t>2022 Noviembre; 14(11).</a:t>
            </a:r>
          </a:p>
          <a:p>
            <a:r>
              <a:rPr lang="es-CO" sz="1100" dirty="0"/>
              <a:t> </a:t>
            </a:r>
            <a:r>
              <a:rPr lang="en-US" sz="1100" noProof="1">
                <a:solidFill>
                  <a:srgbClr val="787775"/>
                </a:solidFill>
                <a:highlight>
                  <a:srgbClr val="FFFFFF"/>
                </a:highlight>
              </a:rPr>
              <a:t>Bello et al (2010) Aproximación a los costos de la atención de pacientes durante la epidemia por virus Dengue Colombia 2010.</a:t>
            </a:r>
          </a:p>
          <a:p>
            <a:pPr lvl="0"/>
            <a:r>
              <a:rPr lang="en-US" sz="1100" noProof="1">
                <a:solidFill>
                  <a:srgbClr val="787775"/>
                </a:solidFill>
                <a:highlight>
                  <a:srgbClr val="FFFFFF"/>
                </a:highlight>
              </a:rPr>
              <a:t>Castañeda-Orejuela et al (2012) Burden of Disease and Economic Impact of Dengue and Severe Dengue in Colombia, 2011 </a:t>
            </a:r>
          </a:p>
          <a:p>
            <a:pPr lvl="0"/>
            <a:r>
              <a:rPr lang="en-US" sz="1100" noProof="1">
                <a:solidFill>
                  <a:srgbClr val="787775"/>
                </a:solidFill>
                <a:highlight>
                  <a:srgbClr val="FFFFFF"/>
                </a:highlight>
              </a:rPr>
              <a:t>Castro Rodriguez et al (2014) Costs of Dengue to the Health System and Individuals in Colombia from 2010 to 2012</a:t>
            </a:r>
          </a:p>
          <a:p>
            <a:pPr lvl="0"/>
            <a:r>
              <a:rPr lang="en-US" sz="1100" noProof="1">
                <a:solidFill>
                  <a:srgbClr val="787775"/>
                </a:solidFill>
                <a:highlight>
                  <a:srgbClr val="FFFFFF"/>
                </a:highlight>
              </a:rPr>
              <a:t>Castro Rodriguez et al (2016) The Burden of Dengue and the Financial Cost to Colombia, 2010-2012</a:t>
            </a:r>
          </a:p>
          <a:p>
            <a:r>
              <a:rPr lang="en-US" sz="1100" dirty="0" err="1">
                <a:solidFill>
                  <a:srgbClr val="787775"/>
                </a:solidFill>
                <a:highlight>
                  <a:srgbClr val="FFFFFF"/>
                </a:highlight>
              </a:rPr>
              <a:t>Cropper,Maureen</a:t>
            </a:r>
            <a:r>
              <a:rPr lang="en-US" sz="1100" dirty="0">
                <a:solidFill>
                  <a:srgbClr val="787775"/>
                </a:solidFill>
                <a:highlight>
                  <a:srgbClr val="FFFFFF"/>
                </a:highlight>
              </a:rPr>
              <a:t> L.; </a:t>
            </a:r>
            <a:r>
              <a:rPr lang="en-US" sz="1100" dirty="0" err="1">
                <a:solidFill>
                  <a:srgbClr val="787775"/>
                </a:solidFill>
                <a:highlight>
                  <a:srgbClr val="FFFFFF"/>
                </a:highlight>
              </a:rPr>
              <a:t>Sahin,Sebnem</a:t>
            </a:r>
            <a:r>
              <a:rPr lang="en-US" sz="1100" dirty="0">
                <a:solidFill>
                  <a:srgbClr val="787775"/>
                </a:solidFill>
                <a:highlight>
                  <a:srgbClr val="FFFFFF"/>
                </a:highlight>
              </a:rPr>
              <a:t>. (2009) Valuing mortality and morbidity in the context of disaster risks (English). Policy Research working paper; no. WPS 4832 Washington, D.C. : World Bank Group.</a:t>
            </a:r>
            <a:endParaRPr lang="es-CO" sz="1100" dirty="0">
              <a:solidFill>
                <a:srgbClr val="787775"/>
              </a:solidFill>
              <a:highlight>
                <a:srgbClr val="FFFFFF"/>
              </a:highlight>
            </a:endParaRPr>
          </a:p>
          <a:p>
            <a:r>
              <a:rPr lang="en-US" sz="1100" dirty="0" err="1">
                <a:solidFill>
                  <a:srgbClr val="787775"/>
                </a:solidFill>
                <a:highlight>
                  <a:srgbClr val="FFFFFF"/>
                </a:highlight>
              </a:rPr>
              <a:t>Mardones</a:t>
            </a:r>
            <a:r>
              <a:rPr lang="en-US" sz="1100" dirty="0">
                <a:solidFill>
                  <a:srgbClr val="787775"/>
                </a:solidFill>
                <a:highlight>
                  <a:srgbClr val="FFFFFF"/>
                </a:highlight>
              </a:rPr>
              <a:t>, </a:t>
            </a:r>
            <a:r>
              <a:rPr lang="en-US" sz="1100" dirty="0" err="1">
                <a:solidFill>
                  <a:srgbClr val="787775"/>
                </a:solidFill>
                <a:highlight>
                  <a:srgbClr val="FFFFFF"/>
                </a:highlight>
              </a:rPr>
              <a:t>Cristian</a:t>
            </a:r>
            <a:r>
              <a:rPr lang="en-US" sz="1100" dirty="0">
                <a:solidFill>
                  <a:srgbClr val="787775"/>
                </a:solidFill>
                <a:highlight>
                  <a:srgbClr val="FFFFFF"/>
                </a:highlight>
              </a:rPr>
              <a:t> &amp; </a:t>
            </a:r>
            <a:r>
              <a:rPr lang="en-US" sz="1100" dirty="0" err="1">
                <a:solidFill>
                  <a:srgbClr val="787775"/>
                </a:solidFill>
                <a:highlight>
                  <a:srgbClr val="FFFFFF"/>
                </a:highlight>
              </a:rPr>
              <a:t>Riquelme</a:t>
            </a:r>
            <a:r>
              <a:rPr lang="en-US" sz="1100" dirty="0">
                <a:solidFill>
                  <a:srgbClr val="787775"/>
                </a:solidFill>
                <a:highlight>
                  <a:srgbClr val="FFFFFF"/>
                </a:highlight>
              </a:rPr>
              <a:t>, Marcelo. (2018). Estimation of the Value of Statistical Life in Chile and Extrapolation to Other Latin American Countries. Latin American Research Review. 53. 815-830</a:t>
            </a:r>
            <a:br>
              <a:rPr lang="en-US" sz="1100" dirty="0">
                <a:solidFill>
                  <a:srgbClr val="787775"/>
                </a:solidFill>
                <a:highlight>
                  <a:srgbClr val="FFFFFF"/>
                </a:highlight>
              </a:rPr>
            </a:br>
            <a:endParaRPr lang="en-US" sz="1100" noProof="1">
              <a:solidFill>
                <a:srgbClr val="787775"/>
              </a:solidFill>
              <a:highlight>
                <a:srgbClr val="FFFFFF"/>
              </a:highlight>
            </a:endParaRPr>
          </a:p>
          <a:p>
            <a:pPr marL="171450" indent="-171450">
              <a:buFontTx/>
              <a:buChar char="-"/>
            </a:pPr>
            <a:endParaRPr lang="es-CO" sz="1100" dirty="0"/>
          </a:p>
        </p:txBody>
      </p:sp>
      <p:sp>
        <p:nvSpPr>
          <p:cNvPr id="8" name="Google Shape;89;p14">
            <a:extLst>
              <a:ext uri="{FF2B5EF4-FFF2-40B4-BE49-F238E27FC236}">
                <a16:creationId xmlns:a16="http://schemas.microsoft.com/office/drawing/2014/main" id="{01A68556-98CB-433B-9E9D-9D3F547B477B}"/>
              </a:ext>
            </a:extLst>
          </p:cNvPr>
          <p:cNvSpPr txBox="1"/>
          <p:nvPr/>
        </p:nvSpPr>
        <p:spPr>
          <a:xfrm>
            <a:off x="458354" y="1581425"/>
            <a:ext cx="9022022"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3000" b="1" dirty="0">
                <a:solidFill>
                  <a:srgbClr val="009D7E"/>
                </a:solidFill>
                <a:latin typeface="Arial"/>
                <a:ea typeface="Arial"/>
                <a:cs typeface="Arial"/>
                <a:sym typeface="Arial"/>
              </a:rPr>
              <a:t>Bibliografía</a:t>
            </a:r>
            <a:endParaRPr lang="es-CO" dirty="0"/>
          </a:p>
        </p:txBody>
      </p:sp>
    </p:spTree>
    <p:extLst>
      <p:ext uri="{BB962C8B-B14F-4D97-AF65-F5344CB8AC3E}">
        <p14:creationId xmlns:p14="http://schemas.microsoft.com/office/powerpoint/2010/main" val="3370102224"/>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516</TotalTime>
  <Words>4377</Words>
  <Application>Microsoft Office PowerPoint</Application>
  <PresentationFormat>Panorámica</PresentationFormat>
  <Paragraphs>425</Paragraphs>
  <Slides>30</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Play</vt:lpstr>
      <vt:lpstr>Cambria Math</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David_Santiago</dc:creator>
  <cp:lastModifiedBy>DIRECCION TECNICA</cp:lastModifiedBy>
  <cp:revision>29</cp:revision>
  <dcterms:modified xsi:type="dcterms:W3CDTF">2024-09-18T20:08:54Z</dcterms:modified>
</cp:coreProperties>
</file>