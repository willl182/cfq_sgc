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66D7CC-80BC-4FBF-82E8-6984BC535938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343080"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343080"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DE7AA3-581E-4928-BD45-116AECE33950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05920"/>
            <a:ext cx="205704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05920"/>
            <a:ext cx="6019560" cy="438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92C32A-1420-4A19-AFC1-6D5ADE2ABAF9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44FAA4-E48E-464E-A526-5EDEC92E5492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3305160"/>
            <a:ext cx="777204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3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180160"/>
            <a:ext cx="7772040" cy="1124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5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14FFAE-3E13-43D8-BED6-87EFFAC3ABAA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200240"/>
            <a:ext cx="403812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–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»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752B93-1658-4571-8302-E4F7DC8DEF0C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151280"/>
            <a:ext cx="403992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1631160"/>
            <a:ext cx="403992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151280"/>
            <a:ext cx="4041360" cy="47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1631160"/>
            <a:ext cx="4041360" cy="296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26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99FB8FE-D3EF-40CB-8E88-A2088FAF58F6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343080">
              <a:lnSpc>
                <a:spcPct val="10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343080">
              <a:lnSpc>
                <a:spcPct val="10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C71EA6-5D7B-4F92-8E83-93182653565B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204C76-787F-4615-9020-C3A1E437743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4840"/>
            <a:ext cx="3007800" cy="871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04840"/>
            <a:ext cx="5111280" cy="4389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343080" algn="l" defTabSz="343080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2" indent="-343080" algn="l" defTabSz="34308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4" indent="-343080" algn="l" defTabSz="34308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Font typeface="Arial"/>
              <a:buChar char="»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076400"/>
            <a:ext cx="3007800" cy="351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53D618-5D01-48B3-891F-CEF6CA96D81E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3600360"/>
            <a:ext cx="5486040" cy="42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343080">
              <a:lnSpc>
                <a:spcPct val="100000"/>
              </a:lnSpc>
              <a:buNone/>
              <a:def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buNone/>
            </a:pPr>
            <a:r>
              <a:rPr lang="en-US" sz="15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5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459720"/>
            <a:ext cx="5486040" cy="308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343080">
              <a:spcBef>
                <a:spcPts val="21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lvl="1" algn="l" defTabSz="343080">
              <a:spcBef>
                <a:spcPts val="42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2" algn="l" defTabSz="343080"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028880" lvl="3" algn="l" defTabSz="34308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4" algn="l" defTabSz="34308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5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6" algn="l" defTabSz="34308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4025520"/>
            <a:ext cx="5486040" cy="60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  <a:def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343080">
              <a:lnSpc>
                <a:spcPct val="100000"/>
              </a:lnSpc>
              <a:spcBef>
                <a:spcPts val="210"/>
              </a:spcBef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8678777-820A-4715-9731-7C2DC2D3214D}" type="slidenum"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Microorganismos en Fertilización: De la Rizosfera al Gránulo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1371600" y="291456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34308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Calferquim S.A.S.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4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Microorganismos y Agricultura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biofertilizantes transforman la nutrición vegetal moderna.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Las Rizobacterias Promotoras del Crecimiento (PGPR) liberan nutrientes bloqueados.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Gran parte del N, P y K del suelo es inaccesible para la raíz.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fertilizantes químicos se fijan, lixivian o volatilizan.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Las PGPR actúan como la “llave” para liberar estos nutrientes.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Desafío Nutricional del Suelo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fósforo se inmoviliza con Ca, Fe y Al en el suelo.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98% del potasio está bloqueado en minerales como micas.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nitrógeno atmosférico requiere fijación biológica para ser útil.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biotecnología ofrece soluciones sostenibles a estos problemas.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Pseudomonas fluorescens</a:t>
            </a: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Nuestra Apuesta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una rizobacteria promotora del crecimiento vegetal (PGPR).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Habita naturalmente en la rizosfera, rodeando las raíces.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es una sola bacteria, sino un complejo de más de 50 especies.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Gram-negativa, aerobia y no forma esporas.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Herramienta biotecnológica clave para la nutrición y el biocontrol.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Pigmento Pioverdina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Secreta un pigmento fluorescente verde-amarillento bajo luz UV.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Este compuesto es un poderoso sideróforo que secuestra hierro.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Mata de inanición a patógenos que compiten por hierro.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Ventaja competitiva directa en la rizosfera.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Solubilización de Fósforo (P)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Libera el fósforo inmovilizado en el suelo para la planta.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Secreta ácido glucónico para acidificar y romper enlaces minerales.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Enzimas fosfatasas liberan el P de la materia orgánica.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Aumenta la disponibilidad de fósforo soluble hasta en un 62%.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Movilización de Potasio y Calcio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Rompe la estructura cristalina de los silicatos para liberar K+.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Moviliza Calcio y Magnesio disolviendo carbonatos.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Proceso especialmente útil en suelos altamente calcáreos.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Complementa la nutrición mineral del cultivo.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Fitohormonas y Crecimiento Radicular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Sintetiza auxinas (AIA) y giberelinas para la planta.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Estimula una proliferación masiva de raíces secundarias.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Maximiza el volumen de suelo que la planta puede explorar.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Más raíces significa mayor captación de agua y nutrientes.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Mitigación del Estrés Abiótico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Algunas cepas producen la enzima ACC desaminasa.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Amortigua los picos letales de etileno generados por estrés.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Permite tolerar sequías, salinidad y metales pesados.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Protección fisiológica sin intervención química.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Biocontrol de Fitopatógenos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Produce antibióticos como el 2,4-DAPG y fenazinas.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Libera cianuro de hidrógeno (HCN) de acción antifúngica.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Suprime patógenos como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Fusarium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Pythium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y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Rhizoctonia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Induce Resistencia Sistémica (ISR) en la planta hospedera.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Fijación Biológica de Nitrógeno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Transforma el N2 atmosférico en amoníaco asimilable.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Proceso realizado por el complejo enzimático nitrogenasa.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Simbióticos: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Rhizobium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en leguminosas forma nódulos.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Asociativos: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Azospirillum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coloniza gramíneas como maíz y trigo.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Vida libre: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Azotobacter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actúa en suelos con buena aireación.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Género 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Bacillus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Bacterias Gram-positivas formadoras de endosporas resistentes.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Resisten calor, desecación y condiciones ambientales extremas.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Sobreviven en formulaciones con sales NPK.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Excelentes solubilizadores de Fósforo y Potasio.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Producen lipopéptidos antifúngicos (surfactina, iturina, fengicina).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Género 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Azospirillum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Bacteria fijadora de nitrógeno de tipo asociativa.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Coloniza eficientemente gramíneas como maíz y trigo.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Produce cantidades masivas de auxinas (AIA).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Transforma la arquitectura del sistema radicular.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Reduce drásticamente la necesidad de urea química.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Hongo </a:t>
            </a:r>
            <a:r>
              <a:rPr lang="en-US" sz="33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Trichoderma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Hongo filamentoso altamente competitivo en el suelo.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Explora volúmenes de tierra inaccesibles para la raíz.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Ejerce micoparasitismo destructivo sobre hongos patógenos.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Frena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Phytophthora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,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Rhizoctonia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y piricularia en arroz.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Produce ácidos orgánicos que disuelven P y 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Consorcios Microbianos: La Sinergia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interacción de microorganismos supera los efectos individuales.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Bacillus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resistencia térmica y colonización rápida.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Azospirillum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nutrición completa aportando N y P.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Trichoderma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: biocontrol fungicida potenciado.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 mezcla coordinada potencia los rendimientos dramáticamente.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Resultados de los Consorcios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Aumentos de biomasa hasta del 37% en cultivos como banano.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Hasta 97% de prevención del marchitamiento en tomate.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Efecto protector superior al de fungicidas químicos.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Reducción de hasta un 50% de las dosis de NPK.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Desafío Industrial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P. fluorescens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no forma esporas: vulnerable al calor y desecación.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Sufre estrés osmótico letal ante las sales de fertilizantes NPK.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 granulación exige una ingeniería de bioprocesos impecable.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 vital aislar físicamente la bacteria de la sal mineral.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Supervivencia en Fertilizantes Inorgánicos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contacto directo de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Pseudomonas fluorescens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con fertilizantes inorgánicos suele reducir su viabilidad en pocos días.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presión osmótica y las sales de los NPK deshidratan las células y acortan la vida útil del inoculante.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 co-aplicación exitosa, la bacteria debe protegerse mediante microencapsulación o polímeros protectores.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Sin protección, la mezcla líquida directa con gránulos inorgánicos no es recomendable.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Estrategias de Protección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Microencapsulación: matrices de alginato con proteína de suero (WPC) o carboximetilcelulosa (CMC) mejoran la supervivencia y permiten liberación controlada.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Biopriming polimérico: goma xantana, glicerol o polietilenglicol (PEG) reducen el daño por desecación y por el ambiente químico agresivo.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Portadores bio-orgánicos: talco estéril, suelo estéril o bagazo prensado actúan como barrera entre la bacteria y el fertilizante.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 manejo térmico es crítico: 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P. fluorescens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prospera mejor entre 25 y 30 °C.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2955960" y="2714760"/>
            <a:ext cx="26964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*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Criterio Práctico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co-formulación con fertilizantes orgánicos suele ofrecer mayor estabilidad y mejor desempeño que la mezcla directa con inorgánicos.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 se usan NPK, debe existir una protección física y química efectiva del inoculante.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Tecnologías de Formulación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Recubrimiento superficial del gránulo (</a:t>
            </a: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Biocoating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).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Microencapsulación protectora usando biopolimeros: e.g. alginato.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Estas técnicas aíslan a la bacteria de las sales agresivas.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 estabiliza comercialmente mediante liofilización.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Almacenamiento y Cadena de Frío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Conservar idealmente entre 4 y 20 °C.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 humedad del gránulo final no debe superar el 3%.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Almacenar en empaques herméticos, opacos o sellados al vacío.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Requiere colonizar al menos 10⁵ UFC por gramo de raíz.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34308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Conclusiones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microorganismos son herramientas clave para la nutrición sostenible.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i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Pseudomonas fluorescens</a:t>
            </a: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ofrece nutrición, biocontrol y resistencia.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 consorcios microbianos multiplican los beneficios individuales.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34308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Exige manejo logístico riguroso al tratarse de organismos vivos.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LibreOffice/26.2.3.2$Linux_X86_64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2026-05-29T16:41:53Z</dcterms:created>
  <dc:creator>Calferquim S.A.S.</dc:creator>
  <dc:description/>
  <dc:language>en-US</dc:language>
  <cp:lastModifiedBy/>
  <dcterms:modified xsi:type="dcterms:W3CDTF">2026-05-29T11:57:18Z</dcterms:modified>
  <cp:revision>1</cp:revision>
  <dc:subject/>
  <dc:title>Microorganismos en Fertilización: De la Rizosfera al Gránulo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</vt:lpwstr>
  </property>
</Properties>
</file>