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4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Mensaje</a:t>
            </a:r>
            <a:r>
              <a:rPr dirty="0"/>
              <a:t> de </a:t>
            </a:r>
            <a:r>
              <a:rPr dirty="0" err="1"/>
              <a:t>apertura</a:t>
            </a:r>
            <a:r>
              <a:rPr dirty="0"/>
              <a:t>: la </a:t>
            </a:r>
            <a:r>
              <a:rPr lang="es-CO" dirty="0"/>
              <a:t>Borrador</a:t>
            </a:r>
            <a:r>
              <a:rPr dirty="0"/>
              <a:t> no solo </a:t>
            </a:r>
            <a:r>
              <a:rPr dirty="0" err="1"/>
              <a:t>actualiza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, cambia la </a:t>
            </a:r>
            <a:r>
              <a:rPr dirty="0" err="1"/>
              <a:t>logica</a:t>
            </a:r>
            <a:r>
              <a:rPr dirty="0"/>
              <a:t> de control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aislados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gestion integral </a:t>
            </a:r>
            <a:r>
              <a:rPr dirty="0" err="1"/>
              <a:t>verificable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Cierre sugerido: alinear plan de implementacion por fases, responsables y evidencias criticas para auditoria 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Analisis</a:t>
            </a:r>
            <a:r>
              <a:rPr dirty="0"/>
              <a:t> SGC: </a:t>
            </a:r>
            <a:r>
              <a:rPr dirty="0" err="1"/>
              <a:t>Resolucion</a:t>
            </a:r>
            <a:r>
              <a:rPr dirty="0"/>
              <a:t> 150 vs </a:t>
            </a:r>
            <a:r>
              <a:rPr dirty="0" err="1"/>
              <a:t>Propuesta</a:t>
            </a:r>
            <a:r>
              <a:rPr dirty="0"/>
              <a:t> </a:t>
            </a:r>
            <a:r>
              <a:rPr lang="es-CO" dirty="0"/>
              <a:t>Borrador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>
              <a:rPr dirty="0"/>
            </a:br>
            <a:r>
              <a:rPr dirty="0" err="1"/>
              <a:t>Direccion</a:t>
            </a:r>
            <a:r>
              <a:rPr dirty="0"/>
              <a:t> </a:t>
            </a:r>
            <a:r>
              <a:rPr dirty="0" err="1"/>
              <a:t>Tecnica</a:t>
            </a:r>
            <a:r>
              <a:rPr dirty="0"/>
              <a:t> y Calidad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Introduccion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Proposito del Analisis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Comparar</a:t>
            </a:r>
            <a:r>
              <a:rPr dirty="0"/>
              <a:t> las </a:t>
            </a:r>
            <a:r>
              <a:rPr dirty="0" err="1"/>
              <a:t>exigencias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entre la </a:t>
            </a:r>
            <a:r>
              <a:rPr dirty="0" err="1"/>
              <a:t>Resolucion</a:t>
            </a:r>
            <a:r>
              <a:rPr dirty="0"/>
              <a:t> 150 de 2003 y </a:t>
            </a:r>
            <a:r>
              <a:rPr lang="es-CO" dirty="0"/>
              <a:t>el Borrador de propuesta</a:t>
            </a:r>
            <a:r>
              <a:rPr dirty="0"/>
              <a:t>.</a:t>
            </a:r>
          </a:p>
          <a:p>
            <a:pPr lvl="0"/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cambios</a:t>
            </a:r>
            <a:r>
              <a:rPr dirty="0"/>
              <a:t> de </a:t>
            </a:r>
            <a:r>
              <a:rPr dirty="0" err="1"/>
              <a:t>fondo</a:t>
            </a:r>
            <a:r>
              <a:rPr dirty="0"/>
              <a:t> para </a:t>
            </a:r>
            <a:r>
              <a:rPr dirty="0" err="1"/>
              <a:t>fabricantes</a:t>
            </a:r>
            <a:r>
              <a:rPr dirty="0"/>
              <a:t>, </a:t>
            </a:r>
            <a:r>
              <a:rPr dirty="0" err="1"/>
              <a:t>formuladores</a:t>
            </a:r>
            <a:r>
              <a:rPr dirty="0"/>
              <a:t>, </a:t>
            </a:r>
            <a:r>
              <a:rPr dirty="0" err="1"/>
              <a:t>envasadores</a:t>
            </a:r>
            <a:r>
              <a:rPr dirty="0"/>
              <a:t> e </a:t>
            </a:r>
            <a:r>
              <a:rPr dirty="0" err="1"/>
              <a:t>importadores</a:t>
            </a:r>
            <a:r>
              <a:rPr dirty="0"/>
              <a:t>/</a:t>
            </a:r>
            <a:r>
              <a:rPr dirty="0" err="1"/>
              <a:t>distribuidores</a:t>
            </a:r>
            <a:r>
              <a:rPr dirty="0"/>
              <a:t>.</a:t>
            </a:r>
          </a:p>
          <a:p>
            <a:pPr lvl="0"/>
            <a:r>
              <a:rPr dirty="0" err="1"/>
              <a:t>Traducir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normativo</a:t>
            </a:r>
            <a:r>
              <a:rPr dirty="0"/>
              <a:t> a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operativas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SGC.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1: Cambio de Enfoque Regulatorio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De Cumplimiento Documental a Cumplimiento de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R150 (2003)</a:t>
            </a:r>
          </a:p>
          <a:p>
            <a:pPr lvl="0"/>
            <a:r>
              <a:t>Predominio de requisitos contractuales y formales.</a:t>
            </a:r>
          </a:p>
          <a:p>
            <a:pPr lvl="0"/>
            <a:r>
              <a:t>Verificacion centrada en existencia de documentos y condiciones basicas.</a:t>
            </a:r>
          </a:p>
          <a:p>
            <a:pPr lvl="0"/>
            <a:r>
              <a:t>Menor estandarizacion de procedimientos internos.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s-CO" b="1" dirty="0"/>
              <a:t>Borrador</a:t>
            </a:r>
            <a:r>
              <a:rPr b="1" dirty="0"/>
              <a:t> (</a:t>
            </a:r>
            <a:r>
              <a:rPr b="1" dirty="0" err="1"/>
              <a:t>Propuesta</a:t>
            </a:r>
            <a:r>
              <a:rPr b="1" dirty="0"/>
              <a:t>)</a:t>
            </a:r>
          </a:p>
          <a:p>
            <a:pPr lvl="0"/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, </a:t>
            </a:r>
            <a:r>
              <a:rPr dirty="0" err="1"/>
              <a:t>trazabilidad</a:t>
            </a:r>
            <a:r>
              <a:rPr dirty="0"/>
              <a:t> e </a:t>
            </a:r>
            <a:r>
              <a:rPr dirty="0" err="1"/>
              <a:t>inocuidad</a:t>
            </a:r>
            <a:r>
              <a:rPr dirty="0"/>
              <a:t>.</a:t>
            </a:r>
          </a:p>
          <a:p>
            <a:pPr lvl="0"/>
            <a:r>
              <a:rPr dirty="0"/>
              <a:t>Exige </a:t>
            </a:r>
            <a:r>
              <a:rPr dirty="0" err="1"/>
              <a:t>procedimientos</a:t>
            </a:r>
            <a:r>
              <a:rPr dirty="0"/>
              <a:t>, </a:t>
            </a:r>
            <a:r>
              <a:rPr dirty="0" err="1"/>
              <a:t>formatos</a:t>
            </a:r>
            <a:r>
              <a:rPr dirty="0"/>
              <a:t> y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.</a:t>
            </a:r>
          </a:p>
          <a:p>
            <a:pPr lvl="0"/>
            <a:r>
              <a:rPr dirty="0"/>
              <a:t>Integra control documental con </a:t>
            </a:r>
            <a:r>
              <a:rPr dirty="0" err="1"/>
              <a:t>verificacion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campo (Anexo I-B).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Implicacion Directa para la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El cumplimiento deja de ser “tener archivo” y pasa a “demostrar implementacion”.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2: Comparativo Ejecutivo por 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Principales</a:t>
            </a:r>
            <a:r>
              <a:rPr dirty="0"/>
              <a:t> </a:t>
            </a:r>
            <a:r>
              <a:rPr dirty="0" err="1"/>
              <a:t>Diferencias</a:t>
            </a:r>
            <a:r>
              <a:rPr dirty="0"/>
              <a:t> R150 vs </a:t>
            </a:r>
            <a:r>
              <a:rPr lang="es-CO" dirty="0"/>
              <a:t>Borrador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Aspecto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s-CO" dirty="0"/>
                        <a:t>Borrador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Cambio Clave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Documentacion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Contratos y soportes fisicos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Identificacion de laboratorio y responsable en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Simplificacion formal + trazabilidad digital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Laboratorio de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Uso de laboratorios registrados en escenarios puntuales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Obligatorio laboratorio propio o contratado registrado 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Endurecimiento del requisito tecnico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Frecuencia de control 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Sin periodicidad explicita 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Analisis anual obligatorio con soportes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Vigilancia continua de calidad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Procedimientos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Procesos basicos documentados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18 procedimientos con formatos y registros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Modelo GMP/GDP formal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Residuos/barreduras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Sin prohibicion expresa detallada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Procedimiento obligatorio + prohibicion de uso en fertilizantes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Enfoque de inocuidad y ambiente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3: Laboratorio y Soporte Analitico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Requisito</a:t>
            </a:r>
            <a:r>
              <a:rPr dirty="0"/>
              <a:t> Central de la </a:t>
            </a:r>
            <a:r>
              <a:rPr lang="es-CO" dirty="0"/>
              <a:t>Borrador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Todo control de calidad interno debe apoyarse en laboratorio registrado ante ICA.</a:t>
            </a:r>
          </a:p>
          <a:p>
            <a:pPr lvl="0"/>
            <a:r>
              <a:t>Si el laboratorio es contratado, la relacion debe estar claramente declarada.</a:t>
            </a:r>
          </a:p>
          <a:p>
            <a:pPr lvl="0"/>
            <a:r>
              <a:t>Para importados, los analisis del exterior tambien deben cumplir condicion de registro 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Impacto para el SGC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Mayor robustez y comparabilidad de resultados analiticos.</a:t>
            </a:r>
          </a:p>
          <a:p>
            <a:pPr lvl="0"/>
            <a:r>
              <a:t>Menor riesgo de rechazo de soportes tecnicos en tramite y auditoria.</a:t>
            </a:r>
          </a:p>
          <a:p>
            <a:pPr lvl="0"/>
            <a:r>
              <a:t>Necesidad de control permanente sobre vigencia y alcance del registro del laboratorio.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4: Procedimientos Operativos Exigidos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Formalizacion de Buenas Practicas (GMP/GDP)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Cadena Operativa</a:t>
            </a:r>
          </a:p>
          <a:p>
            <a:pPr lvl="0"/>
            <a:r>
              <a:t>Control de proveedores.</a:t>
            </a:r>
          </a:p>
          <a:p>
            <a:pPr lvl="0"/>
            <a:r>
              <a:t>Balance de materias primas.</a:t>
            </a:r>
          </a:p>
          <a:p>
            <a:pPr lvl="0"/>
            <a:r>
              <a:t>Codificacion y liberacion de lotes.</a:t>
            </a:r>
          </a:p>
          <a:p>
            <a:pPr lvl="0"/>
            <a:r>
              <a:t>Muestreo y contramuestras.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Postproduccion y Mercado</a:t>
            </a:r>
          </a:p>
          <a:p>
            <a:pPr lvl="0"/>
            <a:r>
              <a:t>Servicio al cliente (PQR).</a:t>
            </a:r>
          </a:p>
          <a:p>
            <a:pPr lvl="0"/>
            <a:r>
              <a:t>Parametros de tiempos de atencion.</a:t>
            </a:r>
          </a:p>
          <a:p>
            <a:pPr lvl="0"/>
            <a:r>
              <a:t>Trazabilidad para respuesta a incidentes.</a:t>
            </a:r>
          </a:p>
          <a:p>
            <a:pPr lvl="0"/>
            <a:r>
              <a:t>Soporte para retiro de producto.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Lectura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La </a:t>
            </a:r>
            <a:r>
              <a:rPr lang="es-CO" dirty="0"/>
              <a:t>Borrador</a:t>
            </a:r>
            <a:r>
              <a:rPr dirty="0"/>
              <a:t>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procedimientos</a:t>
            </a:r>
            <a:r>
              <a:rPr dirty="0"/>
              <a:t> </a:t>
            </a:r>
            <a:r>
              <a:rPr dirty="0" err="1"/>
              <a:t>sueltos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integrado</a:t>
            </a:r>
            <a:r>
              <a:rPr dirty="0"/>
              <a:t>, auditable y con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recurrente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Seccion</a:t>
            </a:r>
            <a:r>
              <a:rPr dirty="0"/>
              <a:t> 4A: Los 18 </a:t>
            </a:r>
            <a:r>
              <a:rPr dirty="0" err="1"/>
              <a:t>Pilares</a:t>
            </a:r>
            <a:r>
              <a:rPr dirty="0"/>
              <a:t> </a:t>
            </a:r>
            <a:r>
              <a:rPr dirty="0" err="1"/>
              <a:t>Procedimentales</a:t>
            </a:r>
            <a:r>
              <a:rPr dirty="0"/>
              <a:t> (</a:t>
            </a:r>
            <a:r>
              <a:rPr lang="es-CO" dirty="0"/>
              <a:t>Borrador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Checklist de Cumplimiento ICA (Anexo I-A/I-B)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665731"/>
              </p:ext>
            </p:extLst>
          </p:nvPr>
        </p:nvGraphicFramePr>
        <p:xfrm>
          <a:off x="457200" y="119380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Pilar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Control de proveedores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Balance de materias primas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Codificacion de lotes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Procedimientos de muestreo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Liberacion de lotes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Almacenamiento de contramuestras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Mantenimiento de equipos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Calibracion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Limpiez</a:t>
                      </a:r>
                      <a:r>
                        <a:rPr lang="es-CO" dirty="0"/>
                        <a:t>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74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Checklist de Cumplimiento ICA (Anexo I-A/I-B)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321597"/>
              </p:ext>
            </p:extLst>
          </p:nvPr>
        </p:nvGraphicFramePr>
        <p:xfrm>
          <a:off x="457200" y="119380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Pilar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Manejo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residuos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barreduras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Capacitacion del personal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Control documental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Retiro de producto / trazabilidad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Servicio al cliente (PQR)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Auditorias internas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Gestion del laboratorio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Controles del proceso de produccion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Mantenimiento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instalaciones</a:t>
                      </a:r>
                      <a:r>
                        <a:rPr dirty="0"/>
                        <a:t> e </a:t>
                      </a:r>
                      <a:r>
                        <a:rPr dirty="0" err="1"/>
                        <a:t>higiene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Clave de 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Estos 18 puntos son la base de verificacion para demostrar implementacion real del SGC.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5: Inocuidad, Residuos y Riesgo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Nuevas Exigencias de Inocuidad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Procedimiento</a:t>
            </a:r>
            <a:r>
              <a:rPr dirty="0"/>
              <a:t> </a:t>
            </a:r>
            <a:r>
              <a:rPr dirty="0" err="1"/>
              <a:t>documentado</a:t>
            </a:r>
            <a:r>
              <a:rPr dirty="0"/>
              <a:t> para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barreduras</a:t>
            </a:r>
            <a:r>
              <a:rPr dirty="0"/>
              <a:t> y </a:t>
            </a:r>
            <a:r>
              <a:rPr dirty="0" err="1"/>
              <a:t>residuos</a:t>
            </a:r>
            <a:r>
              <a:rPr dirty="0"/>
              <a:t> </a:t>
            </a:r>
            <a:r>
              <a:rPr dirty="0" err="1"/>
              <a:t>liquidos</a:t>
            </a:r>
            <a:r>
              <a:rPr lang="es-CO" dirty="0"/>
              <a:t> (NA)</a:t>
            </a:r>
            <a:r>
              <a:rPr dirty="0"/>
              <a:t>.</a:t>
            </a:r>
          </a:p>
          <a:p>
            <a:pPr lvl="0"/>
            <a:r>
              <a:rPr dirty="0" err="1"/>
              <a:t>Prohibicion</a:t>
            </a:r>
            <a:r>
              <a:rPr dirty="0"/>
              <a:t> </a:t>
            </a:r>
            <a:r>
              <a:rPr dirty="0" err="1"/>
              <a:t>expresa</a:t>
            </a:r>
            <a:r>
              <a:rPr dirty="0"/>
              <a:t> de </a:t>
            </a:r>
            <a:r>
              <a:rPr dirty="0" err="1"/>
              <a:t>destinar</a:t>
            </a:r>
            <a:r>
              <a:rPr dirty="0"/>
              <a:t> </a:t>
            </a:r>
            <a:r>
              <a:rPr dirty="0" err="1"/>
              <a:t>barreduras</a:t>
            </a:r>
            <a:r>
              <a:rPr dirty="0"/>
              <a:t> a </a:t>
            </a:r>
            <a:r>
              <a:rPr dirty="0" err="1"/>
              <a:t>elaboracion</a:t>
            </a:r>
            <a:r>
              <a:rPr dirty="0"/>
              <a:t> de </a:t>
            </a:r>
            <a:r>
              <a:rPr dirty="0" err="1"/>
              <a:t>fertilizantes</a:t>
            </a:r>
            <a:r>
              <a:rPr dirty="0"/>
              <a:t>.</a:t>
            </a:r>
          </a:p>
          <a:p>
            <a:pPr lvl="0"/>
            <a:r>
              <a:rPr dirty="0" err="1"/>
              <a:t>Segregacion</a:t>
            </a:r>
            <a:r>
              <a:rPr dirty="0"/>
              <a:t> y </a:t>
            </a:r>
            <a:r>
              <a:rPr dirty="0" err="1"/>
              <a:t>disposicion</a:t>
            </a:r>
            <a:r>
              <a:rPr dirty="0"/>
              <a:t> </a:t>
            </a:r>
            <a:r>
              <a:rPr dirty="0" err="1"/>
              <a:t>controlada</a:t>
            </a:r>
            <a:r>
              <a:rPr dirty="0"/>
              <a:t> para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contaminacion</a:t>
            </a:r>
            <a:r>
              <a:rPr dirty="0"/>
              <a:t> </a:t>
            </a:r>
            <a:r>
              <a:rPr dirty="0" err="1"/>
              <a:t>cruzada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Riesgo de Incumplimiento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Hallazgos de inocuidad pueden comprometer continuidad de operaciones y registros.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6: Visita Tecnica y Evidencia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Estandarizacion</a:t>
            </a:r>
            <a:r>
              <a:rPr dirty="0"/>
              <a:t> del Control </a:t>
            </a:r>
            <a:r>
              <a:rPr dirty="0" err="1"/>
              <a:t>en</a:t>
            </a:r>
            <a:r>
              <a:rPr dirty="0"/>
              <a:t> </a:t>
            </a:r>
            <a:r>
              <a:rPr lang="es-CO" dirty="0"/>
              <a:t>Borrador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897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Componente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visita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Enfoque R150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Enfoque</a:t>
                      </a:r>
                      <a:r>
                        <a:rPr dirty="0"/>
                        <a:t> </a:t>
                      </a:r>
                      <a:r>
                        <a:rPr lang="es-CO" dirty="0"/>
                        <a:t>Borrador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Instalaciones y croquis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Revision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Verificacion detallada de coherencia operativa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Flujo de proceso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Comprobacion basica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Validacion por etapas y controles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Sistema documental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Existencia de documentos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Evidencia de implementacion con registros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Muestreo/contramuestras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Mencion parcial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Requisito trazable y verificable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Conclusión de 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El inspeccionado debe demostrar ejecucion real, no solo disponibilidad documental.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Seccion 7: Implicaciones para CALFERQUIM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Prioridades de Adaptacion del SGC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Consolidar la gobernanza documental de los 18 pilares.</a:t>
            </a:r>
          </a:p>
          <a:p>
            <a:pPr lvl="0"/>
            <a:r>
              <a:t>Asegurar trazabilidad completa lote -&gt; analisis -&gt; liberacion -&gt; mercado.</a:t>
            </a:r>
          </a:p>
          <a:p>
            <a:pPr lvl="0"/>
            <a:r>
              <a:t>Mantener evidencia anual de control de calidad con laboratorio registrado ICA.</a:t>
            </a:r>
          </a:p>
          <a:p>
            <a:pPr lvl="0"/>
            <a:r>
              <a:t>Integrar residuos/barreduras en control operativo y ambiental.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Resultado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Transicion ordenada a un cumplimiento auditable, digital y sostenible bajo SimplifICA.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Mensaje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Lo que cambia</a:t>
            </a:r>
          </a:p>
          <a:p>
            <a:pPr lvl="0"/>
            <a:r>
              <a:rPr lang="es-CO" dirty="0"/>
              <a:t>Borrador</a:t>
            </a:r>
            <a:r>
              <a:rPr dirty="0"/>
              <a:t> </a:t>
            </a:r>
            <a:r>
              <a:rPr dirty="0" err="1"/>
              <a:t>eleva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estandar</a:t>
            </a:r>
            <a:r>
              <a:rPr dirty="0"/>
              <a:t> </a:t>
            </a:r>
            <a:r>
              <a:rPr dirty="0" err="1"/>
              <a:t>tecnico</a:t>
            </a:r>
            <a:r>
              <a:rPr dirty="0"/>
              <a:t> y </a:t>
            </a:r>
            <a:r>
              <a:rPr dirty="0" err="1"/>
              <a:t>procedimental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.</a:t>
            </a:r>
          </a:p>
          <a:p>
            <a:pPr lvl="0"/>
            <a:r>
              <a:rPr dirty="0"/>
              <a:t>El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regulatorio</a:t>
            </a:r>
            <a:r>
              <a:rPr dirty="0"/>
              <a:t> se </a:t>
            </a:r>
            <a:r>
              <a:rPr dirty="0" err="1"/>
              <a:t>mueve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continua.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Lo que se requiere</a:t>
            </a:r>
          </a:p>
          <a:p>
            <a:pPr lvl="0"/>
            <a:r>
              <a:t>Mantener documentos controlados + registros vivos + trazabilidad demostrable.</a:t>
            </a:r>
          </a:p>
          <a:p>
            <a:pPr lvl="0"/>
            <a:r>
              <a:t>Gestionar el SGC como sistema activo de riesgo y cumplimiento.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864</Words>
  <Application>Microsoft Office PowerPoint</Application>
  <PresentationFormat>Presentación en pantalla (16:9)</PresentationFormat>
  <Paragraphs>160</Paragraphs>
  <Slides>29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Analisis SGC: Resolucion 150 vs Propuesta Borrador</vt:lpstr>
      <vt:lpstr>Introduccion</vt:lpstr>
      <vt:lpstr>Proposito del Analisis</vt:lpstr>
      <vt:lpstr>Seccion 1: Cambio de Enfoque Regulatorio</vt:lpstr>
      <vt:lpstr>De Cumplimiento Documental a Cumplimiento de Sistema</vt:lpstr>
      <vt:lpstr>Implicacion Directa para la Empresa</vt:lpstr>
      <vt:lpstr>Seccion 2: Comparativo Ejecutivo por Tema</vt:lpstr>
      <vt:lpstr>Principales Diferencias R150 vs Borrador</vt:lpstr>
      <vt:lpstr>Seccion 3: Laboratorio y Soporte Analitico</vt:lpstr>
      <vt:lpstr>Requisito Central de la Borrador</vt:lpstr>
      <vt:lpstr>Impacto para el SGC</vt:lpstr>
      <vt:lpstr>Seccion 4: Procedimientos Operativos Exigidos</vt:lpstr>
      <vt:lpstr>Formalizacion de Buenas Practicas (GMP/GDP)</vt:lpstr>
      <vt:lpstr>Lectura Estratégica</vt:lpstr>
      <vt:lpstr>Seccion 4A: Los 18 Pilares Procedimentales (Borrador)</vt:lpstr>
      <vt:lpstr>Checklist de Cumplimiento ICA (Anexo I-A/I-B)</vt:lpstr>
      <vt:lpstr>Checklist de Cumplimiento ICA (Anexo I-A/I-B)</vt:lpstr>
      <vt:lpstr>Clave de Interpretacion</vt:lpstr>
      <vt:lpstr>Seccion 5: Inocuidad, Residuos y Riesgo</vt:lpstr>
      <vt:lpstr>Nuevas Exigencias de Inocuidad</vt:lpstr>
      <vt:lpstr>Riesgo de Incumplimiento</vt:lpstr>
      <vt:lpstr>Seccion 6: Visita Tecnica y Evidencia</vt:lpstr>
      <vt:lpstr>Estandarizacion del Control en Borrador</vt:lpstr>
      <vt:lpstr>Conclusión de Auditoría</vt:lpstr>
      <vt:lpstr>Seccion 7: Implicaciones para CALFERQUIM</vt:lpstr>
      <vt:lpstr>Prioridades de Adaptacion del SGC</vt:lpstr>
      <vt:lpstr>Resultado Esperado</vt:lpstr>
      <vt:lpstr>Conclusion</vt:lpstr>
      <vt:lpstr>Mensaje Final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SGC: Resolucion 150 vs Propuesta pv0</dc:title>
  <dc:creator>Direccion Tecnica y Calidad</dc:creator>
  <cp:keywords/>
  <cp:lastModifiedBy>DIRECCION TECNICA</cp:lastModifiedBy>
  <cp:revision>2</cp:revision>
  <dcterms:created xsi:type="dcterms:W3CDTF">2026-02-18T13:19:05Z</dcterms:created>
  <dcterms:modified xsi:type="dcterms:W3CDTF">2026-02-18T16:04:18Z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Febrero 2026</vt:lpwstr>
  </property>
  <property fmtid="{D5CDD505-2E9C-101B-9397-08002B2CF9AE}" pid="3" name="subtitle">
    <vt:lpwstr>Evolucion del Control de Calidad hacia un Modelo Operacional</vt:lpwstr>
  </property>
</Properties>
</file>