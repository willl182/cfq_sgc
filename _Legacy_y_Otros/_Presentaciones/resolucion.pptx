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notesMaster" Target="notesMasters/notesMaster1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norma actual tiene más de 20 años. El eje central del cambio es pasar de procesos manuales a la gestión de riesgo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 de la presentación. Destacar la importancia de auditar el portafolio actual frente a los nuevos mínimos de concentración antes de los 6 meses de transición.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Modernización Normativa: Resolución 150 vs. Nueva Propuesta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Análisis de Impacto Regulatorio (Fertilizantes y Afines)</a:t>
            </a:r>
            <a:br/>
            <a:br/>
            <a:r>
              <a:rPr/>
              <a:t>Dirección Técnica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Febrero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Contexto General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Objetivo de la Reforma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Modernización:</a:t>
            </a:r>
            <a:r>
              <a:rPr/>
              <a:t> Actualización de la Resolución 150 (data de 2003).</a:t>
            </a:r>
          </a:p>
          <a:p>
            <a:pPr lvl="0"/>
            <a:r>
              <a:rPr b="1"/>
              <a:t>Digitalización:</a:t>
            </a:r>
            <a:r>
              <a:rPr/>
              <a:t> Implementación del sistema </a:t>
            </a:r>
            <a:r>
              <a:rPr b="1"/>
              <a:t>SimplifICA</a:t>
            </a:r>
            <a:r>
              <a:rPr/>
              <a:t>.</a:t>
            </a:r>
          </a:p>
          <a:p>
            <a:pPr lvl="0"/>
            <a:r>
              <a:rPr b="1"/>
              <a:t>Racionalización:</a:t>
            </a:r>
            <a:r>
              <a:rPr/>
              <a:t> Cumplimiento de la Ley 2052 de 2020 (trámites en línea).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Sección 1: Alcance y Definiciones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Expansión del 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Comparativo de Cobertura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Resolución 150 (2003)</a:t>
            </a:r>
          </a:p>
          <a:p>
            <a:pPr lvl="0"/>
            <a:r>
              <a:rPr/>
              <a:t>Fertilizantes.</a:t>
            </a:r>
          </a:p>
          <a:p>
            <a:pPr lvl="0"/>
            <a:r>
              <a:rPr/>
              <a:t>Acondicionadores de Suelo.</a:t>
            </a:r>
          </a:p>
          <a:p>
            <a:pPr lvl="0"/>
            <a:r>
              <a:rPr/>
              <a:t>Enfoque: Comercialización y minimización de riesgos básicos.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Nueva Propuesta (pv0)</a:t>
            </a:r>
          </a:p>
          <a:p>
            <a:pPr lvl="0"/>
            <a:r>
              <a:rPr/>
              <a:t>Incluye </a:t>
            </a:r>
            <a:r>
              <a:rPr b="1"/>
              <a:t>“Productos Afines”</a:t>
            </a:r>
            <a:r>
              <a:rPr/>
              <a:t> (Aminoácidos, Extractos de Algas, Sustratos).</a:t>
            </a:r>
          </a:p>
          <a:p>
            <a:pPr lvl="0"/>
            <a:r>
              <a:rPr/>
              <a:t>Regula ensayos de </a:t>
            </a:r>
            <a:r>
              <a:rPr b="1"/>
              <a:t>eficacia agronómica</a:t>
            </a:r>
            <a:r>
              <a:rPr/>
              <a:t>.</a:t>
            </a:r>
          </a:p>
          <a:p>
            <a:pPr lvl="0"/>
            <a:r>
              <a:rPr/>
              <a:t>Incluye jardinería explícitamente.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Nuevas Definiciones Técnicas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COOT:</a:t>
            </a:r>
            <a:r>
              <a:rPr/>
              <a:t> Carbono Orgánico Oxidable Total (parámetro clave para orgánicos).</a:t>
            </a:r>
          </a:p>
          <a:p>
            <a:pPr lvl="0"/>
            <a:r>
              <a:rPr b="1"/>
              <a:t>Biochar:</a:t>
            </a:r>
            <a:r>
              <a:rPr/>
              <a:t> Inclusión de nuevas tecnologías de suelos.</a:t>
            </a:r>
          </a:p>
          <a:p>
            <a:pPr lvl="0"/>
            <a:r>
              <a:rPr b="1"/>
              <a:t>Acción Estimulante:</a:t>
            </a:r>
            <a:r>
              <a:rPr/>
              <a:t> Reconocimiento de bioestimulación fuera de la nutrición pura.</a:t>
            </a:r>
          </a:p>
          <a:p>
            <a:pPr lvl="0"/>
            <a:r>
              <a:rPr b="1"/>
              <a:t>Asesor Técnico:</a:t>
            </a:r>
            <a:r>
              <a:rPr/>
              <a:t> Sustituye la figura de “Director Técnico”.</a:t>
            </a:r>
          </a:p>
          <a:p>
            <a:pPr lvl="0"/>
            <a:r>
              <a:rPr b="1"/>
              <a:t>Productos a la medida:</a:t>
            </a:r>
            <a:r>
              <a:rPr/>
              <a:t> Exentos de registro si la entrega es directa al agricultor.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Sección 2: Agilización de Trámites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Tiempos de Respuesta (Registro de Venta)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Antes (Manual/Papel)</a:t>
            </a:r>
          </a:p>
          <a:p>
            <a:pPr lvl="0"/>
            <a:r>
              <a:rPr b="1"/>
              <a:t>Expedición:</a:t>
            </a:r>
            <a:r>
              <a:rPr/>
              <a:t> 60 días calendario.</a:t>
            </a:r>
          </a:p>
          <a:p>
            <a:pPr lvl="0"/>
            <a:r>
              <a:rPr b="1"/>
              <a:t>Subsanación:</a:t>
            </a:r>
            <a:r>
              <a:rPr/>
              <a:t> 60 días adicionales.</a:t>
            </a:r>
          </a:p>
          <a:p>
            <a:pPr lvl="0"/>
            <a:r>
              <a:rPr b="1"/>
              <a:t>Total:</a:t>
            </a:r>
            <a:r>
              <a:rPr/>
              <a:t> Procesos largos y presenciales (Formas 3-894).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Ahora (SimplifICA)</a:t>
            </a:r>
          </a:p>
          <a:p>
            <a:pPr lvl="0"/>
            <a:r>
              <a:rPr b="1"/>
              <a:t>Revisión Inicial:</a:t>
            </a:r>
            <a:r>
              <a:rPr/>
              <a:t> 20 días hábiles.</a:t>
            </a:r>
          </a:p>
          <a:p>
            <a:pPr lvl="0"/>
            <a:r>
              <a:rPr b="1"/>
              <a:t>Subsanación:</a:t>
            </a:r>
            <a:r>
              <a:rPr/>
              <a:t> 15 días hábiles.</a:t>
            </a:r>
          </a:p>
          <a:p>
            <a:pPr lvl="0"/>
            <a:r>
              <a:rPr b="1"/>
              <a:t>Emisión Final:</a:t>
            </a:r>
            <a:r>
              <a:rPr/>
              <a:t> 15 días hábiles.</a:t>
            </a:r>
          </a:p>
          <a:p>
            <a:pPr lvl="0"/>
            <a:r>
              <a:rPr b="1"/>
              <a:t>Total:</a:t>
            </a:r>
            <a:r>
              <a:rPr/>
              <a:t> Reducción drástica del “Time-to-Market”.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Sección 3: Requisitos Técnicos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Cambios en Composición (NPK)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Tipo de Producto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Res. 150 (Mínimo)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Nueva Propuesta (Mínimo)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Inorgánico (1 elemento)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10%</a:t>
                      </a:r>
                      <a:r>
                        <a:rPr/>
                        <a:t> (N, P₂O₅ o K₂O)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Inorgánico (Compuesto)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3.0% c/u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18%</a:t>
                      </a:r>
                      <a:r>
                        <a:rPr/>
                        <a:t> (Suma total suelo) / </a:t>
                      </a:r>
                      <a:r>
                        <a:rPr b="1"/>
                        <a:t>15%</a:t>
                      </a:r>
                      <a:r>
                        <a:rPr/>
                        <a:t> (Fertirriego)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Orgánico Sólido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COOT 12%</a:t>
                      </a:r>
                      <a:r>
                        <a:rPr/>
                        <a:t> + NPK 2%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Inocuidad y Prohibiciones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Restricciones de Mercado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rning_ic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Alerta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Nombres Comerciales:</a:t>
            </a:r>
            <a:r>
              <a:rPr/>
              <a:t> Prohibido usar prefijos </a:t>
            </a:r>
            <a:r>
              <a:rPr b="1"/>
              <a:t>BIO</a:t>
            </a:r>
            <a:r>
              <a:rPr/>
              <a:t> o </a:t>
            </a:r>
            <a:r>
              <a:rPr b="1"/>
              <a:t>VITA</a:t>
            </a:r>
            <a:r>
              <a:rPr/>
              <a:t> salvo que involucren microorganismos vivos en su obtención.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Límites de Contaminantes:</a:t>
            </a:r>
          </a:p>
          <a:p>
            <a:pPr lvl="0"/>
            <a:r>
              <a:rPr b="1"/>
              <a:t>Arsénico:</a:t>
            </a:r>
            <a:r>
              <a:rPr/>
              <a:t> Máx 41 mg/kg.</a:t>
            </a:r>
          </a:p>
          <a:p>
            <a:pPr lvl="0"/>
            <a:r>
              <a:rPr b="1"/>
              <a:t>Cadmio:</a:t>
            </a:r>
            <a:r>
              <a:rPr/>
              <a:t> Máx 39 mg/kg.</a:t>
            </a:r>
          </a:p>
          <a:p>
            <a:pPr lvl="0"/>
            <a:r>
              <a:rPr b="1"/>
              <a:t>Plomo:</a:t>
            </a:r>
            <a:r>
              <a:rPr/>
              <a:t> Máx 20 mg/kg.</a:t>
            </a:r>
          </a:p>
          <a:p>
            <a:pPr lvl="0"/>
            <a:r>
              <a:rPr b="1"/>
              <a:t>Patógenos:</a:t>
            </a:r>
            <a:r>
              <a:rPr/>
              <a:t> Ausencia de </a:t>
            </a:r>
            <a:r>
              <a:rPr i="1"/>
              <a:t>Salmonella</a:t>
            </a:r>
            <a:r>
              <a:rPr/>
              <a:t> y </a:t>
            </a:r>
            <a:r>
              <a:rPr i="1"/>
              <a:t>Huevos de Helminto</a:t>
            </a:r>
            <a:r>
              <a:rPr/>
              <a:t>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Productos Afines: Nuevos Estándares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Aminoácidos:</a:t>
            </a:r>
            <a:r>
              <a:rPr/>
              <a:t> Mínimo </a:t>
            </a:r>
            <a:r>
              <a:rPr b="1"/>
              <a:t>6%</a:t>
            </a:r>
            <a:r>
              <a:rPr/>
              <a:t> de aminoácidos libres y declaración de origen.</a:t>
            </a:r>
          </a:p>
          <a:p>
            <a:pPr lvl="0"/>
            <a:r>
              <a:rPr b="1"/>
              <a:t>Extractos de Algas:</a:t>
            </a:r>
          </a:p>
          <a:p>
            <a:pPr lvl="1"/>
            <a:r>
              <a:rPr/>
              <a:t>Ácido algínico: Mínimo </a:t>
            </a:r>
            <a:r>
              <a:rPr b="1"/>
              <a:t>9%</a:t>
            </a:r>
            <a:r>
              <a:rPr/>
              <a:t>.</a:t>
            </a:r>
          </a:p>
          <a:p>
            <a:pPr lvl="1"/>
            <a:r>
              <a:rPr/>
              <a:t>Manitol: Mínimo </a:t>
            </a:r>
            <a:r>
              <a:rPr b="1"/>
              <a:t>3%</a:t>
            </a:r>
            <a:r>
              <a:rPr/>
              <a:t>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Conclusión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Disposiciones Transitorias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Plazo de Ajuste</a:t>
            </a:r>
          </a:p>
          <a:p>
            <a:pPr lvl="0"/>
            <a:r>
              <a:rPr b="1"/>
              <a:t>6 Meses</a:t>
            </a:r>
            <a:r>
              <a:rPr/>
              <a:t> a partir de la entrada en vigor de SimplifICA.</a:t>
            </a:r>
          </a:p>
          <a:p>
            <a:pPr lvl="0"/>
            <a:r>
              <a:rPr/>
              <a:t>Obligación de cargar toda la info de registros vigentes a la plataforma.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Riesgo de Pérdida</a:t>
            </a:r>
          </a:p>
          <a:p>
            <a:pPr lvl="0"/>
            <a:r>
              <a:rPr/>
              <a:t>Si no se subsana en 2 oportunidades (15 días c/u), se debe solicitar </a:t>
            </a:r>
            <a:r>
              <a:rPr b="1"/>
              <a:t>Nuevo Registro</a:t>
            </a:r>
            <a:r>
              <a:rPr/>
              <a:t>.</a:t>
            </a:r>
          </a:p>
          <a:p>
            <a:pPr lvl="0"/>
            <a:r>
              <a:rPr/>
              <a:t>Productos que no cumplan los nuevos mínimos técnicos irán a revaluación.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Modernización Normativa: Resolución 150 vs. Nueva Propuesta</dc:title>
  <dc:creator>Dirección Técnica</dc:creator>
  <cp:keywords/>
  <dcterms:created xsi:type="dcterms:W3CDTF">2026-02-18T12:51:46Z</dcterms:created>
  <dcterms:modified xsi:type="dcterms:W3CDTF">2026-02-18T12:51:46Z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Febrero 2026</vt:lpwstr>
  </property>
  <property fmtid="{D5CDD505-2E9C-101B-9397-08002B2CF9AE}" pid="3" name="subtitle">
    <vt:lpwstr>Análisis de Impacto Regulatorio (Fertilizantes y Afines)</vt:lpwstr>
  </property>
</Properties>
</file>