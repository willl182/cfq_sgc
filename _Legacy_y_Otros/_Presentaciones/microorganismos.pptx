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Introducción al contexto de la degradación del suelo y la transición hacia la gestión biológica.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Cierre: El futuro es la “Nutrición de Precisión” integrando consorcios microbianos [13]. Slide con imagen de fondo (Layout “Blank”).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Inóculos Microbianos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 Revolución Biológica en Nutrición de Suelos</a:t>
            </a:r>
            <a:br/>
            <a:br/>
            <a:r>
              <a:rPr/>
              <a:t>Departamento Técnico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Introducción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Problema vs. 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 Desafío: Agotamiento</a:t>
            </a:r>
          </a:p>
          <a:p>
            <a:pPr lvl="0"/>
            <a:r>
              <a:rPr/>
              <a:t>Degradación por uso intensivo de químicos [1].</a:t>
            </a:r>
          </a:p>
          <a:p>
            <a:pPr lvl="0"/>
            <a:r>
              <a:rPr/>
              <a:t>Nutrientes “bloqueados” (ej. 99.9% del Fósforo es insoluble) [1].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 Solución: Biológica</a:t>
            </a:r>
          </a:p>
          <a:p>
            <a:pPr lvl="0"/>
            <a:r>
              <a:rPr/>
              <a:t>Gestión mediante </a:t>
            </a:r>
            <a:r>
              <a:rPr b="1"/>
              <a:t>inóculos microbianos</a:t>
            </a:r>
            <a:r>
              <a:rPr/>
              <a:t> [3].</a:t>
            </a:r>
          </a:p>
          <a:p>
            <a:pPr lvl="0"/>
            <a:r>
              <a:rPr/>
              <a:t>“Fábricas biológicas” que transforman elementos en alimento asimilable [3].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1: Macronutrientes (N-P-K)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Estrategia 1: Fijación de Nitrógeno (BNF)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Comparación de Tipologías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Simbióticas (Alta Eficiencia)</a:t>
            </a:r>
          </a:p>
          <a:p>
            <a:pPr lvl="0"/>
            <a:r>
              <a:rPr b="1"/>
              <a:t>Microorganismo:</a:t>
            </a:r>
            <a:r>
              <a:rPr/>
              <a:t> </a:t>
            </a:r>
            <a:r>
              <a:rPr i="1"/>
              <a:t>Rhizobium</a:t>
            </a:r>
            <a:r>
              <a:rPr/>
              <a:t> [4].</a:t>
            </a:r>
          </a:p>
          <a:p>
            <a:pPr lvl="0"/>
            <a:r>
              <a:rPr b="1"/>
              <a:t>Mecanismo:</a:t>
            </a:r>
            <a:r>
              <a:rPr/>
              <a:t> Formación de nódulos (diálogo molecular) [5].</a:t>
            </a:r>
          </a:p>
          <a:p>
            <a:pPr lvl="0"/>
            <a:r>
              <a:rPr b="1"/>
              <a:t>Aporte:</a:t>
            </a:r>
            <a:r>
              <a:rPr/>
              <a:t> 80-90% del requerimiento en leguminosas [5].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Asociativas (Estimulantes)</a:t>
            </a:r>
          </a:p>
          <a:p>
            <a:pPr lvl="0"/>
            <a:r>
              <a:rPr b="1"/>
              <a:t>Microorganismo:</a:t>
            </a:r>
            <a:r>
              <a:rPr/>
              <a:t> </a:t>
            </a:r>
            <a:r>
              <a:rPr i="1"/>
              <a:t>Azospirillum</a:t>
            </a:r>
            <a:r>
              <a:rPr/>
              <a:t> [4].</a:t>
            </a:r>
          </a:p>
          <a:p>
            <a:pPr lvl="0"/>
            <a:r>
              <a:rPr b="1"/>
              <a:t>Mecanismo:</a:t>
            </a:r>
            <a:r>
              <a:rPr/>
              <a:t> Colonización de pelos radiculares [5].</a:t>
            </a:r>
          </a:p>
          <a:p>
            <a:pPr lvl="0"/>
            <a:r>
              <a:rPr b="1"/>
              <a:t>Aporte:</a:t>
            </a:r>
            <a:r>
              <a:rPr/>
              <a:t> +4-14% rendimiento en cereales (maíz/trigo) [5].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Mecanismo de Solubilización (P y K)</a:t>
            </a:r>
          </a:p>
        </p:txBody>
      </p:sp>
      <p:pic>
        <p:nvPicPr>
          <p:cNvPr descr="fig:  roots_acidificatio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Solubilización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 “Minería” Biológica:</a:t>
            </a:r>
          </a:p>
          <a:p>
            <a:pPr lvl="0"/>
            <a:r>
              <a:rPr b="1"/>
              <a:t>Acidificación:</a:t>
            </a:r>
            <a:r>
              <a:rPr/>
              <a:t> Bacterias (</a:t>
            </a:r>
            <a:r>
              <a:rPr i="1"/>
              <a:t>Pseudomonas</a:t>
            </a:r>
            <a:r>
              <a:rPr/>
              <a:t>) secretan ácidos orgánicos (glucónico, cítrico) que bajan el pH de la rizósfera [6].</a:t>
            </a:r>
          </a:p>
          <a:p>
            <a:pPr lvl="0"/>
            <a:r>
              <a:rPr b="1"/>
              <a:t>Enzimática:</a:t>
            </a:r>
            <a:r>
              <a:rPr/>
              <a:t> Liberación de Fosfatasas y Fitasas para romper materia orgánica [7].</a:t>
            </a:r>
          </a:p>
          <a:p>
            <a:pPr lvl="0"/>
            <a:r>
              <a:rPr b="1"/>
              <a:t>Resultado:</a:t>
            </a:r>
            <a:r>
              <a:rPr/>
              <a:t> Incremento de Fósforo disponible hasta un 86.8% [7].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2: Nutrientes Secundarios y Micro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Captura de Micronutrientes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Sideróforos (“Imanes Químicos”)</a:t>
            </a:r>
          </a:p>
          <a:p>
            <a:pPr lvl="0"/>
            <a:r>
              <a:rPr/>
              <a:t>Producidos por </a:t>
            </a:r>
            <a:r>
              <a:rPr i="1"/>
              <a:t>Pseudomonas fluorescens</a:t>
            </a:r>
            <a:r>
              <a:rPr/>
              <a:t> [8].</a:t>
            </a:r>
          </a:p>
          <a:p>
            <a:pPr lvl="0"/>
            <a:r>
              <a:rPr/>
              <a:t>Secuestran Hierro (Fe) en suelos alcalinos y lo entregan a la planta.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Disolventes de Calcita (Ca)</a:t>
            </a:r>
          </a:p>
          <a:p>
            <a:pPr lvl="0"/>
            <a:r>
              <a:rPr i="1"/>
              <a:t>Bacillus</a:t>
            </a:r>
            <a:r>
              <a:rPr/>
              <a:t> y </a:t>
            </a:r>
            <a:r>
              <a:rPr i="1"/>
              <a:t>Paenibacillus</a:t>
            </a:r>
            <a:r>
              <a:rPr/>
              <a:t> [9].</a:t>
            </a:r>
          </a:p>
          <a:p>
            <a:pPr lvl="0"/>
            <a:r>
              <a:rPr/>
              <a:t>Secretan ácidos para disolver carbonatos insolubles.</a:t>
            </a:r>
          </a:p>
          <a:p>
            <a:pPr lvl="0"/>
            <a:r>
              <a:rPr/>
              <a:t>Liberan Calcio (Ca²⁺) vital para la pared celular [9].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Azufre y Magnesio: Los Olvidados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Azufre (S):</a:t>
            </a:r>
            <a:r>
              <a:rPr/>
              <a:t> Las bacterias oxidantes (</a:t>
            </a:r>
            <a:r>
              <a:rPr i="1"/>
              <a:t>Thiobacillus</a:t>
            </a:r>
            <a:r>
              <a:rPr/>
              <a:t>) actúan como reactores químicos convirtiendo azufre elemental en sulfato asimilable [10].</a:t>
            </a:r>
          </a:p>
          <a:p>
            <a:pPr lvl="0"/>
            <a:r>
              <a:rPr b="1"/>
              <a:t>Magnesio (Mg):</a:t>
            </a:r>
            <a:r>
              <a:rPr/>
              <a:t> Cepas como </a:t>
            </a:r>
            <a:r>
              <a:rPr i="1"/>
              <a:t>Bacillus subtilis</a:t>
            </a:r>
            <a:r>
              <a:rPr/>
              <a:t> aceleran la degradación de silicatos [11].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Sección 3: Impacto y Conclusión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Beneficios Clave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Productividad:</a:t>
            </a:r>
            <a:r>
              <a:rPr/>
              <a:t> Incrementos de rendimiento entre 15% y 25% [8].</a:t>
            </a:r>
          </a:p>
          <a:p>
            <a:pPr lvl="0"/>
            <a:r>
              <a:rPr b="1"/>
              <a:t>Eficiencia:</a:t>
            </a:r>
            <a:r>
              <a:rPr/>
              <a:t> Reducción significativa de fertilizantes sintéticos (ahorro de Nitrógeno) [12].</a:t>
            </a:r>
          </a:p>
          <a:p>
            <a:pPr lvl="0"/>
            <a:r>
              <a:rPr b="1"/>
              <a:t>Salud del Suelo:</a:t>
            </a:r>
            <a:r>
              <a:rPr/>
              <a:t> Mejora de la estructura y vida del suelo a largo plazo [12].</a:t>
            </a:r>
          </a:p>
          <a:p>
            <a:pPr lvl="0"/>
            <a:r>
              <a:rPr b="1"/>
              <a:t>Resiliencia:</a:t>
            </a:r>
            <a:r>
              <a:rPr/>
              <a:t> Reducción del estrés oxidativo en plantas bajo calor extremo [11].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Inóculos Microbianos</dc:title>
  <dc:creator>Departamento Técnico</dc:creator>
  <cp:keywords/>
  <dcterms:created xsi:type="dcterms:W3CDTF">2026-02-18T12:13:57Z</dcterms:created>
  <dcterms:modified xsi:type="dcterms:W3CDTF">2026-02-18T12:13:57Z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2026-02-08</vt:lpwstr>
  </property>
  <property fmtid="{D5CDD505-2E9C-101B-9397-08002B2CF9AE}" pid="3" name="subtitle">
    <vt:lpwstr>La Revolución Biológica en Nutrición de Suelos</vt:lpwstr>
  </property>
</Properties>
</file>