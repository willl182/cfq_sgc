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84" r:id="rId18"/>
    <p:sldId id="273" r:id="rId19"/>
    <p:sldId id="274" r:id="rId20"/>
    <p:sldId id="275" r:id="rId21"/>
    <p:sldId id="276" r:id="rId22"/>
    <p:sldId id="277" r:id="rId23"/>
    <p:sldId id="279" r:id="rId24"/>
    <p:sldId id="280" r:id="rId2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Enfoque ejecutivo: no solo “qué existe”, sino qué ya es auditable y qué falta cerrar para evitar riesgo de pérdida de registro.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Mensaje clave: cumplimiento parcial alto, pero con 4 vacíos que son estructurales para auditoría de nueva resolución.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Esta lámina respalda explícitamente el alcance de la frase “estructura 3.1 a 3.20 implementada”. Resaltar que 3.04 y 3.07 se mantienen como N/A documentado.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Esta lámina respalda explícitamente el alcance de la frase “estructura 3.1 a 3.20 implementada”. Resaltar que 3.04 y 3.07 se mantienen como N/A documentado.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379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Cumplimiento ICA del SGC Actual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Febrero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Introducción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Objetivo de la Presentación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Mostrar cómo el SGC actual responde a los requerimientos del ICA en transición R150 -&gt; pv0.</a:t>
            </a:r>
          </a:p>
          <a:p>
            <a:pPr lvl="0"/>
            <a:r>
              <a:t>Evidenciar cumplimiento operativo ya consolidado.</a:t>
            </a:r>
          </a:p>
          <a:p>
            <a:pPr lvl="0"/>
            <a:r>
              <a:t>Priorizar brechas críticas para evitar riesgo regulatorio en SimplifICA.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Sección 1: Contexto Regulatorio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Marco de Cumplimiento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Norma Vigente (Base):</a:t>
            </a:r>
          </a:p>
          <a:p>
            <a:pPr lvl="0"/>
            <a:r>
              <a:t>Resolución ICA 150 de 2003.</a:t>
            </a:r>
          </a:p>
          <a:p>
            <a:pPr lvl="0"/>
            <a:r>
              <a:t>SGC histórico con procedimientos, registros y soporte técnico.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Transición (Nueva Exigencia):</a:t>
            </a:r>
          </a:p>
          <a:p>
            <a:pPr lvl="0"/>
            <a:r>
              <a:t>Propuesta pv0 con enfoque en riesgo, BPM/GDP y trazabilidad.</a:t>
            </a:r>
          </a:p>
          <a:p>
            <a:pPr lvl="0"/>
            <a:r>
              <a:t>Ventana de migración: 6 meses tras activación de SimplifICA.</a:t>
            </a:r>
          </a:p>
          <a:p>
            <a:pPr lvl="0"/>
            <a:r>
              <a:t>Regla de “dos strikes” (15 + 15 días hábiles) para subsanación.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Riesgo Crítico a Gestionar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Error documental no corregido en segunda oportunidad -&gt; pérdida de registro -&gt; trámite de Nuevo Registro.</a:t>
            </a:r>
          </a:p>
          <a:p>
            <a:pPr lvl="0"/>
            <a:r>
              <a:t>Impacto potencial sobre continuidad comercial del portafolio.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Sección 2: Cobertura del SGC Actual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Interpretación de Cumplimiento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La base documental es robusta y suficiente para soportar auditoría.</a:t>
            </a:r>
          </a:p>
          <a:p>
            <a:pPr lvl="0"/>
            <a:r>
              <a:t>El reto no es “crear todo desde cero”, sino normalizar, centralizar y demostrar trazabilidad punta a punta.</a:t>
            </a:r>
          </a:p>
          <a:p>
            <a:pPr lvl="0"/>
            <a:r>
              <a:t>La evidencia existe, pero parte está dispersa o en formatos heterogéneos.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Sección 3: Cumplimiento por Pilares ICA (Anexo I)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Estado General de los 18 Pilares Procedimentales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Estado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Cantidad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Existen y operan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Parciales o dispersos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Faltantes críticos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Pilares Faltantes Prioritarios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Almacenamiento de contramuestras.</a:t>
            </a:r>
          </a:p>
          <a:p>
            <a:pPr lvl="0"/>
            <a:r>
              <a:t>Control documental integral.</a:t>
            </a:r>
          </a:p>
          <a:p>
            <a:pPr lvl="0"/>
            <a:r>
              <a:t>Retiro de producto / recall y trazabilidad de mercado.</a:t>
            </a:r>
          </a:p>
          <a:p>
            <a:pPr lvl="0"/>
            <a:r>
              <a:t>Gestión del laboratorio en un esquema centralizado.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Sección 4: Evidencia de Avance ya Implementada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Módulo 03 Procedimientos (Numeral 3 ICA)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Estado Documental Actual</a:t>
            </a:r>
          </a:p>
          <a:p>
            <a:pPr lvl="0"/>
            <a:r>
              <a:t>Estructura 3.1 a 3.20 implementada.</a:t>
            </a:r>
          </a:p>
          <a:p>
            <a:pPr lvl="0"/>
            <a:r>
              <a:t>Cobertura: 18 POE + 2 Actas N/A.</a:t>
            </a:r>
          </a:p>
          <a:p>
            <a:pPr lvl="0"/>
            <a:r>
              <a:t>Soporte operativo: formatos y registros por procedimiento.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 err="1"/>
              <a:t>Cierre</a:t>
            </a:r>
            <a:r>
              <a:rPr b="1" dirty="0"/>
              <a:t> de </a:t>
            </a:r>
            <a:r>
              <a:rPr b="1" dirty="0" err="1"/>
              <a:t>Brecha</a:t>
            </a:r>
            <a:r>
              <a:rPr b="1" dirty="0"/>
              <a:t> </a:t>
            </a:r>
            <a:r>
              <a:rPr b="1" dirty="0" err="1"/>
              <a:t>Crítica</a:t>
            </a:r>
            <a:endParaRPr b="1" dirty="0"/>
          </a:p>
          <a:p>
            <a:pPr lvl="0"/>
            <a:r>
              <a:rPr dirty="0"/>
              <a:t>Pilar 9 (</a:t>
            </a:r>
            <a:r>
              <a:rPr dirty="0" err="1"/>
              <a:t>Limpieza</a:t>
            </a:r>
            <a:r>
              <a:rPr dirty="0"/>
              <a:t> y </a:t>
            </a:r>
            <a:r>
              <a:rPr dirty="0" err="1"/>
              <a:t>desinfección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Semáforo Actual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Documentación de procedimientos ICA: </a:t>
            </a:r>
            <a:r>
              <a:rPr b="1"/>
              <a:t>VERDE</a:t>
            </a:r>
            <a:r>
              <a:t>.</a:t>
            </a:r>
          </a:p>
          <a:p>
            <a:pPr lvl="0"/>
            <a:r>
              <a:t>Evidencia operativa en campo (lotes reales): </a:t>
            </a:r>
            <a:r>
              <a:rPr b="1"/>
              <a:t>AMARILLO</a:t>
            </a:r>
            <a:r>
              <a:t>.</a:t>
            </a:r>
          </a:p>
          <a:p>
            <a:pPr lvl="0"/>
            <a:r>
              <a:t>Brechas complementarias regulatorias: </a:t>
            </a:r>
            <a:r>
              <a:rPr b="1"/>
              <a:t>AMARILLO</a:t>
            </a:r>
            <a: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Sección 4A: Estructura Completa del Módulo 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Mapa 3.01 a 3.20 (Visible para Auditoría)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0141127"/>
              </p:ext>
            </p:extLst>
          </p:nvPr>
        </p:nvGraphicFramePr>
        <p:xfrm>
          <a:off x="457200" y="1193800"/>
          <a:ext cx="8229600" cy="3268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Código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Proceso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/>
                        <a:t>3.01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Recepción y Almacenamiento de 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/>
                        <a:t>3.02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Limpieza y Desinfección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/>
                        <a:t>3.03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s-CO" dirty="0"/>
                        <a:t>N/A </a:t>
                      </a:r>
                      <a:r>
                        <a:rPr dirty="0" err="1"/>
                        <a:t>Molienda</a:t>
                      </a:r>
                      <a:r>
                        <a:rPr dirty="0"/>
                        <a:t> Primaria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/>
                        <a:t>3.04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/>
                        <a:t>N/A </a:t>
                      </a:r>
                      <a:r>
                        <a:rPr dirty="0" err="1"/>
                        <a:t>Pirolisis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3.05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Balance de Materias Primas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/>
                        <a:t>3.06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Mezcla y Homogenización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3.07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/>
                        <a:t>N/A </a:t>
                      </a:r>
                      <a:r>
                        <a:rPr dirty="0" err="1"/>
                        <a:t>Reacciones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Químicas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3.08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 err="1"/>
                        <a:t>Presentación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Física</a:t>
                      </a:r>
                      <a:r>
                        <a:rPr dirty="0"/>
                        <a:t> y </a:t>
                      </a:r>
                      <a:r>
                        <a:rPr dirty="0" err="1"/>
                        <a:t>Granulación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3.09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 err="1"/>
                        <a:t>Molienda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Secundaria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3.10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 err="1"/>
                        <a:t>Envase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Mapa 3.01 a 3.20 (Visible para Auditoría)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9934233"/>
              </p:ext>
            </p:extLst>
          </p:nvPr>
        </p:nvGraphicFramePr>
        <p:xfrm>
          <a:off x="457200" y="1193800"/>
          <a:ext cx="8229600" cy="3268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Código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Proceso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3.11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 err="1"/>
                        <a:t>Codificación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Lotes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3.12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Liberación de Lotes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3.13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Muestreo y Control de Calidad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3.14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Contramuestras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3.15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Higiene y Seguridad Industrial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3.16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Servicio al Cliente y PQR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3.17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Almacenamiento de 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3.18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Disposición de Residuos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3.19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Formulaciones de Terceros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3.20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 err="1"/>
                        <a:t>Entrega</a:t>
                      </a:r>
                      <a:r>
                        <a:rPr dirty="0"/>
                        <a:t> de MP para </a:t>
                      </a:r>
                      <a:r>
                        <a:rPr dirty="0" err="1"/>
                        <a:t>Importación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Terceros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3300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Sección 5: Cumplimiento Técnico del Producto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Requisitos Críticos ya Integrados en Control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48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Requisito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Criterio 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NPK (1 nutriente mayor)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&gt;= 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NPK compuesto sólido edáfico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&gt;= 18% (sumatoria)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NPK compuesto fertirriego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&gt;= 15% (sumatoria)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Metales pesados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As 41, Cd 39, Pb 20 mg/kg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Soporte Existente en el SGC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Herramientas de formulación/verificación en laboratorio (</a:t>
            </a:r>
            <a:r>
              <a:rPr>
                <a:latin typeface="Courier"/>
              </a:rPr>
              <a:t>.xlsm</a:t>
            </a:r>
            <a:r>
              <a:t>).</a:t>
            </a:r>
          </a:p>
          <a:p>
            <a:pPr lvl="0"/>
            <a:r>
              <a:t>Resultados externos y certificados para respaldo analítico.</a:t>
            </a:r>
          </a:p>
          <a:p>
            <a:pPr lvl="0"/>
            <a:r>
              <a:t>Procedimientos de muestreo y liberación de lotes ya documentados.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Sección 6: Brechas para Cumplimiento Total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Top 5 Acciones de Cierre (Prioridad Alta)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CO" dirty="0"/>
              <a:t>C</a:t>
            </a:r>
            <a:r>
              <a:rPr dirty="0" err="1"/>
              <a:t>ontrato</a:t>
            </a:r>
            <a:r>
              <a:rPr dirty="0"/>
              <a:t> de </a:t>
            </a:r>
            <a:r>
              <a:rPr dirty="0" err="1"/>
              <a:t>Asesor</a:t>
            </a:r>
            <a:r>
              <a:rPr dirty="0"/>
              <a:t> Técnico con </a:t>
            </a:r>
            <a:r>
              <a:rPr dirty="0" err="1"/>
              <a:t>acompañamiento</a:t>
            </a:r>
            <a:r>
              <a:rPr dirty="0"/>
              <a:t> </a:t>
            </a:r>
            <a:r>
              <a:rPr dirty="0" err="1"/>
              <a:t>permanente</a:t>
            </a:r>
            <a:r>
              <a:rPr dirty="0"/>
              <a:t>.</a:t>
            </a:r>
          </a:p>
          <a:p>
            <a:pPr lvl="0"/>
            <a:r>
              <a:rPr dirty="0" err="1"/>
              <a:t>Emitir</a:t>
            </a:r>
            <a:r>
              <a:rPr dirty="0"/>
              <a:t> </a:t>
            </a:r>
            <a:r>
              <a:rPr dirty="0" err="1"/>
              <a:t>procedimiento</a:t>
            </a:r>
            <a:r>
              <a:rPr dirty="0"/>
              <a:t> de Balance de </a:t>
            </a:r>
            <a:r>
              <a:rPr dirty="0" err="1"/>
              <a:t>Masas</a:t>
            </a:r>
            <a:r>
              <a:rPr dirty="0"/>
              <a:t>.</a:t>
            </a:r>
          </a:p>
          <a:p>
            <a:pPr lvl="0"/>
            <a:r>
              <a:rPr dirty="0" err="1"/>
              <a:t>Emitir</a:t>
            </a:r>
            <a:r>
              <a:rPr dirty="0"/>
              <a:t> </a:t>
            </a:r>
            <a:r>
              <a:rPr dirty="0" err="1"/>
              <a:t>procedimiento</a:t>
            </a:r>
            <a:r>
              <a:rPr dirty="0"/>
              <a:t> de </a:t>
            </a:r>
            <a:r>
              <a:rPr dirty="0" err="1"/>
              <a:t>Contramuestras</a:t>
            </a:r>
            <a:r>
              <a:rPr dirty="0"/>
              <a:t>.</a:t>
            </a:r>
          </a:p>
          <a:p>
            <a:pPr lvl="0"/>
            <a:r>
              <a:rPr dirty="0" err="1"/>
              <a:t>Emitir</a:t>
            </a:r>
            <a:r>
              <a:rPr dirty="0"/>
              <a:t> </a:t>
            </a:r>
            <a:r>
              <a:rPr dirty="0" err="1"/>
              <a:t>procedimiento</a:t>
            </a:r>
            <a:r>
              <a:rPr dirty="0"/>
              <a:t> de Recall / </a:t>
            </a:r>
            <a:r>
              <a:rPr dirty="0" err="1"/>
              <a:t>Retiro</a:t>
            </a:r>
            <a:r>
              <a:rPr dirty="0"/>
              <a:t> de </a:t>
            </a:r>
            <a:r>
              <a:rPr dirty="0" err="1"/>
              <a:t>Producto</a:t>
            </a:r>
            <a:r>
              <a:rPr dirty="0"/>
              <a:t>.</a:t>
            </a:r>
          </a:p>
          <a:p>
            <a:pPr lvl="0"/>
            <a:r>
              <a:rPr dirty="0" err="1"/>
              <a:t>Emitir</a:t>
            </a:r>
            <a:r>
              <a:rPr dirty="0"/>
              <a:t> </a:t>
            </a:r>
            <a:r>
              <a:rPr dirty="0" err="1"/>
              <a:t>procedimiento</a:t>
            </a:r>
            <a:r>
              <a:rPr dirty="0"/>
              <a:t> de </a:t>
            </a:r>
            <a:r>
              <a:rPr dirty="0" err="1"/>
              <a:t>Disposición</a:t>
            </a:r>
            <a:r>
              <a:rPr dirty="0"/>
              <a:t> de </a:t>
            </a:r>
            <a:r>
              <a:rPr dirty="0" err="1"/>
              <a:t>Barreduras</a:t>
            </a:r>
            <a:r>
              <a:rPr dirty="0"/>
              <a:t> (sin </a:t>
            </a:r>
            <a:r>
              <a:rPr dirty="0" err="1"/>
              <a:t>reutilización</a:t>
            </a:r>
            <a:r>
              <a:rPr dirty="0"/>
              <a:t>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Sección 7: Hoja de Ruta de Aseguramiento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Plan de </a:t>
            </a:r>
            <a:r>
              <a:rPr dirty="0" err="1"/>
              <a:t>Ejecución</a:t>
            </a:r>
            <a:r>
              <a:rPr dirty="0"/>
              <a:t> </a:t>
            </a:r>
            <a:r>
              <a:rPr dirty="0" err="1"/>
              <a:t>Inmediata</a:t>
            </a:r>
            <a:r>
              <a:rPr dirty="0"/>
              <a:t> (0-</a:t>
            </a:r>
            <a:r>
              <a:rPr lang="es-CO" dirty="0"/>
              <a:t>3</a:t>
            </a:r>
            <a:r>
              <a:rPr dirty="0"/>
              <a:t>0 días)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1575671"/>
              </p:ext>
            </p:extLst>
          </p:nvPr>
        </p:nvGraphicFramePr>
        <p:xfrm>
          <a:off x="457200" y="119380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Horizonte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Objetivo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/>
                        <a:t>0-</a:t>
                      </a:r>
                      <a:r>
                        <a:rPr lang="es-CO" dirty="0"/>
                        <a:t>15</a:t>
                      </a:r>
                      <a:r>
                        <a:rPr dirty="0"/>
                        <a:t> días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 err="1"/>
                        <a:t>Cerrar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los</a:t>
                      </a:r>
                      <a:r>
                        <a:rPr dirty="0"/>
                        <a:t> 5 </a:t>
                      </a:r>
                      <a:r>
                        <a:rPr dirty="0" err="1"/>
                        <a:t>documentos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críticos</a:t>
                      </a:r>
                      <a:r>
                        <a:rPr dirty="0"/>
                        <a:t> y </a:t>
                      </a:r>
                      <a:r>
                        <a:rPr dirty="0" err="1"/>
                        <a:t>aprobar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versiones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controladas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s-CO" dirty="0"/>
                        <a:t>16</a:t>
                      </a:r>
                      <a:r>
                        <a:rPr dirty="0"/>
                        <a:t>-</a:t>
                      </a:r>
                      <a:r>
                        <a:rPr lang="es-CO" dirty="0"/>
                        <a:t>3</a:t>
                      </a:r>
                      <a:r>
                        <a:rPr dirty="0"/>
                        <a:t>0 días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Ejecutar pilotos con lotes reales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763</Words>
  <Application>Microsoft Office PowerPoint</Application>
  <PresentationFormat>Presentación en pantalla (16:9)</PresentationFormat>
  <Paragraphs>137</Paragraphs>
  <Slides>24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8" baseType="lpstr">
      <vt:lpstr>Arial</vt:lpstr>
      <vt:lpstr>Calibri</vt:lpstr>
      <vt:lpstr>Courier</vt:lpstr>
      <vt:lpstr>Office Theme</vt:lpstr>
      <vt:lpstr>Cumplimiento ICA del SGC Actual</vt:lpstr>
      <vt:lpstr>Introducción</vt:lpstr>
      <vt:lpstr>Objetivo de la Presentación</vt:lpstr>
      <vt:lpstr>Sección 1: Contexto Regulatorio</vt:lpstr>
      <vt:lpstr>Marco de Cumplimiento</vt:lpstr>
      <vt:lpstr>Riesgo Crítico a Gestionar</vt:lpstr>
      <vt:lpstr>Sección 2: Cobertura del SGC Actual</vt:lpstr>
      <vt:lpstr>Interpretación de Cumplimiento</vt:lpstr>
      <vt:lpstr>Sección 3: Cumplimiento por Pilares ICA (Anexo I)</vt:lpstr>
      <vt:lpstr>Estado General de los 18 Pilares Procedimentales</vt:lpstr>
      <vt:lpstr>Pilares Faltantes Prioritarios</vt:lpstr>
      <vt:lpstr>Sección 4: Evidencia de Avance ya Implementada</vt:lpstr>
      <vt:lpstr>Módulo 03 Procedimientos (Numeral 3 ICA)</vt:lpstr>
      <vt:lpstr>Semáforo Actual</vt:lpstr>
      <vt:lpstr>Sección 4A: Estructura Completa del Módulo 03</vt:lpstr>
      <vt:lpstr>Mapa 3.01 a 3.20 (Visible para Auditoría)</vt:lpstr>
      <vt:lpstr>Mapa 3.01 a 3.20 (Visible para Auditoría)</vt:lpstr>
      <vt:lpstr>Sección 5: Cumplimiento Técnico del Producto</vt:lpstr>
      <vt:lpstr>Requisitos Críticos ya Integrados en Control</vt:lpstr>
      <vt:lpstr>Soporte Existente en el SGC</vt:lpstr>
      <vt:lpstr>Sección 6: Brechas para Cumplimiento Total</vt:lpstr>
      <vt:lpstr>Top 5 Acciones de Cierre (Prioridad Alta)</vt:lpstr>
      <vt:lpstr>Sección 7: Hoja de Ruta de Aseguramiento</vt:lpstr>
      <vt:lpstr>Plan de Ejecución Inmediata (0-30 días)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Cumplimiento ICA del SGC Actual</dc:title>
  <dc:creator>Dirección Técnica y Calidad</dc:creator>
  <cp:keywords/>
  <cp:lastModifiedBy>DIRECCION TECNICA</cp:lastModifiedBy>
  <cp:revision>2</cp:revision>
  <dcterms:created xsi:type="dcterms:W3CDTF">2026-02-18T13:05:05Z</dcterms:created>
  <dcterms:modified xsi:type="dcterms:W3CDTF">2026-02-18T13:19:03Z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Febrero 2026</vt:lpwstr>
  </property>
  <property fmtid="{D5CDD505-2E9C-101B-9397-08002B2CF9AE}" pid="3" name="subtitle">
    <vt:lpwstr>Estado Real, Evidencias y Cierre de Brechas</vt:lpwstr>
  </property>
</Properties>
</file>