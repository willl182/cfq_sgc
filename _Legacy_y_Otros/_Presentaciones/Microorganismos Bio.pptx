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62" r:id="rId2"/>
    <p:sldId id="323" r:id="rId3"/>
    <p:sldId id="324" r:id="rId4"/>
    <p:sldId id="258" r:id="rId5"/>
    <p:sldId id="259" r:id="rId6"/>
    <p:sldId id="260" r:id="rId7"/>
    <p:sldId id="325" r:id="rId8"/>
    <p:sldId id="326" r:id="rId9"/>
    <p:sldId id="327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Bold" panose="00000800000000000000" charset="0"/>
      <p:regular r:id="rId17"/>
      <p:bold r:id="rId18"/>
    </p:embeddedFont>
    <p:embeddedFont>
      <p:font typeface="Open Sans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BA2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4CDD2-43F1-4349-AAD7-7AFCFB5B6A96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D96F0-6EA2-4CF9-98F4-DD7468DA0B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27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Introducción al contexto de la degradación del suelo y la transición hacia la gestión biológica.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4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 anchor="t"/>
          <a:lstStyle>
            <a:lvl1pPr algn="l">
              <a:defRPr sz="6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6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2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2"/>
            <a:ext cx="8077200" cy="6788944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0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1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14097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600200"/>
            <a:ext cx="15544800" cy="704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FE7D6CD0-76C4-207E-90F6-32EEF3441300}"/>
              </a:ext>
            </a:extLst>
          </p:cNvPr>
          <p:cNvSpPr/>
          <p:nvPr userDrawn="1"/>
        </p:nvSpPr>
        <p:spPr>
          <a:xfrm flipH="1">
            <a:off x="-431" y="7810500"/>
            <a:ext cx="2255598" cy="2471928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5106262" y="0"/>
                </a:moveTo>
                <a:lnTo>
                  <a:pt x="0" y="0"/>
                </a:lnTo>
                <a:lnTo>
                  <a:pt x="0" y="5595993"/>
                </a:lnTo>
                <a:lnTo>
                  <a:pt x="5106262" y="5595993"/>
                </a:lnTo>
                <a:lnTo>
                  <a:pt x="510626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dirty="0"/>
          </a:p>
        </p:txBody>
      </p:sp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D2C8CDC9-DCAC-0A34-89C0-B269AE60DE5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5192" y="274638"/>
            <a:ext cx="2115608" cy="1143000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83B53FA8-DB98-AC3F-E577-D1B489713D3B}"/>
              </a:ext>
            </a:extLst>
          </p:cNvPr>
          <p:cNvSpPr/>
          <p:nvPr userDrawn="1"/>
        </p:nvSpPr>
        <p:spPr>
          <a:xfrm>
            <a:off x="175244" y="399273"/>
            <a:ext cx="955860" cy="893729"/>
          </a:xfrm>
          <a:custGeom>
            <a:avLst/>
            <a:gdLst/>
            <a:ahLst/>
            <a:cxnLst/>
            <a:rect l="l" t="t" r="r" b="b"/>
            <a:pathLst>
              <a:path w="955860" h="893729">
                <a:moveTo>
                  <a:pt x="0" y="0"/>
                </a:moveTo>
                <a:lnTo>
                  <a:pt x="955861" y="0"/>
                </a:lnTo>
                <a:lnTo>
                  <a:pt x="955861" y="893729"/>
                </a:lnTo>
                <a:lnTo>
                  <a:pt x="0" y="8937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5400" b="1" kern="1200">
          <a:solidFill>
            <a:srgbClr val="88BA2D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" r="-185"/>
            </a:stretch>
          </a:blipFill>
        </p:spPr>
        <p:txBody>
          <a:bodyPr/>
          <a:lstStyle/>
          <a:p>
            <a:endParaRPr lang="es-CO" dirty="0"/>
          </a:p>
        </p:txBody>
      </p:sp>
      <p:sp>
        <p:nvSpPr>
          <p:cNvPr id="3" name="Freeform 3"/>
          <p:cNvSpPr/>
          <p:nvPr/>
        </p:nvSpPr>
        <p:spPr>
          <a:xfrm flipH="1">
            <a:off x="0" y="4691007"/>
            <a:ext cx="5106262" cy="5595993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5106262" y="0"/>
                </a:moveTo>
                <a:lnTo>
                  <a:pt x="0" y="0"/>
                </a:lnTo>
                <a:lnTo>
                  <a:pt x="0" y="5595993"/>
                </a:lnTo>
                <a:lnTo>
                  <a:pt x="5106262" y="5595993"/>
                </a:lnTo>
                <a:lnTo>
                  <a:pt x="510626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3181738" y="0"/>
            <a:ext cx="5106262" cy="5595993"/>
          </a:xfrm>
          <a:custGeom>
            <a:avLst/>
            <a:gdLst/>
            <a:ahLst/>
            <a:cxnLst/>
            <a:rect l="l" t="t" r="r" b="b"/>
            <a:pathLst>
              <a:path w="5106262" h="5595993">
                <a:moveTo>
                  <a:pt x="0" y="5595993"/>
                </a:moveTo>
                <a:lnTo>
                  <a:pt x="5106262" y="5595993"/>
                </a:lnTo>
                <a:lnTo>
                  <a:pt x="5106262" y="0"/>
                </a:lnTo>
                <a:lnTo>
                  <a:pt x="0" y="0"/>
                </a:lnTo>
                <a:lnTo>
                  <a:pt x="0" y="559599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67215" y="182206"/>
            <a:ext cx="7553569" cy="4080970"/>
          </a:xfrm>
          <a:custGeom>
            <a:avLst/>
            <a:gdLst/>
            <a:ahLst/>
            <a:cxnLst/>
            <a:rect l="l" t="t" r="r" b="b"/>
            <a:pathLst>
              <a:path w="7553569" h="4080970">
                <a:moveTo>
                  <a:pt x="0" y="0"/>
                </a:moveTo>
                <a:lnTo>
                  <a:pt x="7553568" y="0"/>
                </a:lnTo>
                <a:lnTo>
                  <a:pt x="7553568" y="4080970"/>
                </a:lnTo>
                <a:lnTo>
                  <a:pt x="0" y="4080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471600" y="8569420"/>
            <a:ext cx="1575401" cy="1377760"/>
          </a:xfrm>
          <a:custGeom>
            <a:avLst/>
            <a:gdLst/>
            <a:ahLst/>
            <a:cxnLst/>
            <a:rect l="l" t="t" r="r" b="b"/>
            <a:pathLst>
              <a:path w="1575401" h="1377760">
                <a:moveTo>
                  <a:pt x="0" y="0"/>
                </a:moveTo>
                <a:lnTo>
                  <a:pt x="1575400" y="0"/>
                </a:lnTo>
                <a:lnTo>
                  <a:pt x="1575400" y="1377760"/>
                </a:lnTo>
                <a:lnTo>
                  <a:pt x="0" y="1377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587B96-909F-4EFA-C0A5-32A3B96F85EF}"/>
              </a:ext>
            </a:extLst>
          </p:cNvPr>
          <p:cNvSpPr/>
          <p:nvPr/>
        </p:nvSpPr>
        <p:spPr>
          <a:xfrm>
            <a:off x="0" y="4254686"/>
            <a:ext cx="18288000" cy="3231546"/>
          </a:xfrm>
          <a:prstGeom prst="rect">
            <a:avLst/>
          </a:prstGeom>
          <a:solidFill>
            <a:srgbClr val="000000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3297690" y="4257457"/>
            <a:ext cx="7973903" cy="18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</a:pPr>
            <a:r>
              <a:rPr lang="en-US" sz="10971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Cultivando</a:t>
            </a:r>
            <a:endParaRPr lang="en-US" sz="10971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15242" y="5615726"/>
            <a:ext cx="7923852" cy="18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60"/>
              </a:lnSpc>
            </a:pPr>
            <a:r>
              <a:rPr lang="en-US" sz="10971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Soluciones</a:t>
            </a:r>
            <a:endParaRPr lang="en-US" sz="10971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7591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9"/>
            <a:ext cx="15544800" cy="2205038"/>
          </a:xfrm>
        </p:spPr>
        <p:txBody>
          <a:bodyPr/>
          <a:lstStyle/>
          <a:p>
            <a:r>
              <a:t>Inóculos Microbianos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2026-02-08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vs. 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El Desafío: Agotamiento</a:t>
            </a:r>
          </a:p>
          <a:p>
            <a:pPr lvl="0"/>
            <a:r>
              <a:t>Degradación por uso intensivo de químicos [1].</a:t>
            </a:r>
          </a:p>
          <a:p>
            <a:pPr lvl="0"/>
            <a:r>
              <a:t>Nutrientes “bloqueados” (ej. 99.9% del Fósforo es insoluble) [1].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La Solución: Biológica</a:t>
            </a:r>
          </a:p>
          <a:p>
            <a:pPr lvl="0"/>
            <a:r>
              <a:t>Gestión mediante </a:t>
            </a:r>
            <a:r>
              <a:rPr b="1"/>
              <a:t>inóculos microbianos</a:t>
            </a:r>
            <a:r>
              <a:t> [3].</a:t>
            </a:r>
          </a:p>
          <a:p>
            <a:pPr lvl="0"/>
            <a:r>
              <a:t>“Fábricas biológicas” que transforman elementos en alimento asimilable [3].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1: Macronutrientes (N-P-K)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Fijación</a:t>
            </a:r>
            <a:r>
              <a:rPr dirty="0"/>
              <a:t> de </a:t>
            </a:r>
            <a:r>
              <a:rPr dirty="0" err="1"/>
              <a:t>Nitrógeno</a:t>
            </a:r>
            <a:r>
              <a:rPr dirty="0"/>
              <a:t> (BNF)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dirty="0" err="1"/>
              <a:t>Comparación</a:t>
            </a:r>
            <a:r>
              <a:rPr i="1" dirty="0"/>
              <a:t> de </a:t>
            </a:r>
            <a:r>
              <a:rPr i="1" dirty="0" err="1"/>
              <a:t>Tipologías</a:t>
            </a:r>
            <a:endParaRPr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14400" y="2400302"/>
            <a:ext cx="8077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ES" b="1"/>
              <a:t>Simbióticas (Alta Eficiencia)</a:t>
            </a:r>
          </a:p>
          <a:p>
            <a:r>
              <a:rPr lang="es-ES" b="1"/>
              <a:t>Microorganismo:</a:t>
            </a:r>
            <a:r>
              <a:rPr lang="es-ES"/>
              <a:t> </a:t>
            </a:r>
            <a:r>
              <a:rPr lang="es-ES" i="1"/>
              <a:t>Rhizobium</a:t>
            </a:r>
            <a:r>
              <a:rPr lang="es-ES"/>
              <a:t> [4].</a:t>
            </a:r>
          </a:p>
          <a:p>
            <a:r>
              <a:rPr lang="es-ES" b="1"/>
              <a:t>Mecanismo:</a:t>
            </a:r>
            <a:r>
              <a:rPr lang="es-ES"/>
              <a:t> Formación de nódulos (diálogo molecular) [5].</a:t>
            </a:r>
          </a:p>
          <a:p>
            <a:r>
              <a:rPr lang="es-ES" b="1"/>
              <a:t>Aporte:</a:t>
            </a:r>
            <a:r>
              <a:rPr lang="es-ES"/>
              <a:t> 80-90% del requerimiento en leguminosas [5].</a:t>
            </a:r>
            <a:endParaRPr lang="es-E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9296400" y="2400302"/>
            <a:ext cx="8077200" cy="67889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s-CO" b="1"/>
              <a:t>Asociativas (Estimulantes)</a:t>
            </a:r>
          </a:p>
          <a:p>
            <a:r>
              <a:rPr lang="es-CO" b="1"/>
              <a:t>Microorganismo:</a:t>
            </a:r>
            <a:r>
              <a:rPr lang="es-CO"/>
              <a:t> </a:t>
            </a:r>
            <a:r>
              <a:rPr lang="es-CO" i="1"/>
              <a:t>Azospirillum</a:t>
            </a:r>
            <a:r>
              <a:rPr lang="es-CO"/>
              <a:t> [4].</a:t>
            </a:r>
          </a:p>
          <a:p>
            <a:r>
              <a:rPr lang="es-CO" b="1"/>
              <a:t>Mecanismo:</a:t>
            </a:r>
            <a:r>
              <a:rPr lang="es-CO"/>
              <a:t> Colonización de pelos radiculares [5].</a:t>
            </a:r>
          </a:p>
          <a:p>
            <a:r>
              <a:rPr lang="es-CO" b="1"/>
              <a:t>Aporte:</a:t>
            </a:r>
            <a:r>
              <a:rPr lang="es-CO"/>
              <a:t> +4-14% rendimiento en cereales (maíz/trigo) [5].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Mecanismo de Solubilización (P y 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/>
              <a:t>La “</a:t>
            </a:r>
            <a:r>
              <a:rPr b="1" dirty="0" err="1"/>
              <a:t>Minería</a:t>
            </a:r>
            <a:r>
              <a:rPr b="1" dirty="0"/>
              <a:t>” </a:t>
            </a:r>
            <a:r>
              <a:rPr b="1" dirty="0" err="1"/>
              <a:t>Biológica</a:t>
            </a:r>
            <a:r>
              <a:rPr b="1" dirty="0"/>
              <a:t>:</a:t>
            </a:r>
          </a:p>
          <a:p>
            <a:pPr lvl="0"/>
            <a:r>
              <a:rPr b="1" dirty="0" err="1"/>
              <a:t>Acidificación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Bacterias</a:t>
            </a:r>
            <a:r>
              <a:rPr dirty="0"/>
              <a:t> (</a:t>
            </a:r>
            <a:r>
              <a:rPr i="1" dirty="0"/>
              <a:t>Pseudomonas</a:t>
            </a:r>
            <a:r>
              <a:rPr dirty="0"/>
              <a:t>) </a:t>
            </a:r>
            <a:r>
              <a:rPr dirty="0" err="1"/>
              <a:t>secretan</a:t>
            </a:r>
            <a:r>
              <a:rPr dirty="0"/>
              <a:t> </a:t>
            </a:r>
            <a:r>
              <a:rPr dirty="0" err="1"/>
              <a:t>ácidos</a:t>
            </a:r>
            <a:r>
              <a:rPr dirty="0"/>
              <a:t> </a:t>
            </a:r>
            <a:r>
              <a:rPr dirty="0" err="1"/>
              <a:t>orgánicos</a:t>
            </a:r>
            <a:r>
              <a:rPr dirty="0"/>
              <a:t> (</a:t>
            </a:r>
            <a:r>
              <a:rPr dirty="0" err="1"/>
              <a:t>glucónico</a:t>
            </a:r>
            <a:r>
              <a:rPr dirty="0"/>
              <a:t>, </a:t>
            </a:r>
            <a:r>
              <a:rPr dirty="0" err="1"/>
              <a:t>cítrico</a:t>
            </a:r>
            <a:r>
              <a:rPr dirty="0"/>
              <a:t>) que </a:t>
            </a:r>
            <a:r>
              <a:rPr dirty="0" err="1"/>
              <a:t>bajan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pH de la </a:t>
            </a:r>
            <a:r>
              <a:rPr dirty="0" err="1"/>
              <a:t>rizósfera</a:t>
            </a:r>
            <a:r>
              <a:rPr dirty="0"/>
              <a:t> [6].</a:t>
            </a:r>
          </a:p>
          <a:p>
            <a:pPr lvl="0"/>
            <a:r>
              <a:rPr b="1" dirty="0" err="1"/>
              <a:t>Enzimática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Liberación</a:t>
            </a:r>
            <a:r>
              <a:rPr dirty="0"/>
              <a:t> de </a:t>
            </a:r>
            <a:r>
              <a:rPr dirty="0" err="1"/>
              <a:t>Fosfatasas</a:t>
            </a:r>
            <a:r>
              <a:rPr dirty="0"/>
              <a:t> y </a:t>
            </a:r>
            <a:r>
              <a:rPr dirty="0" err="1"/>
              <a:t>Fitasas</a:t>
            </a:r>
            <a:r>
              <a:rPr dirty="0"/>
              <a:t> para romper </a:t>
            </a:r>
            <a:r>
              <a:rPr dirty="0" err="1"/>
              <a:t>materia</a:t>
            </a:r>
            <a:r>
              <a:rPr dirty="0"/>
              <a:t> </a:t>
            </a:r>
            <a:r>
              <a:rPr dirty="0" err="1"/>
              <a:t>orgánica</a:t>
            </a:r>
            <a:r>
              <a:rPr dirty="0"/>
              <a:t> [7].</a:t>
            </a:r>
          </a:p>
          <a:p>
            <a:pPr lvl="0"/>
            <a:r>
              <a:rPr b="1" dirty="0" err="1"/>
              <a:t>Resultado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Incremento</a:t>
            </a:r>
            <a:r>
              <a:rPr dirty="0"/>
              <a:t> de </a:t>
            </a:r>
            <a:r>
              <a:rPr dirty="0" err="1"/>
              <a:t>Fósforo</a:t>
            </a:r>
            <a:r>
              <a:rPr dirty="0"/>
              <a:t> disponible hasta un 86.8% [7].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2"/>
            <a:ext cx="15544800" cy="2043112"/>
          </a:xfrm>
        </p:spPr>
        <p:txBody>
          <a:bodyPr/>
          <a:lstStyle/>
          <a:p>
            <a:r>
              <a:t>Sección 2: Nutrientes Secundarios y Micro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Captura de Micronutrientes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Sideróforos (“Imanes Químicos”)</a:t>
            </a:r>
          </a:p>
          <a:p>
            <a:pPr lvl="0"/>
            <a:r>
              <a:t>Producidos por </a:t>
            </a:r>
            <a:r>
              <a:rPr i="1"/>
              <a:t>Pseudomonas fluorescens</a:t>
            </a:r>
            <a:r>
              <a:t> [8].</a:t>
            </a:r>
          </a:p>
          <a:p>
            <a:pPr lvl="0"/>
            <a:r>
              <a:t>Secuestran Hierro (Fe) en suelos alcalinos y lo entregan a la planta.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Disolventes de Calcita (Ca)</a:t>
            </a:r>
          </a:p>
          <a:p>
            <a:pPr lvl="0"/>
            <a:r>
              <a:rPr i="1"/>
              <a:t>Bacillus</a:t>
            </a:r>
            <a:r>
              <a:t> y </a:t>
            </a:r>
            <a:r>
              <a:rPr i="1"/>
              <a:t>Paenibacillus</a:t>
            </a:r>
            <a:r>
              <a:t> [9].</a:t>
            </a:r>
          </a:p>
          <a:p>
            <a:pPr lvl="0"/>
            <a:r>
              <a:t>Secretan ácidos para disolver carbonatos insolubles.</a:t>
            </a:r>
          </a:p>
          <a:p>
            <a:pPr lvl="0"/>
            <a:r>
              <a:t>Liberan Calcio (Ca²⁺) vital para la pared celular [9].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Azufre</a:t>
            </a:r>
            <a:r>
              <a:rPr dirty="0"/>
              <a:t> y </a:t>
            </a:r>
            <a:r>
              <a:rPr dirty="0" err="1"/>
              <a:t>Magnesio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 err="1"/>
              <a:t>Azufre</a:t>
            </a:r>
            <a:r>
              <a:rPr b="1" dirty="0"/>
              <a:t> (S):</a:t>
            </a:r>
            <a:r>
              <a:rPr dirty="0"/>
              <a:t> Las </a:t>
            </a:r>
            <a:r>
              <a:rPr dirty="0" err="1"/>
              <a:t>bacterias</a:t>
            </a:r>
            <a:r>
              <a:rPr dirty="0"/>
              <a:t> </a:t>
            </a:r>
            <a:r>
              <a:rPr dirty="0" err="1"/>
              <a:t>oxidantes</a:t>
            </a:r>
            <a:r>
              <a:rPr dirty="0"/>
              <a:t> (</a:t>
            </a:r>
            <a:r>
              <a:rPr i="1" dirty="0"/>
              <a:t>Thiobacillus</a:t>
            </a:r>
            <a:r>
              <a:rPr dirty="0"/>
              <a:t>) </a:t>
            </a:r>
            <a:r>
              <a:rPr dirty="0" err="1"/>
              <a:t>actúan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reactores</a:t>
            </a:r>
            <a:r>
              <a:rPr dirty="0"/>
              <a:t> </a:t>
            </a:r>
            <a:r>
              <a:rPr dirty="0" err="1"/>
              <a:t>químicos</a:t>
            </a:r>
            <a:r>
              <a:rPr dirty="0"/>
              <a:t> </a:t>
            </a:r>
            <a:r>
              <a:rPr dirty="0" err="1"/>
              <a:t>convirtiendo</a:t>
            </a:r>
            <a:r>
              <a:rPr dirty="0"/>
              <a:t> </a:t>
            </a:r>
            <a:r>
              <a:rPr dirty="0" err="1"/>
              <a:t>azufre</a:t>
            </a:r>
            <a:r>
              <a:rPr dirty="0"/>
              <a:t> elemental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sulfato</a:t>
            </a:r>
            <a:r>
              <a:rPr dirty="0"/>
              <a:t> </a:t>
            </a:r>
            <a:r>
              <a:rPr dirty="0" err="1"/>
              <a:t>asimilable</a:t>
            </a:r>
            <a:r>
              <a:rPr dirty="0"/>
              <a:t> [10].</a:t>
            </a:r>
          </a:p>
          <a:p>
            <a:pPr lvl="0"/>
            <a:r>
              <a:rPr b="1" dirty="0" err="1"/>
              <a:t>Magnesio</a:t>
            </a:r>
            <a:r>
              <a:rPr b="1" dirty="0"/>
              <a:t> (Mg):</a:t>
            </a:r>
            <a:r>
              <a:rPr dirty="0"/>
              <a:t> </a:t>
            </a:r>
            <a:r>
              <a:rPr dirty="0" err="1"/>
              <a:t>Cepas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i="1" dirty="0"/>
              <a:t>Bacillus subtilis</a:t>
            </a:r>
            <a:r>
              <a:rPr dirty="0"/>
              <a:t> </a:t>
            </a:r>
            <a:r>
              <a:rPr dirty="0" err="1"/>
              <a:t>aceleran</a:t>
            </a:r>
            <a:r>
              <a:rPr dirty="0"/>
              <a:t> la </a:t>
            </a:r>
            <a:r>
              <a:rPr dirty="0" err="1"/>
              <a:t>degradación</a:t>
            </a:r>
            <a:r>
              <a:rPr dirty="0"/>
              <a:t> de </a:t>
            </a:r>
            <a:r>
              <a:rPr dirty="0" err="1"/>
              <a:t>silicatos</a:t>
            </a:r>
            <a:r>
              <a:rPr dirty="0"/>
              <a:t> [11].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345</Words>
  <Application>Microsoft Office PowerPoint</Application>
  <PresentationFormat>Personalizado</PresentationFormat>
  <Paragraphs>42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Open Sans</vt:lpstr>
      <vt:lpstr>Arial</vt:lpstr>
      <vt:lpstr>Calibri</vt:lpstr>
      <vt:lpstr>Montserrat</vt:lpstr>
      <vt:lpstr>Aptos</vt:lpstr>
      <vt:lpstr>Montserrat Bold</vt:lpstr>
      <vt:lpstr>Office Theme</vt:lpstr>
      <vt:lpstr>Presentación de PowerPoint</vt:lpstr>
      <vt:lpstr>Inóculos Microbianos</vt:lpstr>
      <vt:lpstr>Introducción</vt:lpstr>
      <vt:lpstr>El Problema vs. La Solución</vt:lpstr>
      <vt:lpstr>Sección 1: Macronutrientes (N-P-K)</vt:lpstr>
      <vt:lpstr>Fijación de Nitrógeno (BNF)</vt:lpstr>
      <vt:lpstr>Mecanismo de Solubilización (P y K)</vt:lpstr>
      <vt:lpstr>Sección 2: Nutrientes Secundarios y Micro</vt:lpstr>
      <vt:lpstr>Captura de Micronutrientes</vt:lpstr>
      <vt:lpstr>Azufre y Magnesio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</dc:title>
  <dc:creator>USUARIO</dc:creator>
  <cp:lastModifiedBy>DIRECCION TECNICA</cp:lastModifiedBy>
  <cp:revision>11</cp:revision>
  <dcterms:created xsi:type="dcterms:W3CDTF">2006-08-16T00:00:00Z</dcterms:created>
  <dcterms:modified xsi:type="dcterms:W3CDTF">2026-02-18T12:35:32Z</dcterms:modified>
  <dc:identifier>DAGnojO6dTI</dc:identifier>
</cp:coreProperties>
</file>